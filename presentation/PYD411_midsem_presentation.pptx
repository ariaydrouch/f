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083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IIT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256032"/>
            <a:ext cx="1234440" cy="1234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11480"/>
            <a:ext cx="9601200" cy="36576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A8C5D4"/>
                </a:solidFill>
                <a:latin typeface="Calibri"/>
              </a:rPr>
              <a:t>PYD411  ·  Bachelor’s Thesis Project  ·  Mid-term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607040" cy="155448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Phase-Field Modelling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of Crawling Cells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7ED9C8"/>
                </a:solidFill>
                <a:latin typeface="Calibri"/>
              </a:rPr>
              <a:t>Towards a tractable two-dimensional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94760"/>
            <a:ext cx="10058400" cy="210312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Siddharth Kumar   ·   2023PH10741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Soumik Roy   ·   2023PH10756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5D4DE"/>
                </a:solidFill>
                <a:latin typeface="Calibri"/>
              </a:rPr>
              <a:t>Adviser:  Prof. Sujin B. Babu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A8C5D4"/>
                </a:solidFill>
                <a:latin typeface="Calibri"/>
              </a:rPr>
              <a:t>Dept of Physics, IIT Delhi   ·   2026 – 2027, Semester 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C5D4"/>
                </a:solidFill>
                <a:latin typeface="Calibri"/>
              </a:rPr>
              <a:t>8 minutes  ·  8 slides  ·  2 minutes for discussion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338560" cy="438912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What a crawling cell is — and how we write it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1338560" cy="310896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5D4DE"/>
                </a:solidFill>
                <a:latin typeface="Calibri"/>
              </a:rPr>
              <a:t>Three mechanical ingredients. Keratocyte fragments with no nucleus still crawl, so a lot of this is mechanics.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601968"/>
            <a:ext cx="9601200" cy="237744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PYD411  ·  Mid-term  ·  Dept of Physics, IIT Delhi  ·  Siddharth Kumar &amp; Soumik Roy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601968"/>
            <a:ext cx="1280160" cy="237744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2 / 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1115568"/>
            <a:ext cx="3703320" cy="416052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" y="1115568"/>
            <a:ext cx="3703320" cy="109728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298448"/>
            <a:ext cx="3447287" cy="41148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B3D5C"/>
                </a:solidFill>
                <a:latin typeface="Calibri"/>
              </a:rPr>
              <a:t>Actin treadmill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1755648"/>
            <a:ext cx="3447287" cy="132588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alibri"/>
              </a:rPr>
              <a:t>Filaments polymerise at the front and depolymerise at the rear, pushing the membrane forward.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3200400"/>
            <a:ext cx="3447287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73552"/>
            <a:ext cx="3300984" cy="173736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Model: polarisation P  and  treadmilling speed  w₀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The cell is carried by   u = v + w₀ 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15383" y="1115568"/>
            <a:ext cx="3703320" cy="416052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15383" y="1115568"/>
            <a:ext cx="3703320" cy="10972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399" y="1298448"/>
            <a:ext cx="3447287" cy="41148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B3D5C"/>
                </a:solidFill>
                <a:latin typeface="Calibri"/>
              </a:rPr>
              <a:t>Myosin contractility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399" y="1755648"/>
            <a:ext cx="3447287" cy="132588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alibri"/>
              </a:rPr>
              <a:t>Motors walk on actin and squeeze the rear so the body can follow the protrusion.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399" y="3200400"/>
            <a:ext cx="3447287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6551" y="3273552"/>
            <a:ext cx="3300984" cy="173736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Model: active stress   σ = −ζ φ P P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ζ &lt; 0  is contractile (actomyosin)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83296" y="1115568"/>
            <a:ext cx="3703320" cy="416052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83296" y="1115568"/>
            <a:ext cx="3703320" cy="109728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1312" y="1298448"/>
            <a:ext cx="3447287" cy="41148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B3D5C"/>
                </a:solidFill>
                <a:latin typeface="Calibri"/>
              </a:rPr>
              <a:t>Focal adhesions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2" y="1755648"/>
            <a:ext cx="3447287" cy="132588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alibri"/>
              </a:rPr>
              <a:t>Linkers grip the substrate. Averaged over bind/unbind this is just a drag (Leoni &amp; Sens, PRL 2017).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11312" y="3200400"/>
            <a:ext cx="3447287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84464" y="3273552"/>
            <a:ext cx="3300984" cy="173736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Model: friction   −ξ v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Strong adhesion  =  large 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7472" y="5413248"/>
            <a:ext cx="11475720" cy="1024128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486400"/>
            <a:ext cx="11155680" cy="91440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Also in the model:  φ = 1 inside the cell, 0 outside  ·  ε = interface width  ·  β = anchoring of P at the edge (the main shape parameter).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We follow Tjhung, Tiribocchi, Marenduzzo &amp; Cates, Nat. Commun. 6, 5420 (2015). Adhesion as friction: Leoni &amp; Sens, PRL 118, 228101 (2017).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338560" cy="438912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The model, built in four stages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1338560" cy="310896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5D4DE"/>
                </a:solidFill>
                <a:latin typeface="Calibri"/>
              </a:rPr>
              <a:t>Add one ingredient at a time. The long-term goal is many cells — Stokes is too expensive for that.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601968"/>
            <a:ext cx="9601200" cy="237744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PYD411  ·  Mid-term  ·  Dept of Physics, IIT Delhi  ·  Siddharth Kumar &amp; Soumik Roy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601968"/>
            <a:ext cx="1280160" cy="237744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3 / 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1097280"/>
            <a:ext cx="11475720" cy="141732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170432"/>
            <a:ext cx="11155680" cy="1298448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B3D5C"/>
                </a:solidFill>
                <a:latin typeface="Calibri"/>
              </a:rPr>
              <a:t>Fields:   φ  (cell)     P  (actin)     v  (cytoplasm)     u = v + w₀ P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Free energy (in words): double well + surface tension + polar order only inside the cell + Frank elasticity + anchoring β.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Force balance is Stokes (Re ~ 10⁻⁵):   0 = −∇p + η ∇²v − ξ v + f.   Version 4 drops viscosity:  v = f / ξ  (Darcy / friction-dominated).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47472" y="2697480"/>
          <a:ext cx="114757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3246120"/>
                <a:gridCol w="4160520"/>
                <a:gridCol w="3017520"/>
              </a:tblGrid>
              <a:tr h="57607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Ver.</a:t>
                      </a:r>
                    </a:p>
                  </a:txBody>
                  <a:tcPr anchor="ctr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 anchor="ctr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Force balance</a:t>
                      </a:r>
                    </a:p>
                  </a:txBody>
                  <a:tcPr anchor="ctr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Area / volume</a:t>
                      </a:r>
                    </a:p>
                  </a:txBody>
                  <a:tcPr anchor="ctr">
                    <a:solidFill>
                      <a:srgbClr val="0B3D5C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Plane, free space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v = 0  (no flow)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Drifts by 4.5%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E8F3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Vertical slice + wall</a:t>
                      </a:r>
                    </a:p>
                  </a:txBody>
                  <a:tcPr anchor="ctr">
                    <a:solidFill>
                      <a:srgbClr val="E8F3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Brinkman, screened in z</a:t>
                      </a:r>
                    </a:p>
                  </a:txBody>
                  <a:tcPr anchor="ctr">
                    <a:solidFill>
                      <a:srgbClr val="E8F3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Fixed exactly</a:t>
                      </a:r>
                    </a:p>
                  </a:txBody>
                  <a:tcPr anchor="ctr">
                    <a:solidFill>
                      <a:srgbClr val="E8F3F1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Plane (top view)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Incompressible Stokes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Fixed exactly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E8F3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Plane (top view)</a:t>
                      </a:r>
                    </a:p>
                  </a:txBody>
                  <a:tcPr anchor="ctr">
                    <a:solidFill>
                      <a:srgbClr val="E8F3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Friction-dominated, local</a:t>
                      </a:r>
                    </a:p>
                  </a:txBody>
                  <a:tcPr anchor="ctr">
                    <a:solidFill>
                      <a:srgbClr val="E8F3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Soft volume  (k_A)</a:t>
                      </a:r>
                    </a:p>
                  </a:txBody>
                  <a:tcPr anchor="ctr">
                    <a:solidFill>
                      <a:srgbClr val="E8F3F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47472" y="5687568"/>
            <a:ext cx="11475720" cy="77724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alibri"/>
              </a:rPr>
              <a:t>Versions 2 and 3 are complementary, not a sequence: the protrusion is a near-substrate (side-view) structure; the catalogued cell shapes are top-view shapes. Version 4 is the model the multi-cell work will sit 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338560" cy="438912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Versions 1 and 2  —  a translating disc, then a protrusion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1338560" cy="310896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5D4DE"/>
                </a:solidFill>
                <a:latin typeface="Calibri"/>
              </a:rPr>
              <a:t>Version 2 is a side view: treadmilling only next to the wall.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601968"/>
            <a:ext cx="9601200" cy="237744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PYD411  ·  Mid-term  ·  Dept of Physics, IIT Delhi  ·  Siddharth Kumar &amp; Soumik Roy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601968"/>
            <a:ext cx="1280160" cy="237744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4 / 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" y="1078992"/>
            <a:ext cx="3794760" cy="233172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" y="1152144"/>
            <a:ext cx="3584448" cy="219456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B3D5C"/>
                </a:solidFill>
                <a:latin typeface="Calibri"/>
              </a:rPr>
              <a:t>Version 1  ·  baseline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v = ζ = β = 0. A disc with uniform P translates but cannot change shape: uniform P gives uniform u.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Area falls 4.5% — advection was not conservative. That is fixed from Version 2 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" y="3520440"/>
            <a:ext cx="3794760" cy="292608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" y="3593592"/>
            <a:ext cx="3584448" cy="278892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A7A6D"/>
                </a:solidFill>
                <a:latin typeface="Calibri"/>
              </a:rPr>
              <a:t>Version 2  ·  the protrusion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w(z) confined to a layer of thickness λ at the wall. Near-wall material runs out; tension pulls it back.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F2937"/>
                </a:solidFill>
                <a:latin typeface="Calibri"/>
              </a:rPr>
              <a:t>w₀ = 0.3   cap, contact 44, speed 0.050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2937"/>
                </a:solidFill>
                <a:latin typeface="Calibri"/>
              </a:rPr>
              <a:t>w₀ = 2.0   thin protrusion, contact 63, speed 0.432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Transition near w₀ ≈ 0.8  ≈  Mε²/λ. Volume error 10⁻¹⁶.</a:t>
            </a:r>
          </a:p>
        </p:txBody>
      </p:sp>
      <p:pic>
        <p:nvPicPr>
          <p:cNvPr id="14" name="Picture 13" descr="fig_v2_sha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879" y="1078992"/>
            <a:ext cx="5515681" cy="2880360"/>
          </a:xfrm>
          <a:prstGeom prst="rect">
            <a:avLst/>
          </a:prstGeom>
        </p:spPr>
      </p:pic>
      <p:pic>
        <p:nvPicPr>
          <p:cNvPr id="15" name="Picture 14" descr="fig_v2_tran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4134364"/>
            <a:ext cx="7589520" cy="220115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338560" cy="438912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Version 3  —  top-view shapes, and what actually sets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1338560" cy="310896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5D4DE"/>
                </a:solidFill>
                <a:latin typeface="Calibri"/>
              </a:rPr>
              <a:t>Full Stokes model. Passive check: ellipse → circle, energy falls, flow dies, volume error = 0.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601968"/>
            <a:ext cx="9601200" cy="237744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PYD411  ·  Mid-term  ·  Dept of Physics, IIT Delhi  ·  Siddharth Kumar &amp; Soumik Roy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601968"/>
            <a:ext cx="1280160" cy="237744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5 / 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60704"/>
            <a:ext cx="3977639" cy="324612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133856"/>
            <a:ext cx="3767328" cy="310896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B3D5C"/>
                </a:solidFill>
                <a:latin typeface="Calibri"/>
              </a:rPr>
              <a:t>Two morphologies  (w₀ = 1)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Strong anchoring → radial aster.  |⟨P⟩| = 0, speed = 0. Motility needs P to break symmetry.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Moderate anchoring → lamellipodial fan, elongated across the path. Aspect 2.91, speed 0.843 ≈ w₀.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No plane pseudopod or phagocytic cup: those need z. Version 2 already has the vertical protrusion.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4407408"/>
            <a:ext cx="3977639" cy="2029968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4480560"/>
            <a:ext cx="3767328" cy="1901952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A7A6D"/>
                </a:solidFill>
                <a:latin typeface="Calibri"/>
              </a:rPr>
              <a:t>The 2 × 2  (the takeaway)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937"/>
                </a:solidFill>
                <a:latin typeface="Calibri"/>
              </a:rPr>
              <a:t>Neither  1.07    Flow only  1.61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F2937"/>
                </a:solidFill>
                <a:latin typeface="Calibri"/>
              </a:rPr>
              <a:t>Anchoring only  2.85    Both  2.92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4B5563"/>
                </a:solidFill>
                <a:latin typeface="Calibri"/>
              </a:rPr>
              <a:t>Flow on top of anchoring adds ~2%. Speed ~0.80–0.85, set by w₀⟨P⟩, almost independent of ξ.</a:t>
            </a:r>
          </a:p>
        </p:txBody>
      </p:sp>
      <p:pic>
        <p:nvPicPr>
          <p:cNvPr id="14" name="Picture 13" descr="fig_v3_mor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4199" y="1060704"/>
            <a:ext cx="4482200" cy="3246120"/>
          </a:xfrm>
          <a:prstGeom prst="rect">
            <a:avLst/>
          </a:prstGeom>
        </p:spPr>
      </p:pic>
      <p:pic>
        <p:nvPicPr>
          <p:cNvPr id="15" name="Picture 14" descr="fig_v3_deco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2898" y="4407408"/>
            <a:ext cx="6084803" cy="20299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338560" cy="438912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Version 4  —  the cell that crawls, without Stokes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1338560" cy="310896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5D4DE"/>
                </a:solidFill>
                <a:latin typeface="Calibri"/>
              </a:rPr>
              <a:t>η / (ξ R²) ≈ 0.006  →  friction, not viscosity, balances the force.  v = f / ξ  is local algebra.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601968"/>
            <a:ext cx="9601200" cy="237744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PYD411  ·  Mid-term  ·  Dept of Physics, IIT Delhi  ·  Siddharth Kumar &amp; Soumik Roy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601968"/>
            <a:ext cx="1280160" cy="237744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6 / 8</a:t>
            </a:r>
          </a:p>
        </p:txBody>
      </p:sp>
      <p:pic>
        <p:nvPicPr>
          <p:cNvPr id="10" name="Picture 9" descr="fig_v4_mon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356" y="1042415"/>
            <a:ext cx="5176623" cy="1874519"/>
          </a:xfrm>
          <a:prstGeom prst="rect">
            <a:avLst/>
          </a:prstGeom>
        </p:spPr>
      </p:pic>
      <p:pic>
        <p:nvPicPr>
          <p:cNvPr id="11" name="Picture 10" descr="fig_v4_snapsh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3356" y="2944368"/>
            <a:ext cx="5176623" cy="1874519"/>
          </a:xfrm>
          <a:prstGeom prst="rect">
            <a:avLst/>
          </a:prstGeom>
        </p:spPr>
      </p:pic>
      <p:pic>
        <p:nvPicPr>
          <p:cNvPr id="12" name="Picture 11" descr="fig_v4_diagnosti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8795" y="4846320"/>
            <a:ext cx="5965745" cy="16002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275320" y="1042415"/>
            <a:ext cx="3611880" cy="540410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115568"/>
            <a:ext cx="3383280" cy="525780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7A6D"/>
                </a:solidFill>
                <a:latin typeface="Calibri"/>
              </a:rPr>
              <a:t>Main result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B3D5C"/>
                </a:solidFill>
                <a:latin typeface="Calibri"/>
              </a:rPr>
              <a:t>Travel  239.9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4B5563"/>
                </a:solidFill>
                <a:latin typeface="Calibri"/>
              </a:rPr>
              <a:t>in time 299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0B3D5C"/>
                </a:solidFill>
                <a:latin typeface="Calibri"/>
              </a:rPr>
              <a:t>Steady speed  0.801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Disc → fan, then a straight crawl.  y_cm = 0. Aspect → ~3.2.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Area +15%, thickness −15%  (volume conserved).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Calibri"/>
              </a:rPr>
              <a:t>V3 vs V4 (same limit):  0.2%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Cost  2.70 → 1.10 ms/step,  ~5×.  k_A = 0 inflates 14× and stops.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A7A6D"/>
                </a:solidFill>
                <a:latin typeface="Calibri"/>
              </a:rPr>
              <a:t>Local stencil  →  many cells become affordable.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338560" cy="438912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What we take from the mid-term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1338560" cy="310896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5D4DE"/>
                </a:solidFill>
                <a:latin typeface="Calibri"/>
              </a:rPr>
              <a:t>Each claim is tied to a figure in the report.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601968"/>
            <a:ext cx="9601200" cy="237744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PYD411  ·  Mid-term  ·  Dept of Physics, IIT Delhi  ·  Siddharth Kumar &amp; Soumik Roy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601968"/>
            <a:ext cx="1280160" cy="237744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7 / 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11430000" cy="98755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97280"/>
            <a:ext cx="109728" cy="987552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170432"/>
            <a:ext cx="640080" cy="82296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A7A6D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188720"/>
            <a:ext cx="10287000" cy="804672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B3D5C"/>
                </a:solidFill>
                <a:latin typeface="Calibri"/>
              </a:rPr>
              <a:t>A z-gradient in treadmilling is enough for a leading protrusion.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Version 2  ·  transition at w₀ ≈ Mε²/λ ≈ 0.75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176272"/>
            <a:ext cx="11430000" cy="98755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176272"/>
            <a:ext cx="109728" cy="987552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249424"/>
            <a:ext cx="640080" cy="82296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A7A6D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267712"/>
            <a:ext cx="10287000" cy="804672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B3D5C"/>
                </a:solidFill>
                <a:latin typeface="Calibri"/>
              </a:rPr>
              <a:t>In the plane, shape is set by anchoring of P, not by the flow.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Version 3  ·  anchoring 2.85  →  both 2.92  (~2%)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255263"/>
            <a:ext cx="11430000" cy="98755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3255263"/>
            <a:ext cx="109728" cy="987552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328415"/>
            <a:ext cx="640080" cy="82296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A7A6D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346703"/>
            <a:ext cx="10287000" cy="804672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B3D5C"/>
                </a:solidFill>
                <a:latin typeface="Calibri"/>
              </a:rPr>
              <a:t>The cheap Darcy model crawls, and matches the full model where they overlap.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Version 4  ·  speed 0.801  ·  0.2%  ·  ~5× faster  ·  local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334256"/>
            <a:ext cx="11430000" cy="98755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334256"/>
            <a:ext cx="109728" cy="987552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407408"/>
            <a:ext cx="640080" cy="82296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A7A6D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425696"/>
            <a:ext cx="10287000" cy="804672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B3D5C"/>
                </a:solidFill>
                <a:latin typeface="Calibri"/>
              </a:rPr>
              <a:t>Conserve volume, not projected area. Dropping the constraint is not viable.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k_A = 5 spreads 15%  ·  k_A = 0 inflates 14× and stops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544068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577840"/>
            <a:ext cx="11064240" cy="77724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Take-home: we now have a verified, local single-cell model that crawls — cheap enough to go to many cells.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338560" cy="438912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What is next  —  and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11338560" cy="310896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5D4DE"/>
                </a:solidFill>
                <a:latin typeface="Calibri"/>
              </a:rPr>
              <a:t>Version 4 was built so that none of this needs a Stokes solve.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601968"/>
            <a:ext cx="9601200" cy="237744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PYD411  ·  Mid-term  ·  Dept of Physics, IIT Delhi  ·  Siddharth Kumar &amp; Soumik Roy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601968"/>
            <a:ext cx="1280160" cy="237744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8 / 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" y="1097280"/>
            <a:ext cx="2267712" cy="233172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188720"/>
            <a:ext cx="2084831" cy="214884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7A6D"/>
                </a:solidFill>
                <a:latin typeface="Calibri"/>
              </a:rPr>
              <a:t>1  Two cells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One field pair per cell and a repulsive overlap, so they stay distinguishable.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1760" y="1097280"/>
            <a:ext cx="2267712" cy="233172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0" y="1188720"/>
            <a:ext cx="2084831" cy="214884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7A6D"/>
                </a:solidFill>
                <a:latin typeface="Calibri"/>
              </a:rPr>
              <a:t>2  Collisions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Head-on and glancing. Is contact inhibition a prediction?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10912" y="1097280"/>
            <a:ext cx="2267712" cy="233172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02352" y="1188720"/>
            <a:ext cx="2084831" cy="214884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7A6D"/>
                </a:solidFill>
                <a:latin typeface="Calibri"/>
              </a:rPr>
              <a:t>3  Polarity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 conserved polarity so a cell can choose its own direction.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70064" y="1097280"/>
            <a:ext cx="2267712" cy="233172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1504" y="1188720"/>
            <a:ext cx="2084831" cy="214884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7A6D"/>
                </a:solidFill>
                <a:latin typeface="Calibri"/>
              </a:rPr>
              <a:t>4  Adhesion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Load-dependent ξ, to test the biphasic speed of Leoni &amp; Sens.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29216" y="1097280"/>
            <a:ext cx="2267712" cy="233172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20656" y="1188720"/>
            <a:ext cx="2084831" cy="214884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7A6D"/>
                </a:solidFill>
                <a:latin typeface="Calibri"/>
              </a:rPr>
              <a:t>5  Collectives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Tens of cells: jamming and neighbour alignment.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2608" y="3611880"/>
            <a:ext cx="11594592" cy="278892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794760"/>
            <a:ext cx="11109960" cy="2468880"/>
          </a:xfrm>
          <a:prstGeom prst="rect">
            <a:avLst/>
          </a:prstGeom>
          <a:noFill/>
        </p:spPr>
        <p:txBody>
          <a:bodyPr wrap="square" lIns="54864" rIns="54864" tIns="36576" bIns="18288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Thank you.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>
                <a:solidFill>
                  <a:srgbClr val="7ED9C8"/>
                </a:solidFill>
                <a:latin typeface="Calibri"/>
              </a:rPr>
              <a:t>Questions and discussion  ·  2 minutes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Siddharth Kumar  (2023PH10741)     ·     Soumik Roy  (2023PH10756)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5D4DE"/>
                </a:solidFill>
                <a:latin typeface="Calibri"/>
              </a:rPr>
              <a:t>Adviser: Prof. Sujin B. Babu     ·     Dept of Physics, IIT Delhi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