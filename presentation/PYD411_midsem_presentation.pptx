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modelling crawling cells using a phase-field description coupled to actin polarization, with the longer-term goal of extending the model from one cell to many interacting cells.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represent the cell by its shape field phi and the actin organisation by P. Treadmilling gives w0 P, active myosin stress gives the force that contributes to v, and substrate adhesion is coarse-grained as friction.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free energy controls the shape and polarisation, while the force balance determines motion. We progressively added physics so we could identify what was essential before simplifying the model for many-cell simulations.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 showed that uniform polarity can translate a cell but cannot deform it. Introducing a spatial gradient in treadmilling near the substrate produces the leading protrusion, with a transition near w0 approximately 0.8.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model shows that anchoring of the polarization at the boundary is the dominant control on planar shape. Adding hydrodynamic flow changes the elongated shape by only about two percent, motivating a friction-dominated reduction.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cell scale the viscous contribution is only about zero point six percent of friction, so we use a friction-dominated force balance. The active stress gives a local velocity, eliminating the global Stokes solve. The resulting cell crawls steadily, reproduces the comparable full-model result, and is substantially cheaper.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outcome is not simply a faster simulation. We identified which mechanisms control the observed behaviour and reduced the model while retaining the essential single-cell crawling dynamics.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next step is two-cell interaction, followed by collisions and dynamic polarity. The ultimate goal is to study collective behaviour using the local formulation.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1695" cy="594360"/>
          </a:xfrm>
          <a:prstGeom prst="rect">
            <a:avLst/>
          </a:prstGeom>
          <a:solidFill>
            <a:srgbClr val="0830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IITD.jpg"/>
          <p:cNvPicPr>
            <a:picLocks noChangeAspect="1"/>
          </p:cNvPicPr>
          <p:nvPr/>
        </p:nvPicPr>
        <p:blipFill>
          <a:blip r:embed="rId2"/>
          <a:stretch>
            <a:fillRect/>
          </a:stretch>
        </p:blipFill>
        <p:spPr>
          <a:xfrm>
            <a:off x="10561320" y="256032"/>
            <a:ext cx="1234440" cy="1234440"/>
          </a:xfrm>
          <a:prstGeom prst="rect">
            <a:avLst/>
          </a:prstGeom>
        </p:spPr>
      </p:pic>
      <p:sp>
        <p:nvSpPr>
          <p:cNvPr id="6" name="TextBox 5"/>
          <p:cNvSpPr txBox="1"/>
          <p:nvPr/>
        </p:nvSpPr>
        <p:spPr>
          <a:xfrm>
            <a:off x="640080" y="411480"/>
            <a:ext cx="9601200" cy="365760"/>
          </a:xfrm>
          <a:prstGeom prst="rect">
            <a:avLst/>
          </a:prstGeom>
          <a:noFill/>
        </p:spPr>
        <p:txBody>
          <a:bodyPr wrap="square" lIns="54864" rIns="54864" tIns="27432" bIns="18288">
            <a:spAutoFit/>
          </a:bodyPr>
          <a:lstStyle/>
          <a:p>
            <a:pPr algn="l">
              <a:spcBef>
                <a:spcPts val="0"/>
              </a:spcBef>
              <a:spcAft>
                <a:spcPts val="0"/>
              </a:spcAft>
            </a:pPr>
            <a:r>
              <a:rPr sz="1600" b="0" i="0">
                <a:solidFill>
                  <a:srgbClr val="A8C5D4"/>
                </a:solidFill>
                <a:latin typeface="Calibri"/>
              </a:rPr>
              <a:t>PYD411  ·  Mid-term evaluation  ·  Bachelor's Thesis Project</a:t>
            </a:r>
          </a:p>
        </p:txBody>
      </p:sp>
      <p:sp>
        <p:nvSpPr>
          <p:cNvPr id="7" name="TextBox 6"/>
          <p:cNvSpPr txBox="1"/>
          <p:nvPr/>
        </p:nvSpPr>
        <p:spPr>
          <a:xfrm>
            <a:off x="640080" y="1417320"/>
            <a:ext cx="10607040" cy="1554480"/>
          </a:xfrm>
          <a:prstGeom prst="rect">
            <a:avLst/>
          </a:prstGeom>
          <a:noFill/>
        </p:spPr>
        <p:txBody>
          <a:bodyPr wrap="square" lIns="54864" rIns="54864" tIns="27432" bIns="18288">
            <a:spAutoFit/>
          </a:bodyPr>
          <a:lstStyle/>
          <a:p>
            <a:pPr algn="l">
              <a:spcBef>
                <a:spcPts val="0"/>
              </a:spcBef>
              <a:spcAft>
                <a:spcPts val="200"/>
              </a:spcAft>
            </a:pPr>
            <a:r>
              <a:rPr sz="4000" b="1" i="0">
                <a:solidFill>
                  <a:srgbClr val="FFFFFF"/>
                </a:solidFill>
                <a:latin typeface="Calibri"/>
              </a:rPr>
              <a:t>Phase-Field Modelling</a:t>
            </a:r>
          </a:p>
          <a:p>
            <a:pPr algn="l">
              <a:spcBef>
                <a:spcPts val="0"/>
              </a:spcBef>
              <a:spcAft>
                <a:spcPts val="1000"/>
              </a:spcAft>
            </a:pPr>
            <a:r>
              <a:rPr sz="4000" b="1" i="0">
                <a:solidFill>
                  <a:srgbClr val="FFFFFF"/>
                </a:solidFill>
                <a:latin typeface="Calibri"/>
              </a:rPr>
              <a:t>of Crawling Cells</a:t>
            </a:r>
          </a:p>
          <a:p>
            <a:pPr algn="l">
              <a:spcBef>
                <a:spcPts val="0"/>
              </a:spcBef>
              <a:spcAft>
                <a:spcPts val="600"/>
              </a:spcAft>
            </a:pPr>
            <a:r>
              <a:rPr sz="2200" b="0" i="0">
                <a:solidFill>
                  <a:srgbClr val="7ED9C8"/>
                </a:solidFill>
                <a:latin typeface="Calibri"/>
              </a:rPr>
              <a:t>Towards a Tractable Two-Dimensional Model</a:t>
            </a:r>
          </a:p>
        </p:txBody>
      </p:sp>
      <p:sp>
        <p:nvSpPr>
          <p:cNvPr id="8" name="TextBox 7"/>
          <p:cNvSpPr txBox="1"/>
          <p:nvPr/>
        </p:nvSpPr>
        <p:spPr>
          <a:xfrm>
            <a:off x="640080" y="3794760"/>
            <a:ext cx="10058400" cy="2103120"/>
          </a:xfrm>
          <a:prstGeom prst="rect">
            <a:avLst/>
          </a:prstGeom>
          <a:noFill/>
        </p:spPr>
        <p:txBody>
          <a:bodyPr wrap="square" lIns="54864" rIns="54864" tIns="27432" bIns="18288">
            <a:spAutoFit/>
          </a:bodyPr>
          <a:lstStyle/>
          <a:p>
            <a:pPr algn="l">
              <a:spcBef>
                <a:spcPts val="0"/>
              </a:spcBef>
              <a:spcAft>
                <a:spcPts val="400"/>
              </a:spcAft>
            </a:pPr>
            <a:r>
              <a:rPr sz="2000" b="1" i="0">
                <a:solidFill>
                  <a:srgbClr val="FFFFFF"/>
                </a:solidFill>
                <a:latin typeface="Calibri"/>
              </a:rPr>
              <a:t>Siddharth Kumar   ·   2023PH10741</a:t>
            </a:r>
          </a:p>
          <a:p>
            <a:pPr algn="l">
              <a:spcBef>
                <a:spcPts val="0"/>
              </a:spcBef>
              <a:spcAft>
                <a:spcPts val="1200"/>
              </a:spcAft>
            </a:pPr>
            <a:r>
              <a:rPr sz="2000" b="1" i="0">
                <a:solidFill>
                  <a:srgbClr val="FFFFFF"/>
                </a:solidFill>
                <a:latin typeface="Calibri"/>
              </a:rPr>
              <a:t>Soumik Roy   ·   2023PH10756</a:t>
            </a:r>
          </a:p>
          <a:p>
            <a:pPr algn="l">
              <a:spcBef>
                <a:spcPts val="0"/>
              </a:spcBef>
              <a:spcAft>
                <a:spcPts val="600"/>
              </a:spcAft>
            </a:pPr>
            <a:r>
              <a:rPr sz="1800" b="0" i="0">
                <a:solidFill>
                  <a:srgbClr val="C5D4DE"/>
                </a:solidFill>
                <a:latin typeface="Calibri"/>
              </a:rPr>
              <a:t>Adviser:  Prof. Sujin B. Babu</a:t>
            </a:r>
          </a:p>
          <a:p>
            <a:pPr algn="l">
              <a:spcBef>
                <a:spcPts val="0"/>
              </a:spcBef>
              <a:spcAft>
                <a:spcPts val="600"/>
              </a:spcAft>
            </a:pPr>
            <a:r>
              <a:rPr sz="1600" b="0" i="0">
                <a:solidFill>
                  <a:srgbClr val="A8C5D4"/>
                </a:solidFill>
                <a:latin typeface="Calibri"/>
              </a:rPr>
              <a:t>Department of Physics, IIT Delhi   ·   2026 - 27, Semester I</a:t>
            </a:r>
          </a:p>
        </p:txBody>
      </p:sp>
      <p:sp>
        <p:nvSpPr>
          <p:cNvPr id="9" name="TextBox 8"/>
          <p:cNvSpPr txBox="1"/>
          <p:nvPr/>
        </p:nvSpPr>
        <p:spPr>
          <a:xfrm>
            <a:off x="640080" y="6355080"/>
            <a:ext cx="10972800" cy="365760"/>
          </a:xfrm>
          <a:prstGeom prst="rect">
            <a:avLst/>
          </a:prstGeom>
          <a:noFill/>
        </p:spPr>
        <p:txBody>
          <a:bodyPr wrap="square" lIns="54864" rIns="54864" tIns="27432" bIns="18288">
            <a:spAutoFit/>
          </a:bodyPr>
          <a:lstStyle/>
          <a:p>
            <a:pPr algn="l">
              <a:spcBef>
                <a:spcPts val="0"/>
              </a:spcBef>
              <a:spcAft>
                <a:spcPts val="0"/>
              </a:spcAft>
            </a:pPr>
            <a:r>
              <a:rPr sz="1300" b="0" i="0">
                <a:solidFill>
                  <a:srgbClr val="A8C5D4"/>
                </a:solidFill>
                <a:latin typeface="Calibri"/>
              </a:rPr>
              <a:t>8 minutes  ·  8 slides  ·  2 minutes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What makes a crawling cell move?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2 / 8</a:t>
            </a:r>
          </a:p>
        </p:txBody>
      </p:sp>
      <p:sp>
        <p:nvSpPr>
          <p:cNvPr id="9" name="Rounded Rectangle 8"/>
          <p:cNvSpPr/>
          <p:nvPr/>
        </p:nvSpPr>
        <p:spPr>
          <a:xfrm>
            <a:off x="320040" y="960120"/>
            <a:ext cx="5623560" cy="310896"/>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960120"/>
            <a:ext cx="5623560" cy="310896"/>
          </a:xfrm>
          <a:prstGeom prst="rect">
            <a:avLst/>
          </a:prstGeom>
          <a:noFill/>
        </p:spPr>
        <p:txBody>
          <a:bodyPr wrap="square" lIns="54864" rIns="54864" tIns="27432" bIns="18288" anchor="ctr">
            <a:spAutoFit/>
          </a:bodyPr>
          <a:lstStyle/>
          <a:p>
            <a:pPr algn="ctr">
              <a:spcBef>
                <a:spcPts val="0"/>
              </a:spcBef>
              <a:spcAft>
                <a:spcPts val="0"/>
              </a:spcAft>
            </a:pPr>
            <a:r>
              <a:rPr sz="1300" b="1" i="0">
                <a:solidFill>
                  <a:srgbClr val="FFFFFF"/>
                </a:solidFill>
                <a:latin typeface="Calibri"/>
              </a:rPr>
              <a:t>PHYSICAL MECHANISMS</a:t>
            </a:r>
          </a:p>
        </p:txBody>
      </p:sp>
      <p:sp>
        <p:nvSpPr>
          <p:cNvPr id="11" name="Rounded Rectangle 10"/>
          <p:cNvSpPr/>
          <p:nvPr/>
        </p:nvSpPr>
        <p:spPr>
          <a:xfrm>
            <a:off x="320040" y="1371600"/>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371600"/>
            <a:ext cx="91440" cy="1170432"/>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1444752"/>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Actin treadmilling</a:t>
            </a:r>
          </a:p>
          <a:p>
            <a:pPr>
              <a:spcAft>
                <a:spcPts val="200"/>
              </a:spcAft>
            </a:pPr>
            <a:r>
              <a:rPr sz="1300" b="0" i="0">
                <a:solidFill>
                  <a:srgbClr val="1F2937"/>
                </a:solidFill>
                <a:latin typeface="Calibri"/>
              </a:rPr>
              <a:t>•  Polymerises at the front, depolymerises at the rear</a:t>
            </a:r>
          </a:p>
          <a:p>
            <a:pPr>
              <a:spcAft>
                <a:spcPts val="200"/>
              </a:spcAft>
            </a:pPr>
            <a:r>
              <a:rPr sz="1300" b="0" i="0">
                <a:solidFill>
                  <a:srgbClr val="1F2937"/>
                </a:solidFill>
                <a:latin typeface="Calibri"/>
              </a:rPr>
              <a:t>•  Produces protrusive transport</a:t>
            </a:r>
          </a:p>
        </p:txBody>
      </p:sp>
      <p:sp>
        <p:nvSpPr>
          <p:cNvPr id="14" name="Rounded Rectangle 13"/>
          <p:cNvSpPr/>
          <p:nvPr/>
        </p:nvSpPr>
        <p:spPr>
          <a:xfrm>
            <a:off x="320040" y="2670048"/>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670048"/>
            <a:ext cx="91440" cy="1170432"/>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2743200"/>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Myosin contractility</a:t>
            </a:r>
          </a:p>
          <a:p>
            <a:pPr>
              <a:spcAft>
                <a:spcPts val="200"/>
              </a:spcAft>
            </a:pPr>
            <a:r>
              <a:rPr sz="1300" b="0" i="0">
                <a:solidFill>
                  <a:srgbClr val="1F2937"/>
                </a:solidFill>
                <a:latin typeface="Calibri"/>
              </a:rPr>
              <a:t>•  Generates active contractile stress</a:t>
            </a:r>
          </a:p>
          <a:p>
            <a:pPr>
              <a:spcAft>
                <a:spcPts val="200"/>
              </a:spcAft>
            </a:pPr>
            <a:r>
              <a:rPr sz="1300" b="0" i="0">
                <a:solidFill>
                  <a:srgbClr val="1F2937"/>
                </a:solidFill>
                <a:latin typeface="Calibri"/>
              </a:rPr>
              <a:t>•  Helps retract the cell rear</a:t>
            </a:r>
          </a:p>
        </p:txBody>
      </p:sp>
      <p:sp>
        <p:nvSpPr>
          <p:cNvPr id="17" name="Rounded Rectangle 16"/>
          <p:cNvSpPr/>
          <p:nvPr/>
        </p:nvSpPr>
        <p:spPr>
          <a:xfrm>
            <a:off x="320040" y="3968496"/>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 y="3968496"/>
            <a:ext cx="91440" cy="1170432"/>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 y="4041648"/>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Adhesion</a:t>
            </a:r>
          </a:p>
          <a:p>
            <a:pPr>
              <a:spcAft>
                <a:spcPts val="200"/>
              </a:spcAft>
            </a:pPr>
            <a:r>
              <a:rPr sz="1300" b="0" i="0">
                <a:solidFill>
                  <a:srgbClr val="1F2937"/>
                </a:solidFill>
                <a:latin typeface="Calibri"/>
              </a:rPr>
              <a:t>•  Focal adhesions couple the cell to the substrate</a:t>
            </a:r>
          </a:p>
          <a:p>
            <a:pPr>
              <a:spcAft>
                <a:spcPts val="200"/>
              </a:spcAft>
            </a:pPr>
            <a:r>
              <a:rPr sz="1300" b="0" i="0">
                <a:solidFill>
                  <a:srgbClr val="1F2937"/>
                </a:solidFill>
                <a:latin typeface="Calibri"/>
              </a:rPr>
              <a:t>•  Coarse-grained as friction</a:t>
            </a:r>
          </a:p>
        </p:txBody>
      </p:sp>
      <p:sp>
        <p:nvSpPr>
          <p:cNvPr id="20" name="Rounded Rectangle 19"/>
          <p:cNvSpPr/>
          <p:nvPr/>
        </p:nvSpPr>
        <p:spPr>
          <a:xfrm>
            <a:off x="320040" y="5285232"/>
            <a:ext cx="5623560" cy="86868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 y="5358384"/>
            <a:ext cx="5330952" cy="731520"/>
          </a:xfrm>
          <a:prstGeom prst="rect">
            <a:avLst/>
          </a:prstGeom>
          <a:noFill/>
        </p:spPr>
        <p:txBody>
          <a:bodyPr wrap="square" lIns="54864" rIns="54864" tIns="27432" bIns="18288">
            <a:spAutoFit/>
          </a:bodyPr>
          <a:lstStyle/>
          <a:p>
            <a:pPr algn="l">
              <a:spcBef>
                <a:spcPts val="0"/>
              </a:spcBef>
              <a:spcAft>
                <a:spcPts val="0"/>
              </a:spcAft>
            </a:pPr>
            <a:r>
              <a:rPr sz="1250" b="0" i="0">
                <a:solidFill>
                  <a:srgbClr val="1F2937"/>
                </a:solidFill>
                <a:latin typeface="Calibri"/>
              </a:rPr>
              <a:t>Keratocyte fragments without a nucleus can still polarise and crawl — mechanics provides a major part of the behaviour.</a:t>
            </a:r>
          </a:p>
        </p:txBody>
      </p:sp>
      <p:sp>
        <p:nvSpPr>
          <p:cNvPr id="22" name="Rounded Rectangle 21"/>
          <p:cNvSpPr/>
          <p:nvPr/>
        </p:nvSpPr>
        <p:spPr>
          <a:xfrm>
            <a:off x="6144768" y="960120"/>
            <a:ext cx="5742432" cy="310896"/>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44768" y="960120"/>
            <a:ext cx="5742432" cy="310896"/>
          </a:xfrm>
          <a:prstGeom prst="rect">
            <a:avLst/>
          </a:prstGeom>
          <a:noFill/>
        </p:spPr>
        <p:txBody>
          <a:bodyPr wrap="square" lIns="54864" rIns="54864" tIns="27432" bIns="18288" anchor="ctr">
            <a:spAutoFit/>
          </a:bodyPr>
          <a:lstStyle/>
          <a:p>
            <a:pPr algn="ctr">
              <a:spcBef>
                <a:spcPts val="0"/>
              </a:spcBef>
              <a:spcAft>
                <a:spcPts val="0"/>
              </a:spcAft>
            </a:pPr>
            <a:r>
              <a:rPr sz="1300" b="1" i="0">
                <a:solidFill>
                  <a:srgbClr val="FFFFFF"/>
                </a:solidFill>
                <a:latin typeface="Calibri"/>
              </a:rPr>
              <a:t>MODEL REPRESENTATION</a:t>
            </a:r>
          </a:p>
        </p:txBody>
      </p:sp>
      <p:sp>
        <p:nvSpPr>
          <p:cNvPr id="24" name="Rounded Rectangle 23"/>
          <p:cNvSpPr/>
          <p:nvPr/>
        </p:nvSpPr>
        <p:spPr>
          <a:xfrm>
            <a:off x="6144768" y="1371600"/>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44768" y="1371600"/>
            <a:ext cx="5742432" cy="566928"/>
          </a:xfrm>
          <a:prstGeom prst="rect">
            <a:avLst/>
          </a:prstGeom>
          <a:noFill/>
        </p:spPr>
        <p:txBody>
          <a:bodyPr wrap="square" lIns="54864" rIns="54864" tIns="27432" bIns="18288" anchor="ctr">
            <a:spAutoFit/>
          </a:bodyPr>
          <a:lstStyle/>
          <a:p>
            <a:pPr algn="ctr">
              <a:spcBef>
                <a:spcPts val="0"/>
              </a:spcBef>
              <a:spcAft>
                <a:spcPts val="300"/>
              </a:spcAft>
            </a:pPr>
            <a:r>
              <a:rPr sz="1600" b="0" i="0">
                <a:solidFill>
                  <a:srgbClr val="0B3D5C"/>
                </a:solidFill>
                <a:latin typeface="Cambria Math"/>
              </a:rPr>
              <a:t>Phase field   </a:t>
            </a:r>
            <a:r>
              <a:rPr sz="2200" b="0" i="1">
                <a:solidFill>
                  <a:srgbClr val="0B3D5C"/>
                </a:solidFill>
                <a:latin typeface="Cambria Math"/>
              </a:rPr>
              <a:t>φ</a:t>
            </a:r>
            <a:r>
              <a:rPr sz="1600" b="0" i="0">
                <a:solidFill>
                  <a:srgbClr val="0B3D5C"/>
                </a:solidFill>
                <a:latin typeface="Cambria Math"/>
              </a:rPr>
              <a:t>(x, t)</a:t>
            </a:r>
          </a:p>
        </p:txBody>
      </p:sp>
      <p:sp>
        <p:nvSpPr>
          <p:cNvPr id="26" name="TextBox 25"/>
          <p:cNvSpPr txBox="1"/>
          <p:nvPr/>
        </p:nvSpPr>
        <p:spPr>
          <a:xfrm>
            <a:off x="6144768" y="1956816"/>
            <a:ext cx="5742432" cy="274320"/>
          </a:xfrm>
          <a:prstGeom prst="rect">
            <a:avLst/>
          </a:prstGeom>
          <a:noFill/>
        </p:spPr>
        <p:txBody>
          <a:bodyPr wrap="square" lIns="54864" rIns="54864" tIns="27432" bIns="18288">
            <a:spAutoFit/>
          </a:bodyPr>
          <a:lstStyle/>
          <a:p>
            <a:pPr algn="ctr">
              <a:spcBef>
                <a:spcPts val="0"/>
              </a:spcBef>
              <a:spcAft>
                <a:spcPts val="0"/>
              </a:spcAft>
            </a:pPr>
            <a:r>
              <a:rPr sz="1300" b="0" i="0">
                <a:solidFill>
                  <a:srgbClr val="4B5563"/>
                </a:solidFill>
                <a:latin typeface="Calibri"/>
              </a:rPr>
              <a:t>φ ≈ 1 inside cell,   φ ≈ 0 outside</a:t>
            </a:r>
          </a:p>
        </p:txBody>
      </p:sp>
      <p:sp>
        <p:nvSpPr>
          <p:cNvPr id="27" name="Rounded Rectangle 26"/>
          <p:cNvSpPr/>
          <p:nvPr/>
        </p:nvSpPr>
        <p:spPr>
          <a:xfrm>
            <a:off x="6144768" y="2304288"/>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44768" y="2304288"/>
            <a:ext cx="5742432" cy="566928"/>
          </a:xfrm>
          <a:prstGeom prst="rect">
            <a:avLst/>
          </a:prstGeom>
          <a:noFill/>
        </p:spPr>
        <p:txBody>
          <a:bodyPr wrap="square" lIns="54864" rIns="54864" tIns="27432" bIns="18288" anchor="ctr">
            <a:spAutoFit/>
          </a:bodyPr>
          <a:lstStyle/>
          <a:p>
            <a:pPr algn="ctr">
              <a:spcBef>
                <a:spcPts val="0"/>
              </a:spcBef>
              <a:spcAft>
                <a:spcPts val="300"/>
              </a:spcAft>
            </a:pPr>
            <a:r>
              <a:rPr sz="1600" b="0" i="0">
                <a:solidFill>
                  <a:srgbClr val="0B3D5C"/>
                </a:solidFill>
                <a:latin typeface="Cambria Math"/>
              </a:rPr>
              <a:t>Actin polarization   </a:t>
            </a:r>
            <a:r>
              <a:rPr sz="2200" b="1" i="0">
                <a:solidFill>
                  <a:srgbClr val="0B3D5C"/>
                </a:solidFill>
                <a:latin typeface="Cambria Math"/>
              </a:rPr>
              <a:t>P</a:t>
            </a:r>
            <a:r>
              <a:rPr sz="1600" b="0" i="0">
                <a:solidFill>
                  <a:srgbClr val="0B3D5C"/>
                </a:solidFill>
                <a:latin typeface="Cambria Math"/>
              </a:rPr>
              <a:t>(x, t)</a:t>
            </a:r>
          </a:p>
        </p:txBody>
      </p:sp>
      <p:sp>
        <p:nvSpPr>
          <p:cNvPr id="29" name="Rounded Rectangle 28"/>
          <p:cNvSpPr/>
          <p:nvPr/>
        </p:nvSpPr>
        <p:spPr>
          <a:xfrm>
            <a:off x="6144768" y="3035808"/>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3035808"/>
            <a:ext cx="5742432" cy="566928"/>
          </a:xfrm>
          <a:prstGeom prst="rect">
            <a:avLst/>
          </a:prstGeom>
          <a:noFill/>
        </p:spPr>
        <p:txBody>
          <a:bodyPr wrap="square" lIns="54864" rIns="54864" tIns="27432" bIns="18288" anchor="ctr">
            <a:spAutoFit/>
          </a:bodyPr>
          <a:lstStyle/>
          <a:p>
            <a:pPr algn="ctr">
              <a:spcBef>
                <a:spcPts val="0"/>
              </a:spcBef>
              <a:spcAft>
                <a:spcPts val="300"/>
              </a:spcAft>
            </a:pPr>
            <a:r>
              <a:rPr sz="2200" b="1" i="0">
                <a:solidFill>
                  <a:srgbClr val="0B3D5C"/>
                </a:solidFill>
                <a:latin typeface="Cambria Math"/>
              </a:rPr>
              <a:t>u</a:t>
            </a:r>
            <a:r>
              <a:rPr sz="2000" b="0" i="0">
                <a:solidFill>
                  <a:srgbClr val="0B3D5C"/>
                </a:solidFill>
                <a:latin typeface="Cambria Math"/>
              </a:rPr>
              <a:t>  =  </a:t>
            </a:r>
            <a:r>
              <a:rPr sz="2200" b="1" i="0">
                <a:solidFill>
                  <a:srgbClr val="0B3D5C"/>
                </a:solidFill>
                <a:latin typeface="Cambria Math"/>
              </a:rPr>
              <a:t>v</a:t>
            </a:r>
            <a:r>
              <a:rPr sz="2000" b="0" i="0">
                <a:solidFill>
                  <a:srgbClr val="0B3D5C"/>
                </a:solidFill>
                <a:latin typeface="Cambria Math"/>
              </a:rPr>
              <a:t>  +  w</a:t>
            </a:r>
            <a:r>
              <a:rPr sz="2000" b="0" i="0" baseline="-25000">
                <a:solidFill>
                  <a:srgbClr val="0B3D5C"/>
                </a:solidFill>
                <a:latin typeface="Cambria Math"/>
              </a:rPr>
              <a:t>0</a:t>
            </a:r>
            <a:r>
              <a:rPr sz="2200" b="1" i="0">
                <a:solidFill>
                  <a:srgbClr val="0B3D5C"/>
                </a:solidFill>
                <a:latin typeface="Cambria Math"/>
              </a:rPr>
              <a:t>P</a:t>
            </a:r>
          </a:p>
        </p:txBody>
      </p:sp>
      <p:sp>
        <p:nvSpPr>
          <p:cNvPr id="31" name="TextBox 30"/>
          <p:cNvSpPr txBox="1"/>
          <p:nvPr/>
        </p:nvSpPr>
        <p:spPr>
          <a:xfrm>
            <a:off x="6144768" y="3621024"/>
            <a:ext cx="5742432" cy="402336"/>
          </a:xfrm>
          <a:prstGeom prst="rect">
            <a:avLst/>
          </a:prstGeom>
          <a:noFill/>
        </p:spPr>
        <p:txBody>
          <a:bodyPr wrap="square" lIns="54864" rIns="54864" tIns="27432" bIns="18288">
            <a:spAutoFit/>
          </a:bodyPr>
          <a:lstStyle/>
          <a:p>
            <a:pPr algn="ctr">
              <a:spcBef>
                <a:spcPts val="0"/>
              </a:spcBef>
              <a:spcAft>
                <a:spcPts val="0"/>
              </a:spcAft>
            </a:pPr>
            <a:r>
              <a:rPr sz="1200" b="0" i="0">
                <a:solidFill>
                  <a:srgbClr val="4B5563"/>
                </a:solidFill>
                <a:latin typeface="Calibri"/>
              </a:rPr>
              <a:t>w₀P: treadmilling transport      v: friction/active-stress velocity</a:t>
            </a:r>
          </a:p>
        </p:txBody>
      </p:sp>
      <p:sp>
        <p:nvSpPr>
          <p:cNvPr id="32" name="Rounded Rectangle 31"/>
          <p:cNvSpPr/>
          <p:nvPr/>
        </p:nvSpPr>
        <p:spPr>
          <a:xfrm>
            <a:off x="6144768" y="4041648"/>
            <a:ext cx="5742432" cy="54864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44768" y="4041648"/>
            <a:ext cx="5742432" cy="548640"/>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σ</a:t>
            </a:r>
            <a:r>
              <a:rPr sz="1800" b="0" i="0" baseline="-25000">
                <a:solidFill>
                  <a:srgbClr val="0B3D5C"/>
                </a:solidFill>
                <a:latin typeface="Cambria Math"/>
              </a:rPr>
              <a:t>act</a:t>
            </a:r>
            <a:r>
              <a:rPr sz="1800" b="0" i="0">
                <a:solidFill>
                  <a:srgbClr val="0B3D5C"/>
                </a:solidFill>
                <a:latin typeface="Cambria Math"/>
              </a:rPr>
              <a:t>  =  −ζ φ </a:t>
            </a:r>
            <a:r>
              <a:rPr sz="2000" b="1" i="0">
                <a:solidFill>
                  <a:srgbClr val="0B3D5C"/>
                </a:solidFill>
                <a:latin typeface="Cambria Math"/>
              </a:rPr>
              <a:t>P</a:t>
            </a:r>
            <a:r>
              <a:rPr sz="2000" b="1" i="0">
                <a:solidFill>
                  <a:srgbClr val="0B3D5C"/>
                </a:solidFill>
                <a:latin typeface="Cambria Math"/>
              </a:rPr>
              <a:t>P</a:t>
            </a:r>
          </a:p>
        </p:txBody>
      </p:sp>
      <p:sp>
        <p:nvSpPr>
          <p:cNvPr id="34" name="TextBox 33"/>
          <p:cNvSpPr txBox="1"/>
          <p:nvPr/>
        </p:nvSpPr>
        <p:spPr>
          <a:xfrm>
            <a:off x="6144768" y="4608576"/>
            <a:ext cx="5742432" cy="274320"/>
          </a:xfrm>
          <a:prstGeom prst="rect">
            <a:avLst/>
          </a:prstGeom>
          <a:noFill/>
        </p:spPr>
        <p:txBody>
          <a:bodyPr wrap="square" lIns="54864" rIns="54864" tIns="27432" bIns="18288">
            <a:spAutoFit/>
          </a:bodyPr>
          <a:lstStyle/>
          <a:p>
            <a:pPr algn="ctr">
              <a:spcBef>
                <a:spcPts val="0"/>
              </a:spcBef>
              <a:spcAft>
                <a:spcPts val="0"/>
              </a:spcAft>
            </a:pPr>
            <a:r>
              <a:rPr sz="1200" b="0" i="0">
                <a:solidFill>
                  <a:srgbClr val="4B5563"/>
                </a:solidFill>
                <a:latin typeface="Calibri"/>
              </a:rPr>
              <a:t>convention: ζ &lt; 0  is contractile</a:t>
            </a:r>
          </a:p>
        </p:txBody>
      </p:sp>
      <p:sp>
        <p:nvSpPr>
          <p:cNvPr id="35" name="Rounded Rectangle 34"/>
          <p:cNvSpPr/>
          <p:nvPr/>
        </p:nvSpPr>
        <p:spPr>
          <a:xfrm>
            <a:off x="6144768" y="4937760"/>
            <a:ext cx="2743200" cy="530352"/>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44768" y="4937760"/>
            <a:ext cx="2743200" cy="530352"/>
          </a:xfrm>
          <a:prstGeom prst="rect">
            <a:avLst/>
          </a:prstGeom>
          <a:noFill/>
        </p:spPr>
        <p:txBody>
          <a:bodyPr wrap="square" lIns="54864" rIns="54864" tIns="27432" bIns="18288" anchor="ctr">
            <a:spAutoFit/>
          </a:bodyPr>
          <a:lstStyle/>
          <a:p>
            <a:pPr algn="ctr">
              <a:spcBef>
                <a:spcPts val="0"/>
              </a:spcBef>
              <a:spcAft>
                <a:spcPts val="300"/>
              </a:spcAft>
            </a:pPr>
            <a:r>
              <a:rPr sz="2000" b="0" i="0">
                <a:solidFill>
                  <a:srgbClr val="0B3D5C"/>
                </a:solidFill>
                <a:latin typeface="Cambria Math"/>
              </a:rPr>
              <a:t>−ξ </a:t>
            </a:r>
            <a:r>
              <a:rPr sz="2000" b="1" i="0">
                <a:solidFill>
                  <a:srgbClr val="0B3D5C"/>
                </a:solidFill>
                <a:latin typeface="Cambria Math"/>
              </a:rPr>
              <a:t>v</a:t>
            </a:r>
          </a:p>
        </p:txBody>
      </p:sp>
      <p:sp>
        <p:nvSpPr>
          <p:cNvPr id="37" name="TextBox 36"/>
          <p:cNvSpPr txBox="1"/>
          <p:nvPr/>
        </p:nvSpPr>
        <p:spPr>
          <a:xfrm>
            <a:off x="9025128" y="4937760"/>
            <a:ext cx="2862072" cy="530352"/>
          </a:xfrm>
          <a:prstGeom prst="rect">
            <a:avLst/>
          </a:prstGeom>
          <a:noFill/>
        </p:spPr>
        <p:txBody>
          <a:bodyPr wrap="square" lIns="54864" rIns="54864" tIns="27432" bIns="18288" anchor="ctr">
            <a:spAutoFit/>
          </a:bodyPr>
          <a:lstStyle/>
          <a:p>
            <a:pPr algn="l">
              <a:spcBef>
                <a:spcPts val="0"/>
              </a:spcBef>
              <a:spcAft>
                <a:spcPts val="0"/>
              </a:spcAft>
            </a:pPr>
            <a:r>
              <a:rPr sz="1250" b="0" i="0">
                <a:solidFill>
                  <a:srgbClr val="1F2937"/>
                </a:solidFill>
                <a:latin typeface="Calibri"/>
              </a:rPr>
              <a:t>strong adhesion → larger ξ</a:t>
            </a:r>
          </a:p>
        </p:txBody>
      </p:sp>
      <p:sp>
        <p:nvSpPr>
          <p:cNvPr id="38" name="TextBox 37"/>
          <p:cNvSpPr txBox="1"/>
          <p:nvPr/>
        </p:nvSpPr>
        <p:spPr>
          <a:xfrm>
            <a:off x="320040" y="6419088"/>
            <a:ext cx="11521440" cy="201168"/>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Tjhung et al., Nat. Commun. 2015  ·  Leoni &amp; Sens, PRL 2017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The model: shape, polarity and mechanics</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3 / 8</a:t>
            </a:r>
          </a:p>
        </p:txBody>
      </p:sp>
      <p:sp>
        <p:nvSpPr>
          <p:cNvPr id="9" name="Rounded Rectangle 8"/>
          <p:cNvSpPr/>
          <p:nvPr/>
        </p:nvSpPr>
        <p:spPr>
          <a:xfrm>
            <a:off x="320040" y="932688"/>
            <a:ext cx="1154887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932688"/>
            <a:ext cx="11548872" cy="566928"/>
          </a:xfrm>
          <a:prstGeom prst="rect">
            <a:avLst/>
          </a:prstGeom>
          <a:noFill/>
        </p:spPr>
        <p:txBody>
          <a:bodyPr wrap="square" lIns="54864" rIns="54864" tIns="27432" bIns="18288" anchor="ctr">
            <a:spAutoFit/>
          </a:bodyPr>
          <a:lstStyle/>
          <a:p>
            <a:pPr algn="ctr">
              <a:spcBef>
                <a:spcPts val="0"/>
              </a:spcBef>
              <a:spcAft>
                <a:spcPts val="300"/>
              </a:spcAft>
            </a:pPr>
            <a:r>
              <a:rPr sz="2000" b="0" i="1">
                <a:solidFill>
                  <a:srgbClr val="0B3D5C"/>
                </a:solidFill>
                <a:latin typeface="Cambria Math"/>
              </a:rPr>
              <a:t>F</a:t>
            </a:r>
            <a:r>
              <a:rPr sz="1800" b="0" i="0">
                <a:solidFill>
                  <a:srgbClr val="0B3D5C"/>
                </a:solidFill>
                <a:latin typeface="Cambria Math"/>
              </a:rPr>
              <a:t>  =  F</a:t>
            </a:r>
            <a:r>
              <a:rPr sz="1500" b="0" i="0" baseline="-25000">
                <a:solidFill>
                  <a:srgbClr val="0B3D5C"/>
                </a:solidFill>
                <a:latin typeface="Cambria Math"/>
              </a:rPr>
              <a:t>interface</a:t>
            </a:r>
            <a:r>
              <a:rPr sz="1800" b="0" i="0">
                <a:solidFill>
                  <a:srgbClr val="0B3D5C"/>
                </a:solidFill>
                <a:latin typeface="Cambria Math"/>
              </a:rPr>
              <a:t>  +  F</a:t>
            </a:r>
            <a:r>
              <a:rPr sz="1500" b="0" i="0" baseline="-25000">
                <a:solidFill>
                  <a:srgbClr val="0B3D5C"/>
                </a:solidFill>
                <a:latin typeface="Cambria Math"/>
              </a:rPr>
              <a:t>polar</a:t>
            </a:r>
            <a:r>
              <a:rPr sz="1800" b="0" i="0">
                <a:solidFill>
                  <a:srgbClr val="0B3D5C"/>
                </a:solidFill>
                <a:latin typeface="Cambria Math"/>
              </a:rPr>
              <a:t>  +  F</a:t>
            </a:r>
            <a:r>
              <a:rPr sz="1500" b="0" i="0" baseline="-25000">
                <a:solidFill>
                  <a:srgbClr val="0B3D5C"/>
                </a:solidFill>
                <a:latin typeface="Cambria Math"/>
              </a:rPr>
              <a:t>Frank</a:t>
            </a:r>
            <a:r>
              <a:rPr sz="1800" b="0" i="0">
                <a:solidFill>
                  <a:srgbClr val="0B3D5C"/>
                </a:solidFill>
                <a:latin typeface="Cambria Math"/>
              </a:rPr>
              <a:t>  +  F</a:t>
            </a:r>
            <a:r>
              <a:rPr sz="1500" b="0" i="0" baseline="-25000">
                <a:solidFill>
                  <a:srgbClr val="0B3D5C"/>
                </a:solidFill>
                <a:latin typeface="Cambria Math"/>
              </a:rPr>
              <a:t>anchor</a:t>
            </a:r>
            <a:r>
              <a:rPr sz="1800" b="0" i="0">
                <a:solidFill>
                  <a:srgbClr val="0B3D5C"/>
                </a:solidFill>
                <a:latin typeface="Cambria Math"/>
              </a:rPr>
              <a:t>  +  F</a:t>
            </a:r>
            <a:r>
              <a:rPr sz="1500" b="0" i="0" baseline="-25000">
                <a:solidFill>
                  <a:srgbClr val="0B3D5C"/>
                </a:solidFill>
                <a:latin typeface="Cambria Math"/>
              </a:rPr>
              <a:t>area/volume</a:t>
            </a:r>
          </a:p>
        </p:txBody>
      </p:sp>
      <p:sp>
        <p:nvSpPr>
          <p:cNvPr id="11" name="TextBox 10"/>
          <p:cNvSpPr txBox="1"/>
          <p:nvPr/>
        </p:nvSpPr>
        <p:spPr>
          <a:xfrm>
            <a:off x="411480" y="164592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Double-well:  </a:t>
            </a:r>
            <a:r>
              <a:rPr sz="1400" b="0" i="0">
                <a:solidFill>
                  <a:srgbClr val="1F2937"/>
                </a:solidFill>
                <a:latin typeface="Calibri"/>
              </a:rPr>
              <a:t>separates cell (φ≈1) from outside (φ≈0)</a:t>
            </a:r>
          </a:p>
        </p:txBody>
      </p:sp>
      <p:sp>
        <p:nvSpPr>
          <p:cNvPr id="12" name="TextBox 11"/>
          <p:cNvSpPr txBox="1"/>
          <p:nvPr/>
        </p:nvSpPr>
        <p:spPr>
          <a:xfrm>
            <a:off x="411480" y="201168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Surface tension:  </a:t>
            </a:r>
            <a:r>
              <a:rPr sz="1400" b="0" i="0">
                <a:solidFill>
                  <a:srgbClr val="1F2937"/>
                </a:solidFill>
                <a:latin typeface="Calibri"/>
              </a:rPr>
              <a:t>gives the cell boundary an energetic cost</a:t>
            </a:r>
          </a:p>
        </p:txBody>
      </p:sp>
      <p:sp>
        <p:nvSpPr>
          <p:cNvPr id="13" name="TextBox 12"/>
          <p:cNvSpPr txBox="1"/>
          <p:nvPr/>
        </p:nvSpPr>
        <p:spPr>
          <a:xfrm>
            <a:off x="411480" y="237744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Polar order:  </a:t>
            </a:r>
            <a:r>
              <a:rPr sz="1400" b="0" i="0">
                <a:solidFill>
                  <a:srgbClr val="1F2937"/>
                </a:solidFill>
                <a:latin typeface="Calibri"/>
              </a:rPr>
              <a:t>favours |P| inside the cell</a:t>
            </a:r>
          </a:p>
        </p:txBody>
      </p:sp>
      <p:sp>
        <p:nvSpPr>
          <p:cNvPr id="14" name="TextBox 13"/>
          <p:cNvSpPr txBox="1"/>
          <p:nvPr/>
        </p:nvSpPr>
        <p:spPr>
          <a:xfrm>
            <a:off x="411480" y="274320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Frank elasticity:  </a:t>
            </a:r>
            <a:r>
              <a:rPr sz="1400" b="0" i="0">
                <a:solidFill>
                  <a:srgbClr val="1F2937"/>
                </a:solidFill>
                <a:latin typeface="Calibri"/>
              </a:rPr>
              <a:t>penalises strong spatial variation of P</a:t>
            </a:r>
          </a:p>
        </p:txBody>
      </p:sp>
      <p:sp>
        <p:nvSpPr>
          <p:cNvPr id="15" name="TextBox 14"/>
          <p:cNvSpPr txBox="1"/>
          <p:nvPr/>
        </p:nvSpPr>
        <p:spPr>
          <a:xfrm>
            <a:off x="411480" y="310896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Anchoring β:  </a:t>
            </a:r>
            <a:r>
              <a:rPr sz="1400" b="0" i="0">
                <a:solidFill>
                  <a:srgbClr val="1F2937"/>
                </a:solidFill>
                <a:latin typeface="Calibri"/>
              </a:rPr>
              <a:t>couples P to the cell edge and controls morphology</a:t>
            </a:r>
          </a:p>
        </p:txBody>
      </p:sp>
      <p:sp>
        <p:nvSpPr>
          <p:cNvPr id="16" name="Rounded Rectangle 15"/>
          <p:cNvSpPr/>
          <p:nvPr/>
        </p:nvSpPr>
        <p:spPr>
          <a:xfrm>
            <a:off x="320040" y="3584448"/>
            <a:ext cx="8229600"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584448"/>
            <a:ext cx="8229600" cy="566928"/>
          </a:xfrm>
          <a:prstGeom prst="rect">
            <a:avLst/>
          </a:prstGeom>
          <a:noFill/>
        </p:spPr>
        <p:txBody>
          <a:bodyPr wrap="square" lIns="54864" rIns="54864" tIns="27432" bIns="18288" anchor="ctr">
            <a:spAutoFit/>
          </a:bodyPr>
          <a:lstStyle/>
          <a:p>
            <a:pPr algn="ctr">
              <a:spcBef>
                <a:spcPts val="0"/>
              </a:spcBef>
              <a:spcAft>
                <a:spcPts val="300"/>
              </a:spcAft>
            </a:pPr>
            <a:r>
              <a:rPr sz="1700" b="0" i="0">
                <a:solidFill>
                  <a:srgbClr val="0B3D5C"/>
                </a:solidFill>
                <a:latin typeface="Cambria Math"/>
              </a:rPr>
              <a:t>0  =  −∇p  +  η∇</a:t>
            </a:r>
            <a:r>
              <a:rPr sz="1700" b="0" i="0" baseline="30000">
                <a:solidFill>
                  <a:srgbClr val="0B3D5C"/>
                </a:solidFill>
                <a:latin typeface="Cambria Math"/>
              </a:rPr>
              <a:t>2</a:t>
            </a:r>
            <a:r>
              <a:rPr sz="1800" b="1" i="0">
                <a:solidFill>
                  <a:srgbClr val="0B3D5C"/>
                </a:solidFill>
                <a:latin typeface="Cambria Math"/>
              </a:rPr>
              <a:t>v</a:t>
            </a:r>
            <a:r>
              <a:rPr sz="1700" b="0" i="0">
                <a:solidFill>
                  <a:srgbClr val="0B3D5C"/>
                </a:solidFill>
                <a:latin typeface="Cambria Math"/>
              </a:rPr>
              <a:t>  −  ξ</a:t>
            </a:r>
            <a:r>
              <a:rPr sz="1800" b="1" i="0">
                <a:solidFill>
                  <a:srgbClr val="0B3D5C"/>
                </a:solidFill>
                <a:latin typeface="Cambria Math"/>
              </a:rPr>
              <a:t>v</a:t>
            </a:r>
            <a:r>
              <a:rPr sz="1700" b="1" i="1">
                <a:solidFill>
                  <a:srgbClr val="0B3D5C"/>
                </a:solidFill>
                <a:latin typeface="Cambria Math"/>
              </a:rPr>
              <a:t>  +  f</a:t>
            </a:r>
          </a:p>
        </p:txBody>
      </p:sp>
      <p:sp>
        <p:nvSpPr>
          <p:cNvPr id="18" name="Rounded Rectangle 17"/>
          <p:cNvSpPr/>
          <p:nvPr/>
        </p:nvSpPr>
        <p:spPr>
          <a:xfrm>
            <a:off x="8732520" y="3584448"/>
            <a:ext cx="313639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20" y="3584448"/>
            <a:ext cx="3136392" cy="566928"/>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Re  ∼  10</a:t>
            </a:r>
            <a:r>
              <a:rPr sz="1300" b="0" i="0">
                <a:solidFill>
                  <a:srgbClr val="0B3D5C"/>
                </a:solidFill>
                <a:latin typeface="Cambria Math"/>
              </a:rPr>
              <a:t>−5</a:t>
            </a:r>
          </a:p>
        </p:txBody>
      </p:sp>
      <p:sp>
        <p:nvSpPr>
          <p:cNvPr id="20" name="TextBox 19"/>
          <p:cNvSpPr txBox="1"/>
          <p:nvPr/>
        </p:nvSpPr>
        <p:spPr>
          <a:xfrm>
            <a:off x="320040" y="4187952"/>
            <a:ext cx="11548872" cy="237744"/>
          </a:xfrm>
          <a:prstGeom prst="rect">
            <a:avLst/>
          </a:prstGeom>
          <a:noFill/>
        </p:spPr>
        <p:txBody>
          <a:bodyPr wrap="square" lIns="54864" rIns="54864" tIns="27432" bIns="18288">
            <a:spAutoFit/>
          </a:bodyPr>
          <a:lstStyle/>
          <a:p>
            <a:pPr algn="ctr">
              <a:spcBef>
                <a:spcPts val="0"/>
              </a:spcBef>
              <a:spcAft>
                <a:spcPts val="0"/>
              </a:spcAft>
            </a:pPr>
            <a:r>
              <a:rPr sz="1250" b="0" i="0">
                <a:solidFill>
                  <a:srgbClr val="4B5563"/>
                </a:solidFill>
                <a:latin typeface="Calibri"/>
              </a:rPr>
              <a:t>Stokes force balance — inertia is negligible at the cell scale</a:t>
            </a:r>
          </a:p>
        </p:txBody>
      </p:sp>
      <p:graphicFrame>
        <p:nvGraphicFramePr>
          <p:cNvPr id="21" name="Table 20"/>
          <p:cNvGraphicFramePr>
            <a:graphicFrameLocks noGrp="1"/>
          </p:cNvGraphicFramePr>
          <p:nvPr/>
        </p:nvGraphicFramePr>
        <p:xfrm>
          <a:off x="320040" y="4590288"/>
          <a:ext cx="11548872" cy="1600200"/>
        </p:xfrm>
        <a:graphic>
          <a:graphicData uri="http://schemas.openxmlformats.org/drawingml/2006/table">
            <a:tbl>
              <a:tblPr firstRow="1" bandRow="1">
                <a:tableStyleId>{5C22544A-7EE6-4342-B048-85BDC9FD1C3A}</a:tableStyleId>
              </a:tblPr>
              <a:tblGrid>
                <a:gridCol w="868680"/>
                <a:gridCol w="3246120"/>
                <a:gridCol w="4279392"/>
                <a:gridCol w="3154680"/>
              </a:tblGrid>
              <a:tr h="320040">
                <a:tc>
                  <a:txBody>
                    <a:bodyPr/>
                    <a:lstStyle/>
                    <a:p>
                      <a:pPr algn="ctr"/>
                      <a:r>
                        <a:rPr sz="1300" b="1">
                          <a:solidFill>
                            <a:srgbClr val="FFFFFF"/>
                          </a:solidFill>
                          <a:latin typeface="Calibri"/>
                        </a:rPr>
                        <a:t>Ver.</a:t>
                      </a:r>
                    </a:p>
                  </a:txBody>
                  <a:tcPr anchor="ctr">
                    <a:solidFill>
                      <a:srgbClr val="0B3D5C"/>
                    </a:solidFill>
                  </a:tcPr>
                </a:tc>
                <a:tc>
                  <a:txBody>
                    <a:bodyPr/>
                    <a:lstStyle/>
                    <a:p>
                      <a:pPr algn="ctr"/>
                      <a:r>
                        <a:rPr sz="1300" b="1">
                          <a:solidFill>
                            <a:srgbClr val="FFFFFF"/>
                          </a:solidFill>
                          <a:latin typeface="Calibri"/>
                        </a:rPr>
                        <a:t>Geometry</a:t>
                      </a:r>
                    </a:p>
                  </a:txBody>
                  <a:tcPr anchor="ctr">
                    <a:solidFill>
                      <a:srgbClr val="0B3D5C"/>
                    </a:solidFill>
                  </a:tcPr>
                </a:tc>
                <a:tc>
                  <a:txBody>
                    <a:bodyPr/>
                    <a:lstStyle/>
                    <a:p>
                      <a:pPr algn="ctr"/>
                      <a:r>
                        <a:rPr sz="1300" b="1">
                          <a:solidFill>
                            <a:srgbClr val="FFFFFF"/>
                          </a:solidFill>
                          <a:latin typeface="Calibri"/>
                        </a:rPr>
                        <a:t>Force balance</a:t>
                      </a:r>
                    </a:p>
                  </a:txBody>
                  <a:tcPr anchor="ctr">
                    <a:solidFill>
                      <a:srgbClr val="0B3D5C"/>
                    </a:solidFill>
                  </a:tcPr>
                </a:tc>
                <a:tc>
                  <a:txBody>
                    <a:bodyPr/>
                    <a:lstStyle/>
                    <a:p>
                      <a:pPr algn="ctr"/>
                      <a:r>
                        <a:rPr sz="1300" b="1">
                          <a:solidFill>
                            <a:srgbClr val="FFFFFF"/>
                          </a:solidFill>
                          <a:latin typeface="Calibri"/>
                        </a:rPr>
                        <a:t>Area / volume</a:t>
                      </a:r>
                    </a:p>
                  </a:txBody>
                  <a:tcPr anchor="ctr">
                    <a:solidFill>
                      <a:srgbClr val="0B3D5C"/>
                    </a:solidFill>
                  </a:tcPr>
                </a:tc>
              </a:tr>
              <a:tr h="320040">
                <a:tc>
                  <a:txBody>
                    <a:bodyPr/>
                    <a:lstStyle/>
                    <a:p>
                      <a:pPr algn="ctr"/>
                      <a:r>
                        <a:rPr sz="1300" b="1">
                          <a:solidFill>
                            <a:srgbClr val="1F2937"/>
                          </a:solidFill>
                          <a:latin typeface="Calibri"/>
                        </a:rPr>
                        <a:t>1</a:t>
                      </a:r>
                    </a:p>
                  </a:txBody>
                  <a:tcPr anchor="ctr">
                    <a:solidFill>
                      <a:srgbClr val="FFFFFF"/>
                    </a:solidFill>
                  </a:tcPr>
                </a:tc>
                <a:tc>
                  <a:txBody>
                    <a:bodyPr/>
                    <a:lstStyle/>
                    <a:p>
                      <a:pPr algn="ctr"/>
                      <a:r>
                        <a:rPr sz="1300" b="0">
                          <a:solidFill>
                            <a:srgbClr val="1F2937"/>
                          </a:solidFill>
                          <a:latin typeface="Calibri"/>
                        </a:rPr>
                        <a:t>Plane</a:t>
                      </a:r>
                    </a:p>
                  </a:txBody>
                  <a:tcPr anchor="ctr">
                    <a:solidFill>
                      <a:srgbClr val="FFFFFF"/>
                    </a:solidFill>
                  </a:tcPr>
                </a:tc>
                <a:tc>
                  <a:txBody>
                    <a:bodyPr/>
                    <a:lstStyle/>
                    <a:p>
                      <a:pPr algn="ctr"/>
                      <a:r>
                        <a:rPr sz="1300" b="0">
                          <a:solidFill>
                            <a:srgbClr val="1F2937"/>
                          </a:solidFill>
                          <a:latin typeface="Calibri"/>
                        </a:rPr>
                        <a:t>v = 0</a:t>
                      </a:r>
                    </a:p>
                  </a:txBody>
                  <a:tcPr anchor="ctr">
                    <a:solidFill>
                      <a:srgbClr val="FFFFFF"/>
                    </a:solidFill>
                  </a:tcPr>
                </a:tc>
                <a:tc>
                  <a:txBody>
                    <a:bodyPr/>
                    <a:lstStyle/>
                    <a:p>
                      <a:pPr algn="ctr"/>
                      <a:r>
                        <a:rPr sz="1300" b="0">
                          <a:solidFill>
                            <a:srgbClr val="1F2937"/>
                          </a:solidFill>
                          <a:latin typeface="Calibri"/>
                        </a:rPr>
                        <a:t>drifts 4.5%</a:t>
                      </a:r>
                    </a:p>
                  </a:txBody>
                  <a:tcPr anchor="ctr">
                    <a:solidFill>
                      <a:srgbClr val="FFFFFF"/>
                    </a:solidFill>
                  </a:tcPr>
                </a:tc>
              </a:tr>
              <a:tr h="320040">
                <a:tc>
                  <a:txBody>
                    <a:bodyPr/>
                    <a:lstStyle/>
                    <a:p>
                      <a:pPr algn="ctr"/>
                      <a:r>
                        <a:rPr sz="1300" b="1">
                          <a:solidFill>
                            <a:srgbClr val="1F2937"/>
                          </a:solidFill>
                          <a:latin typeface="Calibri"/>
                        </a:rPr>
                        <a:t>2</a:t>
                      </a:r>
                    </a:p>
                  </a:txBody>
                  <a:tcPr anchor="ctr">
                    <a:solidFill>
                      <a:srgbClr val="E8F3F1"/>
                    </a:solidFill>
                  </a:tcPr>
                </a:tc>
                <a:tc>
                  <a:txBody>
                    <a:bodyPr/>
                    <a:lstStyle/>
                    <a:p>
                      <a:pPr algn="ctr"/>
                      <a:r>
                        <a:rPr sz="1300" b="0">
                          <a:solidFill>
                            <a:srgbClr val="1F2937"/>
                          </a:solidFill>
                          <a:latin typeface="Calibri"/>
                        </a:rPr>
                        <a:t>Vertical slice + wall</a:t>
                      </a:r>
                    </a:p>
                  </a:txBody>
                  <a:tcPr anchor="ctr">
                    <a:solidFill>
                      <a:srgbClr val="E8F3F1"/>
                    </a:solidFill>
                  </a:tcPr>
                </a:tc>
                <a:tc>
                  <a:txBody>
                    <a:bodyPr/>
                    <a:lstStyle/>
                    <a:p>
                      <a:pPr algn="ctr"/>
                      <a:r>
                        <a:rPr sz="1300" b="0">
                          <a:solidFill>
                            <a:srgbClr val="1F2937"/>
                          </a:solidFill>
                          <a:latin typeface="Calibri"/>
                        </a:rPr>
                        <a:t>Brinkman / screened in z</a:t>
                      </a:r>
                    </a:p>
                  </a:txBody>
                  <a:tcPr anchor="ctr">
                    <a:solidFill>
                      <a:srgbClr val="E8F3F1"/>
                    </a:solidFill>
                  </a:tcPr>
                </a:tc>
                <a:tc>
                  <a:txBody>
                    <a:bodyPr/>
                    <a:lstStyle/>
                    <a:p>
                      <a:pPr algn="ctr"/>
                      <a:r>
                        <a:rPr sz="1300" b="0">
                          <a:solidFill>
                            <a:srgbClr val="1F2937"/>
                          </a:solidFill>
                          <a:latin typeface="Calibri"/>
                        </a:rPr>
                        <a:t>fixed</a:t>
                      </a:r>
                    </a:p>
                  </a:txBody>
                  <a:tcPr anchor="ctr">
                    <a:solidFill>
                      <a:srgbClr val="E8F3F1"/>
                    </a:solidFill>
                  </a:tcPr>
                </a:tc>
              </a:tr>
              <a:tr h="320040">
                <a:tc>
                  <a:txBody>
                    <a:bodyPr/>
                    <a:lstStyle/>
                    <a:p>
                      <a:pPr algn="ctr"/>
                      <a:r>
                        <a:rPr sz="1300" b="1">
                          <a:solidFill>
                            <a:srgbClr val="1F2937"/>
                          </a:solidFill>
                          <a:latin typeface="Calibri"/>
                        </a:rPr>
                        <a:t>3</a:t>
                      </a:r>
                    </a:p>
                  </a:txBody>
                  <a:tcPr anchor="ctr">
                    <a:solidFill>
                      <a:srgbClr val="FFFFFF"/>
                    </a:solidFill>
                  </a:tcPr>
                </a:tc>
                <a:tc>
                  <a:txBody>
                    <a:bodyPr/>
                    <a:lstStyle/>
                    <a:p>
                      <a:pPr algn="ctr"/>
                      <a:r>
                        <a:rPr sz="1300" b="0">
                          <a:solidFill>
                            <a:srgbClr val="1F2937"/>
                          </a:solidFill>
                          <a:latin typeface="Calibri"/>
                        </a:rPr>
                        <a:t>Plane</a:t>
                      </a:r>
                    </a:p>
                  </a:txBody>
                  <a:tcPr anchor="ctr">
                    <a:solidFill>
                      <a:srgbClr val="FFFFFF"/>
                    </a:solidFill>
                  </a:tcPr>
                </a:tc>
                <a:tc>
                  <a:txBody>
                    <a:bodyPr/>
                    <a:lstStyle/>
                    <a:p>
                      <a:pPr algn="ctr"/>
                      <a:r>
                        <a:rPr sz="1300" b="0">
                          <a:solidFill>
                            <a:srgbClr val="1F2937"/>
                          </a:solidFill>
                          <a:latin typeface="Calibri"/>
                        </a:rPr>
                        <a:t>incompressible Stokes</a:t>
                      </a:r>
                    </a:p>
                  </a:txBody>
                  <a:tcPr anchor="ctr">
                    <a:solidFill>
                      <a:srgbClr val="FFFFFF"/>
                    </a:solidFill>
                  </a:tcPr>
                </a:tc>
                <a:tc>
                  <a:txBody>
                    <a:bodyPr/>
                    <a:lstStyle/>
                    <a:p>
                      <a:pPr algn="ctr"/>
                      <a:r>
                        <a:rPr sz="1300" b="0">
                          <a:solidFill>
                            <a:srgbClr val="1F2937"/>
                          </a:solidFill>
                          <a:latin typeface="Calibri"/>
                        </a:rPr>
                        <a:t>fixed</a:t>
                      </a:r>
                    </a:p>
                  </a:txBody>
                  <a:tcPr anchor="ctr">
                    <a:solidFill>
                      <a:srgbClr val="FFFFFF"/>
                    </a:solidFill>
                  </a:tcPr>
                </a:tc>
              </a:tr>
              <a:tr h="320040">
                <a:tc>
                  <a:txBody>
                    <a:bodyPr/>
                    <a:lstStyle/>
                    <a:p>
                      <a:pPr algn="ctr"/>
                      <a:r>
                        <a:rPr sz="1300" b="1">
                          <a:solidFill>
                            <a:srgbClr val="1F2937"/>
                          </a:solidFill>
                          <a:latin typeface="Calibri"/>
                        </a:rPr>
                        <a:t>4</a:t>
                      </a:r>
                    </a:p>
                  </a:txBody>
                  <a:tcPr anchor="ctr">
                    <a:solidFill>
                      <a:srgbClr val="E8F3F1"/>
                    </a:solidFill>
                  </a:tcPr>
                </a:tc>
                <a:tc>
                  <a:txBody>
                    <a:bodyPr/>
                    <a:lstStyle/>
                    <a:p>
                      <a:pPr algn="ctr"/>
                      <a:r>
                        <a:rPr sz="1300" b="0">
                          <a:solidFill>
                            <a:srgbClr val="1F2937"/>
                          </a:solidFill>
                          <a:latin typeface="Calibri"/>
                        </a:rPr>
                        <a:t>Plane</a:t>
                      </a:r>
                    </a:p>
                  </a:txBody>
                  <a:tcPr anchor="ctr">
                    <a:solidFill>
                      <a:srgbClr val="E8F3F1"/>
                    </a:solidFill>
                  </a:tcPr>
                </a:tc>
                <a:tc>
                  <a:txBody>
                    <a:bodyPr/>
                    <a:lstStyle/>
                    <a:p>
                      <a:pPr algn="ctr"/>
                      <a:r>
                        <a:rPr sz="1300" b="0">
                          <a:solidFill>
                            <a:srgbClr val="1F2937"/>
                          </a:solidFill>
                          <a:latin typeface="Calibri"/>
                        </a:rPr>
                        <a:t>friction-dominated  v = f/ξ</a:t>
                      </a:r>
                    </a:p>
                  </a:txBody>
                  <a:tcPr anchor="ctr">
                    <a:solidFill>
                      <a:srgbClr val="E8F3F1"/>
                    </a:solidFill>
                  </a:tcPr>
                </a:tc>
                <a:tc>
                  <a:txBody>
                    <a:bodyPr/>
                    <a:lstStyle/>
                    <a:p>
                      <a:pPr algn="ctr"/>
                      <a:r>
                        <a:rPr sz="1300" b="0">
                          <a:solidFill>
                            <a:srgbClr val="1F2937"/>
                          </a:solidFill>
                          <a:latin typeface="Calibri"/>
                        </a:rPr>
                        <a:t>soft volume</a:t>
                      </a:r>
                    </a:p>
                  </a:txBody>
                  <a:tcPr anchor="ctr">
                    <a:solidFill>
                      <a:srgbClr val="E8F3F1"/>
                    </a:solidFill>
                  </a:tcPr>
                </a:tc>
              </a:tr>
            </a:tbl>
          </a:graphicData>
        </a:graphic>
      </p:graphicFrame>
      <p:sp>
        <p:nvSpPr>
          <p:cNvPr id="22" name="TextBox 21"/>
          <p:cNvSpPr txBox="1"/>
          <p:nvPr/>
        </p:nvSpPr>
        <p:spPr>
          <a:xfrm>
            <a:off x="320040" y="6272784"/>
            <a:ext cx="11548872" cy="292608"/>
          </a:xfrm>
          <a:prstGeom prst="rect">
            <a:avLst/>
          </a:prstGeom>
          <a:noFill/>
        </p:spPr>
        <p:txBody>
          <a:bodyPr wrap="square" lIns="54864" rIns="54864" tIns="27432" bIns="18288">
            <a:spAutoFit/>
          </a:bodyPr>
          <a:lstStyle/>
          <a:p>
            <a:pPr algn="ctr"/>
            <a:r>
              <a:rPr sz="1300" b="1" i="0">
                <a:solidFill>
                  <a:srgbClr val="0B3D5C"/>
                </a:solidFill>
                <a:latin typeface="Calibri"/>
              </a:rPr>
              <a:t>One ingredient at a time → identify what controls the behaviour.   </a:t>
            </a:r>
            <a:r>
              <a:rPr sz="1300" b="0" i="0">
                <a:solidFill>
                  <a:srgbClr val="4B5563"/>
                </a:solidFill>
                <a:latin typeface="Calibri"/>
              </a:rPr>
              <a:t>Goal: many interacting cells → avoid a global Stokes solve.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From a translating disc to a leading protrusion</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4 / 8</a:t>
            </a:r>
          </a:p>
        </p:txBody>
      </p:sp>
      <p:sp>
        <p:nvSpPr>
          <p:cNvPr id="9" name="Rounded Rectangle 8"/>
          <p:cNvSpPr/>
          <p:nvPr/>
        </p:nvSpPr>
        <p:spPr>
          <a:xfrm>
            <a:off x="292608" y="932688"/>
            <a:ext cx="3977639" cy="16916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1005840"/>
            <a:ext cx="3721607" cy="155448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Version 1</a:t>
            </a:r>
          </a:p>
          <a:p>
            <a:pPr algn="l">
              <a:spcBef>
                <a:spcPts val="0"/>
              </a:spcBef>
              <a:spcAft>
                <a:spcPts val="400"/>
              </a:spcAft>
            </a:pPr>
            <a:r>
              <a:rPr sz="1400" b="1" i="0">
                <a:solidFill>
                  <a:srgbClr val="1F2937"/>
                </a:solidFill>
                <a:latin typeface="Cambria Math"/>
              </a:rPr>
              <a:t>v</a:t>
            </a:r>
            <a:r>
              <a:rPr sz="1400" b="0" i="0">
                <a:solidFill>
                  <a:srgbClr val="1F2937"/>
                </a:solidFill>
                <a:latin typeface="Cambria Math"/>
              </a:rPr>
              <a:t> = 0,   ζ = β = 0</a:t>
            </a:r>
          </a:p>
          <a:p>
            <a:pPr>
              <a:spcAft>
                <a:spcPts val="200"/>
              </a:spcAft>
            </a:pPr>
            <a:r>
              <a:rPr sz="1250" b="0" i="0">
                <a:solidFill>
                  <a:srgbClr val="1F2937"/>
                </a:solidFill>
                <a:latin typeface="Calibri"/>
              </a:rPr>
              <a:t>•  Uniform P → uniform u — cell translates</a:t>
            </a:r>
          </a:p>
          <a:p>
            <a:pPr>
              <a:spcAft>
                <a:spcPts val="200"/>
              </a:spcAft>
            </a:pPr>
            <a:r>
              <a:rPr sz="1250" b="0" i="0">
                <a:solidFill>
                  <a:srgbClr val="1F2937"/>
                </a:solidFill>
                <a:latin typeface="Calibri"/>
              </a:rPr>
              <a:t>•  Shape cannot change</a:t>
            </a:r>
          </a:p>
          <a:p>
            <a:pPr>
              <a:spcAft>
                <a:spcPts val="0"/>
              </a:spcAft>
            </a:pPr>
            <a:r>
              <a:rPr sz="1250" b="0" i="0">
                <a:solidFill>
                  <a:srgbClr val="1F2937"/>
                </a:solidFill>
                <a:latin typeface="Calibri"/>
              </a:rPr>
              <a:t>•  Area falls 4.5% (non-conservative advection)</a:t>
            </a:r>
          </a:p>
        </p:txBody>
      </p:sp>
      <p:sp>
        <p:nvSpPr>
          <p:cNvPr id="11" name="Rounded Rectangle 10"/>
          <p:cNvSpPr/>
          <p:nvPr/>
        </p:nvSpPr>
        <p:spPr>
          <a:xfrm>
            <a:off x="292608" y="2743200"/>
            <a:ext cx="3977639" cy="342900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 y="2816352"/>
            <a:ext cx="3721607" cy="3291840"/>
          </a:xfrm>
          <a:prstGeom prst="rect">
            <a:avLst/>
          </a:prstGeom>
          <a:noFill/>
        </p:spPr>
        <p:txBody>
          <a:bodyPr wrap="square" lIns="54864" rIns="54864" tIns="27432" bIns="18288">
            <a:spAutoFit/>
          </a:bodyPr>
          <a:lstStyle/>
          <a:p>
            <a:pPr algn="l">
              <a:spcBef>
                <a:spcPts val="0"/>
              </a:spcBef>
              <a:spcAft>
                <a:spcPts val="400"/>
              </a:spcAft>
            </a:pPr>
            <a:r>
              <a:rPr sz="1600" b="1" i="0">
                <a:solidFill>
                  <a:srgbClr val="1A7A6D"/>
                </a:solidFill>
                <a:latin typeface="Calibri"/>
              </a:rPr>
              <a:t>Version 2</a:t>
            </a:r>
          </a:p>
          <a:p>
            <a:pPr algn="l">
              <a:spcBef>
                <a:spcPts val="0"/>
              </a:spcBef>
              <a:spcAft>
                <a:spcPts val="600"/>
              </a:spcAft>
            </a:pPr>
            <a:r>
              <a:rPr sz="1250" b="0" i="0">
                <a:solidFill>
                  <a:srgbClr val="1F2937"/>
                </a:solidFill>
                <a:latin typeface="Calibri"/>
              </a:rPr>
              <a:t>Vertical y–z slice; substrate at z = 0. Treadmilling restricted to a layer of thickness λ:</a:t>
            </a:r>
          </a:p>
          <a:p>
            <a:pPr algn="l">
              <a:spcBef>
                <a:spcPts val="0"/>
              </a:spcBef>
              <a:spcAft>
                <a:spcPts val="800"/>
              </a:spcAft>
            </a:pPr>
            <a:r>
              <a:rPr sz="1300" b="0" i="0">
                <a:solidFill>
                  <a:srgbClr val="0B3D5C"/>
                </a:solidFill>
                <a:latin typeface="Cambria Math"/>
              </a:rPr>
              <a:t>w(z) = </a:t>
            </a:r>
            <a:r>
              <a:rPr sz="1300" b="0" i="0">
                <a:solidFill>
                  <a:srgbClr val="0B3D5C"/>
                </a:solidFill>
                <a:latin typeface="Cambria Math"/>
              </a:rPr>
              <a:t>w</a:t>
            </a:r>
            <a:r>
              <a:rPr sz="1300" b="0" i="0" baseline="-25000">
                <a:solidFill>
                  <a:srgbClr val="0B3D5C"/>
                </a:solidFill>
                <a:latin typeface="Cambria Math"/>
              </a:rPr>
              <a:t>0</a:t>
            </a:r>
            <a:r>
              <a:rPr sz="1300" b="0" i="0">
                <a:solidFill>
                  <a:srgbClr val="0B3D5C"/>
                </a:solidFill>
                <a:latin typeface="Cambria Math"/>
              </a:rPr>
              <a:t>/2 · [1−tanh((z−λ)/w</a:t>
            </a:r>
            <a:r>
              <a:rPr sz="1300" b="0" i="0">
                <a:solidFill>
                  <a:srgbClr val="0B3D5C"/>
                </a:solidFill>
                <a:latin typeface="Cambria Math"/>
              </a:rPr>
              <a:t>τ</a:t>
            </a:r>
            <a:r>
              <a:rPr sz="1300" b="0" i="0">
                <a:solidFill>
                  <a:srgbClr val="0B3D5C"/>
                </a:solidFill>
                <a:latin typeface="Cambria Math"/>
              </a:rPr>
              <a:t>)]</a:t>
            </a:r>
          </a:p>
          <a:p>
            <a:pPr algn="l">
              <a:spcBef>
                <a:spcPts val="0"/>
              </a:spcBef>
              <a:spcAft>
                <a:spcPts val="0"/>
              </a:spcAft>
            </a:pPr>
            <a:r>
              <a:rPr sz="1250" b="0" i="0">
                <a:solidFill>
                  <a:srgbClr val="1F2937"/>
                </a:solidFill>
                <a:latin typeface="Calibri"/>
              </a:rPr>
              <a:t>Near-wall material moves ahead → tension pulls the interface back → protrusion emerges.</a:t>
            </a:r>
          </a:p>
        </p:txBody>
      </p:sp>
      <p:pic>
        <p:nvPicPr>
          <p:cNvPr id="13" name="Picture 12" descr="fig_v2_shapes.png"/>
          <p:cNvPicPr>
            <a:picLocks noChangeAspect="1"/>
          </p:cNvPicPr>
          <p:nvPr/>
        </p:nvPicPr>
        <p:blipFill>
          <a:blip r:embed="rId2"/>
          <a:stretch>
            <a:fillRect/>
          </a:stretch>
        </p:blipFill>
        <p:spPr>
          <a:xfrm>
            <a:off x="5928482" y="914400"/>
            <a:ext cx="4465075" cy="2331720"/>
          </a:xfrm>
          <a:prstGeom prst="rect">
            <a:avLst/>
          </a:prstGeom>
        </p:spPr>
      </p:pic>
      <p:graphicFrame>
        <p:nvGraphicFramePr>
          <p:cNvPr id="14" name="Table 13"/>
          <p:cNvGraphicFramePr>
            <a:graphicFrameLocks noGrp="1"/>
          </p:cNvGraphicFramePr>
          <p:nvPr/>
        </p:nvGraphicFramePr>
        <p:xfrm>
          <a:off x="4434840" y="3337560"/>
          <a:ext cx="5074919" cy="822960"/>
        </p:xfrm>
        <a:graphic>
          <a:graphicData uri="http://schemas.openxmlformats.org/drawingml/2006/table">
            <a:tbl>
              <a:tblPr firstRow="1" bandRow="1">
                <a:tableStyleId>{5C22544A-7EE6-4342-B048-85BDC9FD1C3A}</a:tableStyleId>
              </a:tblPr>
              <a:tblGrid>
                <a:gridCol w="914400"/>
                <a:gridCol w="1874519"/>
                <a:gridCol w="1143000"/>
                <a:gridCol w="1143000"/>
              </a:tblGrid>
              <a:tr h="274320">
                <a:tc>
                  <a:txBody>
                    <a:bodyPr/>
                    <a:lstStyle/>
                    <a:p>
                      <a:pPr algn="ctr"/>
                      <a:r>
                        <a:rPr sz="1250" b="1">
                          <a:solidFill>
                            <a:srgbClr val="FFFFFF"/>
                          </a:solidFill>
                          <a:latin typeface="Calibri"/>
                        </a:rPr>
                        <a:t>w₀</a:t>
                      </a:r>
                    </a:p>
                  </a:txBody>
                  <a:tcPr anchor="ctr">
                    <a:solidFill>
                      <a:srgbClr val="0B3D5C"/>
                    </a:solidFill>
                  </a:tcPr>
                </a:tc>
                <a:tc>
                  <a:txBody>
                    <a:bodyPr/>
                    <a:lstStyle/>
                    <a:p>
                      <a:pPr algn="ctr"/>
                      <a:r>
                        <a:rPr sz="1250" b="1">
                          <a:solidFill>
                            <a:srgbClr val="FFFFFF"/>
                          </a:solidFill>
                          <a:latin typeface="Calibri"/>
                        </a:rPr>
                        <a:t>Shape</a:t>
                      </a:r>
                    </a:p>
                  </a:txBody>
                  <a:tcPr anchor="ctr">
                    <a:solidFill>
                      <a:srgbClr val="0B3D5C"/>
                    </a:solidFill>
                  </a:tcPr>
                </a:tc>
                <a:tc>
                  <a:txBody>
                    <a:bodyPr/>
                    <a:lstStyle/>
                    <a:p>
                      <a:pPr algn="ctr"/>
                      <a:r>
                        <a:rPr sz="1250" b="1">
                          <a:solidFill>
                            <a:srgbClr val="FFFFFF"/>
                          </a:solidFill>
                          <a:latin typeface="Calibri"/>
                        </a:rPr>
                        <a:t>Contact</a:t>
                      </a:r>
                    </a:p>
                  </a:txBody>
                  <a:tcPr anchor="ctr">
                    <a:solidFill>
                      <a:srgbClr val="0B3D5C"/>
                    </a:solidFill>
                  </a:tcPr>
                </a:tc>
                <a:tc>
                  <a:txBody>
                    <a:bodyPr/>
                    <a:lstStyle/>
                    <a:p>
                      <a:pPr algn="ctr"/>
                      <a:r>
                        <a:rPr sz="1250" b="1">
                          <a:solidFill>
                            <a:srgbClr val="FFFFFF"/>
                          </a:solidFill>
                          <a:latin typeface="Calibri"/>
                        </a:rPr>
                        <a:t>Speed</a:t>
                      </a:r>
                    </a:p>
                  </a:txBody>
                  <a:tcPr anchor="ctr">
                    <a:solidFill>
                      <a:srgbClr val="0B3D5C"/>
                    </a:solidFill>
                  </a:tcPr>
                </a:tc>
              </a:tr>
              <a:tr h="274320">
                <a:tc>
                  <a:txBody>
                    <a:bodyPr/>
                    <a:lstStyle/>
                    <a:p>
                      <a:pPr algn="ctr"/>
                      <a:r>
                        <a:rPr sz="1250" b="0">
                          <a:solidFill>
                            <a:srgbClr val="1F2937"/>
                          </a:solidFill>
                          <a:latin typeface="Calibri"/>
                        </a:rPr>
                        <a:t>0.3</a:t>
                      </a:r>
                    </a:p>
                  </a:txBody>
                  <a:tcPr anchor="ctr">
                    <a:solidFill>
                      <a:srgbClr val="E8F3F1"/>
                    </a:solidFill>
                  </a:tcPr>
                </a:tc>
                <a:tc>
                  <a:txBody>
                    <a:bodyPr/>
                    <a:lstStyle/>
                    <a:p>
                      <a:pPr algn="ctr"/>
                      <a:r>
                        <a:rPr sz="1250" b="0">
                          <a:solidFill>
                            <a:srgbClr val="1F2937"/>
                          </a:solidFill>
                          <a:latin typeface="Calibri"/>
                        </a:rPr>
                        <a:t>cap</a:t>
                      </a:r>
                    </a:p>
                  </a:txBody>
                  <a:tcPr anchor="ctr">
                    <a:solidFill>
                      <a:srgbClr val="E8F3F1"/>
                    </a:solidFill>
                  </a:tcPr>
                </a:tc>
                <a:tc>
                  <a:txBody>
                    <a:bodyPr/>
                    <a:lstStyle/>
                    <a:p>
                      <a:pPr algn="ctr"/>
                      <a:r>
                        <a:rPr sz="1250" b="0">
                          <a:solidFill>
                            <a:srgbClr val="1F2937"/>
                          </a:solidFill>
                          <a:latin typeface="Calibri"/>
                        </a:rPr>
                        <a:t>44.0</a:t>
                      </a:r>
                    </a:p>
                  </a:txBody>
                  <a:tcPr anchor="ctr">
                    <a:solidFill>
                      <a:srgbClr val="E8F3F1"/>
                    </a:solidFill>
                  </a:tcPr>
                </a:tc>
                <a:tc>
                  <a:txBody>
                    <a:bodyPr/>
                    <a:lstStyle/>
                    <a:p>
                      <a:pPr algn="ctr"/>
                      <a:r>
                        <a:rPr sz="1250" b="0">
                          <a:solidFill>
                            <a:srgbClr val="1F2937"/>
                          </a:solidFill>
                          <a:latin typeface="Calibri"/>
                        </a:rPr>
                        <a:t>0.050</a:t>
                      </a:r>
                    </a:p>
                  </a:txBody>
                  <a:tcPr anchor="ctr">
                    <a:solidFill>
                      <a:srgbClr val="E8F3F1"/>
                    </a:solidFill>
                  </a:tcPr>
                </a:tc>
              </a:tr>
              <a:tr h="274320">
                <a:tc>
                  <a:txBody>
                    <a:bodyPr/>
                    <a:lstStyle/>
                    <a:p>
                      <a:pPr algn="ctr"/>
                      <a:r>
                        <a:rPr sz="1250" b="0">
                          <a:solidFill>
                            <a:srgbClr val="1F2937"/>
                          </a:solidFill>
                          <a:latin typeface="Calibri"/>
                        </a:rPr>
                        <a:t>2.0</a:t>
                      </a:r>
                    </a:p>
                  </a:txBody>
                  <a:tcPr anchor="ctr">
                    <a:solidFill>
                      <a:srgbClr val="FFFFFF"/>
                    </a:solidFill>
                  </a:tcPr>
                </a:tc>
                <a:tc>
                  <a:txBody>
                    <a:bodyPr/>
                    <a:lstStyle/>
                    <a:p>
                      <a:pPr algn="ctr"/>
                      <a:r>
                        <a:rPr sz="1250" b="0">
                          <a:solidFill>
                            <a:srgbClr val="1F2937"/>
                          </a:solidFill>
                          <a:latin typeface="Calibri"/>
                        </a:rPr>
                        <a:t>protrusion</a:t>
                      </a:r>
                    </a:p>
                  </a:txBody>
                  <a:tcPr anchor="ctr">
                    <a:solidFill>
                      <a:srgbClr val="FFFFFF"/>
                    </a:solidFill>
                  </a:tcPr>
                </a:tc>
                <a:tc>
                  <a:txBody>
                    <a:bodyPr/>
                    <a:lstStyle/>
                    <a:p>
                      <a:pPr algn="ctr"/>
                      <a:r>
                        <a:rPr sz="1250" b="0">
                          <a:solidFill>
                            <a:srgbClr val="1F2937"/>
                          </a:solidFill>
                          <a:latin typeface="Calibri"/>
                        </a:rPr>
                        <a:t>63.0</a:t>
                      </a:r>
                    </a:p>
                  </a:txBody>
                  <a:tcPr anchor="ctr">
                    <a:solidFill>
                      <a:srgbClr val="FFFFFF"/>
                    </a:solidFill>
                  </a:tcPr>
                </a:tc>
                <a:tc>
                  <a:txBody>
                    <a:bodyPr/>
                    <a:lstStyle/>
                    <a:p>
                      <a:pPr algn="ctr"/>
                      <a:r>
                        <a:rPr sz="1250" b="0">
                          <a:solidFill>
                            <a:srgbClr val="1F2937"/>
                          </a:solidFill>
                          <a:latin typeface="Calibri"/>
                        </a:rPr>
                        <a:t>0.432</a:t>
                      </a:r>
                    </a:p>
                  </a:txBody>
                  <a:tcPr anchor="ctr">
                    <a:solidFill>
                      <a:srgbClr val="FFFFFF"/>
                    </a:solidFill>
                  </a:tcPr>
                </a:tc>
              </a:tr>
            </a:tbl>
          </a:graphicData>
        </a:graphic>
      </p:graphicFrame>
      <p:sp>
        <p:nvSpPr>
          <p:cNvPr id="15" name="Rounded Rectangle 14"/>
          <p:cNvSpPr/>
          <p:nvPr/>
        </p:nvSpPr>
        <p:spPr>
          <a:xfrm>
            <a:off x="9692640" y="3337560"/>
            <a:ext cx="2194560" cy="82296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3337560"/>
            <a:ext cx="2194560" cy="822960"/>
          </a:xfrm>
          <a:prstGeom prst="rect">
            <a:avLst/>
          </a:prstGeom>
          <a:noFill/>
        </p:spPr>
        <p:txBody>
          <a:bodyPr wrap="square" lIns="54864" rIns="54864" tIns="27432" bIns="18288" anchor="ctr">
            <a:spAutoFit/>
          </a:bodyPr>
          <a:lstStyle/>
          <a:p>
            <a:pPr algn="ctr">
              <a:spcBef>
                <a:spcPts val="0"/>
              </a:spcBef>
              <a:spcAft>
                <a:spcPts val="300"/>
              </a:spcAft>
            </a:pPr>
            <a:r>
              <a:rPr sz="1700" b="0" i="0">
                <a:solidFill>
                  <a:srgbClr val="0B3D5C"/>
                </a:solidFill>
                <a:latin typeface="Cambria Math"/>
              </a:rPr>
              <a:t>w</a:t>
            </a:r>
            <a:r>
              <a:rPr sz="1700" b="0" i="0" baseline="-25000">
                <a:solidFill>
                  <a:srgbClr val="0B3D5C"/>
                </a:solidFill>
                <a:latin typeface="Cambria Math"/>
              </a:rPr>
              <a:t>0</a:t>
            </a:r>
            <a:r>
              <a:rPr sz="1700" b="0" i="0">
                <a:solidFill>
                  <a:srgbClr val="0B3D5C"/>
                </a:solidFill>
                <a:latin typeface="Cambria Math"/>
              </a:rPr>
              <a:t>*</a:t>
            </a:r>
            <a:r>
              <a:rPr sz="1700" b="0" i="0">
                <a:solidFill>
                  <a:srgbClr val="0B3D5C"/>
                </a:solidFill>
                <a:latin typeface="Cambria Math"/>
              </a:rPr>
              <a:t> ≈ 0.8</a:t>
            </a:r>
          </a:p>
          <a:p>
            <a:pPr algn="ctr">
              <a:spcBef>
                <a:spcPts val="0"/>
              </a:spcBef>
              <a:spcAft>
                <a:spcPts val="300"/>
              </a:spcAft>
            </a:pPr>
            <a:r>
              <a:rPr sz="1700" b="0" i="0">
                <a:solidFill>
                  <a:srgbClr val="0B3D5C"/>
                </a:solidFill>
                <a:latin typeface="Cambria Math"/>
              </a:rPr>
              <a:t>Mε</a:t>
            </a:r>
            <a:r>
              <a:rPr sz="1700" b="0" i="0" baseline="30000">
                <a:solidFill>
                  <a:srgbClr val="0B3D5C"/>
                </a:solidFill>
                <a:latin typeface="Cambria Math"/>
              </a:rPr>
              <a:t>2</a:t>
            </a:r>
            <a:r>
              <a:rPr sz="1300" b="0" i="0">
                <a:solidFill>
                  <a:srgbClr val="0B3D5C"/>
                </a:solidFill>
                <a:latin typeface="Cambria Math"/>
              </a:rPr>
              <a:t>/λ ≈ 0.75</a:t>
            </a:r>
          </a:p>
        </p:txBody>
      </p:sp>
      <p:pic>
        <p:nvPicPr>
          <p:cNvPr id="17" name="Picture 16" descr="fig_v2_transition.png"/>
          <p:cNvPicPr>
            <a:picLocks noChangeAspect="1"/>
          </p:cNvPicPr>
          <p:nvPr/>
        </p:nvPicPr>
        <p:blipFill>
          <a:blip r:embed="rId3"/>
          <a:stretch>
            <a:fillRect/>
          </a:stretch>
        </p:blipFill>
        <p:spPr>
          <a:xfrm>
            <a:off x="5323472" y="4526280"/>
            <a:ext cx="5675094" cy="1645920"/>
          </a:xfrm>
          <a:prstGeom prst="rect">
            <a:avLst/>
          </a:prstGeom>
        </p:spPr>
      </p:pic>
      <p:sp>
        <p:nvSpPr>
          <p:cNvPr id="18" name="TextBox 17"/>
          <p:cNvSpPr txBox="1"/>
          <p:nvPr/>
        </p:nvSpPr>
        <p:spPr>
          <a:xfrm>
            <a:off x="4434840" y="6236208"/>
            <a:ext cx="7452360" cy="274320"/>
          </a:xfrm>
          <a:prstGeom prst="rect">
            <a:avLst/>
          </a:prstGeom>
          <a:noFill/>
        </p:spPr>
        <p:txBody>
          <a:bodyPr wrap="square" lIns="54864" rIns="54864" tIns="27432" bIns="18288">
            <a:spAutoFit/>
          </a:bodyPr>
          <a:lstStyle/>
          <a:p>
            <a:pPr algn="ctr">
              <a:spcBef>
                <a:spcPts val="0"/>
              </a:spcBef>
              <a:spcAft>
                <a:spcPts val="0"/>
              </a:spcAft>
            </a:pPr>
            <a:r>
              <a:rPr sz="1250" b="0" i="0">
                <a:solidFill>
                  <a:srgbClr val="4B5563"/>
                </a:solidFill>
                <a:latin typeface="Calibri"/>
              </a:rPr>
              <a:t>Volume error  10⁻¹⁶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Full Stokes model: anchoring controls shape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5 / 8</a:t>
            </a:r>
          </a:p>
        </p:txBody>
      </p:sp>
      <p:sp>
        <p:nvSpPr>
          <p:cNvPr id="9" name="Rounded Rectangle 8"/>
          <p:cNvSpPr/>
          <p:nvPr/>
        </p:nvSpPr>
        <p:spPr>
          <a:xfrm>
            <a:off x="292608" y="914400"/>
            <a:ext cx="3246120" cy="150876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987552"/>
            <a:ext cx="2990088" cy="1371600"/>
          </a:xfrm>
          <a:prstGeom prst="rect">
            <a:avLst/>
          </a:prstGeom>
          <a:noFill/>
        </p:spPr>
        <p:txBody>
          <a:bodyPr wrap="square" lIns="54864" rIns="54864" tIns="27432" bIns="18288">
            <a:spAutoFit/>
          </a:bodyPr>
          <a:lstStyle/>
          <a:p>
            <a:pPr algn="l">
              <a:spcBef>
                <a:spcPts val="0"/>
              </a:spcBef>
              <a:spcAft>
                <a:spcPts val="400"/>
              </a:spcAft>
            </a:pPr>
            <a:r>
              <a:rPr sz="1500" b="1" i="0">
                <a:solidFill>
                  <a:srgbClr val="0B3D5C"/>
                </a:solidFill>
                <a:latin typeface="Calibri"/>
              </a:rPr>
              <a:t>Passive check</a:t>
            </a:r>
          </a:p>
          <a:p>
            <a:pPr>
              <a:spcAft>
                <a:spcPts val="200"/>
              </a:spcAft>
            </a:pPr>
            <a:r>
              <a:rPr sz="1250" b="0" i="0">
                <a:solidFill>
                  <a:srgbClr val="1F2937"/>
                </a:solidFill>
                <a:latin typeface="Calibri"/>
              </a:rPr>
              <a:t>•  Ellipse → circle</a:t>
            </a:r>
          </a:p>
          <a:p>
            <a:pPr>
              <a:spcAft>
                <a:spcPts val="200"/>
              </a:spcAft>
            </a:pPr>
            <a:r>
              <a:rPr sz="1250" b="0" i="0">
                <a:solidFill>
                  <a:srgbClr val="1F2937"/>
                </a:solidFill>
                <a:latin typeface="Calibri"/>
              </a:rPr>
              <a:t>•  Energy decreases</a:t>
            </a:r>
          </a:p>
          <a:p>
            <a:pPr>
              <a:spcAft>
                <a:spcPts val="200"/>
              </a:spcAft>
            </a:pPr>
            <a:r>
              <a:rPr sz="1250" b="0" i="0">
                <a:solidFill>
                  <a:srgbClr val="1F2937"/>
                </a:solidFill>
                <a:latin typeface="Calibri"/>
              </a:rPr>
              <a:t>•  Flow vanishes</a:t>
            </a:r>
          </a:p>
          <a:p>
            <a:pPr>
              <a:spcAft>
                <a:spcPts val="0"/>
              </a:spcAft>
            </a:pPr>
            <a:r>
              <a:rPr sz="1250" b="0" i="0">
                <a:solidFill>
                  <a:srgbClr val="1F2937"/>
                </a:solidFill>
                <a:latin typeface="Calibri"/>
              </a:rPr>
              <a:t>•  Volume error = 0</a:t>
            </a:r>
          </a:p>
        </p:txBody>
      </p:sp>
      <p:pic>
        <p:nvPicPr>
          <p:cNvPr id="11" name="Picture 10" descr="fig_v3_morph.png"/>
          <p:cNvPicPr>
            <a:picLocks noChangeAspect="1"/>
          </p:cNvPicPr>
          <p:nvPr/>
        </p:nvPicPr>
        <p:blipFill>
          <a:blip r:embed="rId2"/>
          <a:stretch>
            <a:fillRect/>
          </a:stretch>
        </p:blipFill>
        <p:spPr>
          <a:xfrm>
            <a:off x="5783818" y="914400"/>
            <a:ext cx="3977163" cy="2880360"/>
          </a:xfrm>
          <a:prstGeom prst="rect">
            <a:avLst/>
          </a:prstGeom>
        </p:spPr>
      </p:pic>
      <p:sp>
        <p:nvSpPr>
          <p:cNvPr id="12" name="TextBox 11"/>
          <p:cNvSpPr txBox="1"/>
          <p:nvPr/>
        </p:nvSpPr>
        <p:spPr>
          <a:xfrm>
            <a:off x="3657600" y="3822191"/>
            <a:ext cx="8229600" cy="237744"/>
          </a:xfrm>
          <a:prstGeom prst="rect">
            <a:avLst/>
          </a:prstGeom>
          <a:noFill/>
        </p:spPr>
        <p:txBody>
          <a:bodyPr wrap="square" lIns="54864" rIns="54864" tIns="27432" bIns="18288">
            <a:spAutoFit/>
          </a:bodyPr>
          <a:lstStyle/>
          <a:p>
            <a:pPr algn="ctr">
              <a:spcBef>
                <a:spcPts val="0"/>
              </a:spcBef>
              <a:spcAft>
                <a:spcPts val="0"/>
              </a:spcAft>
            </a:pPr>
            <a:r>
              <a:rPr sz="1250" b="1" i="0">
                <a:solidFill>
                  <a:srgbClr val="4B5563"/>
                </a:solidFill>
                <a:latin typeface="Calibri"/>
              </a:rPr>
              <a:t>Two active morphologies at  w₀ = 1</a:t>
            </a:r>
          </a:p>
        </p:txBody>
      </p:sp>
      <p:sp>
        <p:nvSpPr>
          <p:cNvPr id="13" name="Rounded Rectangle 12"/>
          <p:cNvSpPr/>
          <p:nvPr/>
        </p:nvSpPr>
        <p:spPr>
          <a:xfrm>
            <a:off x="292608" y="2542032"/>
            <a:ext cx="3246120" cy="1481328"/>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 y="2596896"/>
            <a:ext cx="2990088" cy="731520"/>
          </a:xfrm>
          <a:prstGeom prst="rect">
            <a:avLst/>
          </a:prstGeom>
          <a:noFill/>
        </p:spPr>
        <p:txBody>
          <a:bodyPr wrap="square" lIns="54864" rIns="54864" tIns="27432" bIns="18288">
            <a:spAutoFit/>
          </a:bodyPr>
          <a:lstStyle/>
          <a:p>
            <a:pPr algn="l">
              <a:spcBef>
                <a:spcPts val="0"/>
              </a:spcBef>
              <a:spcAft>
                <a:spcPts val="200"/>
              </a:spcAft>
            </a:pPr>
            <a:r>
              <a:rPr sz="1300" b="1" i="0">
                <a:solidFill>
                  <a:srgbClr val="1A7A6D"/>
                </a:solidFill>
                <a:latin typeface="Calibri"/>
              </a:rPr>
              <a:t>Strong anchoring</a:t>
            </a:r>
          </a:p>
          <a:p>
            <a:pPr algn="l">
              <a:spcBef>
                <a:spcPts val="0"/>
              </a:spcBef>
              <a:spcAft>
                <a:spcPts val="200"/>
              </a:spcAft>
            </a:pPr>
            <a:r>
              <a:rPr sz="1200" b="0" i="0">
                <a:solidFill>
                  <a:srgbClr val="1F2937"/>
                </a:solidFill>
                <a:latin typeface="Calibri"/>
              </a:rPr>
              <a:t>Radial actin aster,  |⟨P⟩| = 0,  speed = 0</a:t>
            </a:r>
          </a:p>
          <a:p>
            <a:pPr algn="l">
              <a:spcBef>
                <a:spcPts val="0"/>
              </a:spcBef>
              <a:spcAft>
                <a:spcPts val="0"/>
              </a:spcAft>
            </a:pPr>
            <a:r>
              <a:rPr sz="1100" b="0" i="0">
                <a:solidFill>
                  <a:srgbClr val="4B5563"/>
                </a:solidFill>
                <a:latin typeface="Calibri"/>
              </a:rPr>
              <a:t>Symmetry must break for motility</a:t>
            </a:r>
          </a:p>
        </p:txBody>
      </p:sp>
      <p:sp>
        <p:nvSpPr>
          <p:cNvPr id="15" name="Rounded Rectangle 14"/>
          <p:cNvSpPr/>
          <p:nvPr/>
        </p:nvSpPr>
        <p:spPr>
          <a:xfrm>
            <a:off x="292608" y="4133087"/>
            <a:ext cx="3246120" cy="118872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 y="4187952"/>
            <a:ext cx="2990088" cy="777240"/>
          </a:xfrm>
          <a:prstGeom prst="rect">
            <a:avLst/>
          </a:prstGeom>
          <a:noFill/>
        </p:spPr>
        <p:txBody>
          <a:bodyPr wrap="square" lIns="54864" rIns="54864" tIns="27432" bIns="18288">
            <a:spAutoFit/>
          </a:bodyPr>
          <a:lstStyle/>
          <a:p>
            <a:pPr algn="l">
              <a:spcBef>
                <a:spcPts val="0"/>
              </a:spcBef>
              <a:spcAft>
                <a:spcPts val="200"/>
              </a:spcAft>
            </a:pPr>
            <a:r>
              <a:rPr sz="1300" b="1" i="0">
                <a:solidFill>
                  <a:srgbClr val="1A7A6D"/>
                </a:solidFill>
                <a:latin typeface="Calibri"/>
              </a:rPr>
              <a:t>Moderate anchoring</a:t>
            </a:r>
          </a:p>
          <a:p>
            <a:pPr algn="l">
              <a:spcBef>
                <a:spcPts val="0"/>
              </a:spcBef>
              <a:spcAft>
                <a:spcPts val="200"/>
              </a:spcAft>
            </a:pPr>
            <a:r>
              <a:rPr sz="1200" b="0" i="0">
                <a:solidFill>
                  <a:srgbClr val="1F2937"/>
                </a:solidFill>
                <a:latin typeface="Calibri"/>
              </a:rPr>
              <a:t>Lamellipodial fan</a:t>
            </a:r>
          </a:p>
          <a:p>
            <a:pPr algn="l">
              <a:spcBef>
                <a:spcPts val="0"/>
              </a:spcBef>
              <a:spcAft>
                <a:spcPts val="0"/>
              </a:spcAft>
            </a:pPr>
            <a:r>
              <a:rPr sz="1200" b="0" i="0">
                <a:solidFill>
                  <a:srgbClr val="1F2937"/>
                </a:solidFill>
                <a:latin typeface="Calibri"/>
              </a:rPr>
              <a:t>Aspect ratio = 2.91,  speed = 0.843 ≈ w₀</a:t>
            </a:r>
          </a:p>
        </p:txBody>
      </p:sp>
      <p:sp>
        <p:nvSpPr>
          <p:cNvPr id="17" name="Rounded Rectangle 16"/>
          <p:cNvSpPr/>
          <p:nvPr/>
        </p:nvSpPr>
        <p:spPr>
          <a:xfrm>
            <a:off x="3977639" y="4041648"/>
            <a:ext cx="4297680" cy="1481328"/>
          </a:xfrm>
          <a:prstGeom prst="roundRect">
            <a:avLst>
              <a:gd name="adj" fmla="val 10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77639" y="4096512"/>
            <a:ext cx="4297680" cy="256032"/>
          </a:xfrm>
          <a:prstGeom prst="rect">
            <a:avLst/>
          </a:prstGeom>
          <a:noFill/>
        </p:spPr>
        <p:txBody>
          <a:bodyPr wrap="square" lIns="54864" rIns="54864" tIns="27432" bIns="18288">
            <a:spAutoFit/>
          </a:bodyPr>
          <a:lstStyle/>
          <a:p>
            <a:pPr algn="ctr">
              <a:spcBef>
                <a:spcPts val="0"/>
              </a:spcBef>
              <a:spcAft>
                <a:spcPts val="0"/>
              </a:spcAft>
            </a:pPr>
            <a:r>
              <a:rPr sz="1200" b="1" i="0">
                <a:solidFill>
                  <a:srgbClr val="0B3D5C"/>
                </a:solidFill>
                <a:latin typeface="Calibri"/>
              </a:rPr>
              <a:t>aspect ratio</a:t>
            </a:r>
          </a:p>
        </p:txBody>
      </p:sp>
      <p:graphicFrame>
        <p:nvGraphicFramePr>
          <p:cNvPr id="19" name="Table 18"/>
          <p:cNvGraphicFramePr>
            <a:graphicFrameLocks noGrp="1"/>
          </p:cNvGraphicFramePr>
          <p:nvPr/>
        </p:nvGraphicFramePr>
        <p:xfrm>
          <a:off x="4114799" y="4370832"/>
          <a:ext cx="4023360" cy="1051560"/>
        </p:xfrm>
        <a:graphic>
          <a:graphicData uri="http://schemas.openxmlformats.org/drawingml/2006/table">
            <a:tbl>
              <a:tblPr firstRow="1" bandRow="1">
                <a:tableStyleId>{5C22544A-7EE6-4342-B048-85BDC9FD1C3A}</a:tableStyleId>
              </a:tblPr>
              <a:tblGrid>
                <a:gridCol w="1341120"/>
                <a:gridCol w="1341120"/>
                <a:gridCol w="1341120"/>
              </a:tblGrid>
              <a:tr h="350520">
                <a:tc>
                  <a:txBody>
                    <a:bodyPr/>
                    <a:lstStyle/>
                    <a:p>
                      <a:pPr algn="ctr"/>
                    </a:p>
                  </a:txBody>
                  <a:tcPr anchor="ctr">
                    <a:solidFill>
                      <a:srgbClr val="0B3D5C"/>
                    </a:solidFill>
                  </a:tcPr>
                </a:tc>
                <a:tc>
                  <a:txBody>
                    <a:bodyPr/>
                    <a:lstStyle/>
                    <a:p>
                      <a:pPr algn="ctr"/>
                      <a:r>
                        <a:rPr sz="1400" b="1">
                          <a:solidFill>
                            <a:srgbClr val="FFFFFF"/>
                          </a:solidFill>
                          <a:latin typeface="Calibri"/>
                        </a:rPr>
                        <a:t>flow off</a:t>
                      </a:r>
                    </a:p>
                  </a:txBody>
                  <a:tcPr anchor="ctr">
                    <a:solidFill>
                      <a:srgbClr val="0B3D5C"/>
                    </a:solidFill>
                  </a:tcPr>
                </a:tc>
                <a:tc>
                  <a:txBody>
                    <a:bodyPr/>
                    <a:lstStyle/>
                    <a:p>
                      <a:pPr algn="ctr"/>
                      <a:r>
                        <a:rPr sz="1400" b="1">
                          <a:solidFill>
                            <a:srgbClr val="FFFFFF"/>
                          </a:solidFill>
                          <a:latin typeface="Calibri"/>
                        </a:rPr>
                        <a:t>flow on</a:t>
                      </a:r>
                    </a:p>
                  </a:txBody>
                  <a:tcPr anchor="ctr">
                    <a:solidFill>
                      <a:srgbClr val="0B3D5C"/>
                    </a:solidFill>
                  </a:tcPr>
                </a:tc>
              </a:tr>
              <a:tr h="350520">
                <a:tc>
                  <a:txBody>
                    <a:bodyPr/>
                    <a:lstStyle/>
                    <a:p>
                      <a:pPr algn="ctr"/>
                      <a:r>
                        <a:rPr sz="1400" b="1">
                          <a:solidFill>
                            <a:srgbClr val="FFFFFF"/>
                          </a:solidFill>
                          <a:latin typeface="Calibri"/>
                        </a:rPr>
                        <a:t>β = 0</a:t>
                      </a:r>
                    </a:p>
                  </a:txBody>
                  <a:tcPr anchor="ctr">
                    <a:solidFill>
                      <a:srgbClr val="0B3D5C"/>
                    </a:solidFill>
                  </a:tcPr>
                </a:tc>
                <a:tc>
                  <a:txBody>
                    <a:bodyPr/>
                    <a:lstStyle/>
                    <a:p>
                      <a:pPr algn="ctr"/>
                      <a:r>
                        <a:rPr sz="1400" b="1">
                          <a:solidFill>
                            <a:srgbClr val="1F2937"/>
                          </a:solidFill>
                          <a:latin typeface="Calibri"/>
                        </a:rPr>
                        <a:t>1.07</a:t>
                      </a:r>
                    </a:p>
                  </a:txBody>
                  <a:tcPr anchor="ctr">
                    <a:solidFill>
                      <a:srgbClr val="E8F3F1"/>
                    </a:solidFill>
                  </a:tcPr>
                </a:tc>
                <a:tc>
                  <a:txBody>
                    <a:bodyPr/>
                    <a:lstStyle/>
                    <a:p>
                      <a:pPr algn="ctr"/>
                      <a:r>
                        <a:rPr sz="1400" b="1">
                          <a:solidFill>
                            <a:srgbClr val="1F2937"/>
                          </a:solidFill>
                          <a:latin typeface="Calibri"/>
                        </a:rPr>
                        <a:t>1.61</a:t>
                      </a:r>
                    </a:p>
                  </a:txBody>
                  <a:tcPr anchor="ctr">
                    <a:solidFill>
                      <a:srgbClr val="E8F3F1"/>
                    </a:solidFill>
                  </a:tcPr>
                </a:tc>
              </a:tr>
              <a:tr h="350520">
                <a:tc>
                  <a:txBody>
                    <a:bodyPr/>
                    <a:lstStyle/>
                    <a:p>
                      <a:pPr algn="ctr"/>
                      <a:r>
                        <a:rPr sz="1400" b="1">
                          <a:solidFill>
                            <a:srgbClr val="FFFFFF"/>
                          </a:solidFill>
                          <a:latin typeface="Calibri"/>
                        </a:rPr>
                        <a:t>β = 0.25</a:t>
                      </a:r>
                    </a:p>
                  </a:txBody>
                  <a:tcPr anchor="ctr">
                    <a:solidFill>
                      <a:srgbClr val="0B3D5C"/>
                    </a:solidFill>
                  </a:tcPr>
                </a:tc>
                <a:tc>
                  <a:txBody>
                    <a:bodyPr/>
                    <a:lstStyle/>
                    <a:p>
                      <a:pPr algn="ctr"/>
                      <a:r>
                        <a:rPr sz="1400" b="1">
                          <a:solidFill>
                            <a:srgbClr val="1F2937"/>
                          </a:solidFill>
                          <a:latin typeface="Calibri"/>
                        </a:rPr>
                        <a:t>2.85</a:t>
                      </a:r>
                    </a:p>
                  </a:txBody>
                  <a:tcPr anchor="ctr">
                    <a:solidFill>
                      <a:srgbClr val="E8F3F1"/>
                    </a:solidFill>
                  </a:tcPr>
                </a:tc>
                <a:tc>
                  <a:txBody>
                    <a:bodyPr/>
                    <a:lstStyle/>
                    <a:p>
                      <a:pPr algn="ctr"/>
                      <a:r>
                        <a:rPr sz="1400" b="1">
                          <a:solidFill>
                            <a:srgbClr val="1F2937"/>
                          </a:solidFill>
                          <a:latin typeface="Calibri"/>
                        </a:rPr>
                        <a:t>2.92</a:t>
                      </a:r>
                    </a:p>
                  </a:txBody>
                  <a:tcPr anchor="ctr">
                    <a:solidFill>
                      <a:srgbClr val="B8860B"/>
                    </a:solidFill>
                  </a:tcPr>
                </a:tc>
              </a:tr>
            </a:tbl>
          </a:graphicData>
        </a:graphic>
      </p:graphicFrame>
      <p:sp>
        <p:nvSpPr>
          <p:cNvPr id="20" name="TextBox 19"/>
          <p:cNvSpPr txBox="1"/>
          <p:nvPr/>
        </p:nvSpPr>
        <p:spPr>
          <a:xfrm>
            <a:off x="8412480" y="4041648"/>
            <a:ext cx="3474720" cy="1481328"/>
          </a:xfrm>
          <a:prstGeom prst="rect">
            <a:avLst/>
          </a:prstGeom>
          <a:noFill/>
        </p:spPr>
        <p:txBody>
          <a:bodyPr wrap="square" lIns="54864" rIns="54864" tIns="27432" bIns="18288" anchor="ctr">
            <a:spAutoFit/>
          </a:bodyPr>
          <a:lstStyle/>
          <a:p>
            <a:pPr algn="l">
              <a:spcBef>
                <a:spcPts val="0"/>
              </a:spcBef>
              <a:spcAft>
                <a:spcPts val="0"/>
              </a:spcAft>
            </a:pPr>
            <a:r>
              <a:rPr sz="1300" b="0" i="0">
                <a:solidFill>
                  <a:srgbClr val="1F2937"/>
                </a:solidFill>
                <a:latin typeface="Calibri"/>
              </a:rPr>
              <a:t>Flow added on top of anchoring changes aspect ratio by only ~2%.</a:t>
            </a:r>
          </a:p>
        </p:txBody>
      </p:sp>
      <p:pic>
        <p:nvPicPr>
          <p:cNvPr id="21" name="Picture 20" descr="fig_v3_decomp.png"/>
          <p:cNvPicPr>
            <a:picLocks noChangeAspect="1"/>
          </p:cNvPicPr>
          <p:nvPr/>
        </p:nvPicPr>
        <p:blipFill>
          <a:blip r:embed="rId3"/>
          <a:stretch>
            <a:fillRect/>
          </a:stretch>
        </p:blipFill>
        <p:spPr>
          <a:xfrm>
            <a:off x="750784" y="5614416"/>
            <a:ext cx="2329767" cy="777240"/>
          </a:xfrm>
          <a:prstGeom prst="rect">
            <a:avLst/>
          </a:prstGeom>
        </p:spPr>
      </p:pic>
      <p:sp>
        <p:nvSpPr>
          <p:cNvPr id="22" name="TextBox 21"/>
          <p:cNvSpPr txBox="1"/>
          <p:nvPr/>
        </p:nvSpPr>
        <p:spPr>
          <a:xfrm>
            <a:off x="3749039" y="5614416"/>
            <a:ext cx="8138160" cy="822960"/>
          </a:xfrm>
          <a:prstGeom prst="rect">
            <a:avLst/>
          </a:prstGeom>
          <a:noFill/>
        </p:spPr>
        <p:txBody>
          <a:bodyPr wrap="square" lIns="54864" rIns="54864" tIns="27432" bIns="18288">
            <a:spAutoFit/>
          </a:bodyPr>
          <a:lstStyle/>
          <a:p>
            <a:pPr algn="l">
              <a:spcBef>
                <a:spcPts val="0"/>
              </a:spcBef>
              <a:spcAft>
                <a:spcPts val="400"/>
              </a:spcAft>
            </a:pPr>
            <a:r>
              <a:rPr sz="1250" b="1" i="0">
                <a:solidFill>
                  <a:srgbClr val="1F2937"/>
                </a:solidFill>
                <a:latin typeface="Calibri"/>
              </a:rPr>
              <a:t>No planar pseudopod / phagocytic cup: these require 3D structure.</a:t>
            </a:r>
          </a:p>
          <a:p>
            <a:pPr algn="l">
              <a:spcBef>
                <a:spcPts val="0"/>
              </a:spcBef>
              <a:spcAft>
                <a:spcPts val="0"/>
              </a:spcAft>
            </a:pPr>
            <a:r>
              <a:rPr sz="1150" b="0" i="0">
                <a:solidFill>
                  <a:srgbClr val="4B5563"/>
                </a:solidFill>
                <a:latin typeface="Calibri"/>
              </a:rPr>
              <a:t>Constant ξ cannot reproduce the biphasic adhesion–speed mechanism of Leoni &amp; Sens.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Version 4 — crawling without a Stokes solve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6 / 8</a:t>
            </a:r>
          </a:p>
        </p:txBody>
      </p:sp>
      <p:sp>
        <p:nvSpPr>
          <p:cNvPr id="9" name="Rounded Rectangle 8"/>
          <p:cNvSpPr/>
          <p:nvPr/>
        </p:nvSpPr>
        <p:spPr>
          <a:xfrm>
            <a:off x="292608" y="914400"/>
            <a:ext cx="4160520" cy="50292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914400"/>
            <a:ext cx="4160520" cy="502920"/>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η / (ξ R</a:t>
            </a:r>
            <a:r>
              <a:rPr sz="1800" b="0" i="0" baseline="30000">
                <a:solidFill>
                  <a:srgbClr val="0B3D5C"/>
                </a:solidFill>
                <a:latin typeface="Cambria Math"/>
              </a:rPr>
              <a:t>2</a:t>
            </a:r>
            <a:r>
              <a:rPr sz="1800" b="0" i="0">
                <a:solidFill>
                  <a:srgbClr val="0B3D5C"/>
                </a:solidFill>
                <a:latin typeface="Cambria Math"/>
              </a:rPr>
              <a:t>)  ≈  0.006</a:t>
            </a:r>
          </a:p>
        </p:txBody>
      </p:sp>
      <p:sp>
        <p:nvSpPr>
          <p:cNvPr id="11" name="TextBox 10"/>
          <p:cNvSpPr txBox="1"/>
          <p:nvPr/>
        </p:nvSpPr>
        <p:spPr>
          <a:xfrm>
            <a:off x="292608" y="1435608"/>
            <a:ext cx="4160520" cy="274320"/>
          </a:xfrm>
          <a:prstGeom prst="rect">
            <a:avLst/>
          </a:prstGeom>
          <a:noFill/>
        </p:spPr>
        <p:txBody>
          <a:bodyPr wrap="square" lIns="54864" rIns="54864" tIns="27432" bIns="18288">
            <a:spAutoFit/>
          </a:bodyPr>
          <a:lstStyle/>
          <a:p>
            <a:pPr algn="ctr">
              <a:spcBef>
                <a:spcPts val="0"/>
              </a:spcBef>
              <a:spcAft>
                <a:spcPts val="0"/>
              </a:spcAft>
            </a:pPr>
            <a:r>
              <a:rPr sz="1150" b="0" i="0">
                <a:solidFill>
                  <a:srgbClr val="4B5563"/>
                </a:solidFill>
                <a:latin typeface="Calibri"/>
              </a:rPr>
              <a:t>friction dominates viscosity at the cell scale</a:t>
            </a:r>
          </a:p>
        </p:txBody>
      </p:sp>
      <p:sp>
        <p:nvSpPr>
          <p:cNvPr id="12" name="Rounded Rectangle 11"/>
          <p:cNvSpPr/>
          <p:nvPr/>
        </p:nvSpPr>
        <p:spPr>
          <a:xfrm>
            <a:off x="292608" y="1792224"/>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792224"/>
            <a:ext cx="4160520" cy="457200"/>
          </a:xfrm>
          <a:prstGeom prst="rect">
            <a:avLst/>
          </a:prstGeom>
          <a:noFill/>
        </p:spPr>
        <p:txBody>
          <a:bodyPr wrap="square" lIns="54864" rIns="54864" tIns="27432" bIns="18288" anchor="ctr">
            <a:spAutoFit/>
          </a:bodyPr>
          <a:lstStyle/>
          <a:p>
            <a:pPr algn="ctr">
              <a:spcBef>
                <a:spcPts val="0"/>
              </a:spcBef>
              <a:spcAft>
                <a:spcPts val="300"/>
              </a:spcAft>
            </a:pPr>
            <a:r>
              <a:rPr sz="1350" b="0" i="0">
                <a:solidFill>
                  <a:srgbClr val="0B3D5C"/>
                </a:solidFill>
                <a:latin typeface="Cambria Math"/>
              </a:rPr>
              <a:t>0 = −∇p + η∇</a:t>
            </a:r>
            <a:r>
              <a:rPr sz="1350" b="0" i="0" baseline="30000">
                <a:solidFill>
                  <a:srgbClr val="0B3D5C"/>
                </a:solidFill>
                <a:latin typeface="Cambria Math"/>
              </a:rPr>
              <a:t>2</a:t>
            </a:r>
            <a:r>
              <a:rPr sz="1500" b="1" i="0">
                <a:solidFill>
                  <a:srgbClr val="0B3D5C"/>
                </a:solidFill>
                <a:latin typeface="Cambria Math"/>
              </a:rPr>
              <a:t>v</a:t>
            </a:r>
            <a:r>
              <a:rPr sz="1350" b="0" i="0">
                <a:solidFill>
                  <a:srgbClr val="0B3D5C"/>
                </a:solidFill>
                <a:latin typeface="Cambria Math"/>
              </a:rPr>
              <a:t> − ξ</a:t>
            </a:r>
            <a:r>
              <a:rPr sz="1500" b="1" i="0">
                <a:solidFill>
                  <a:srgbClr val="0B3D5C"/>
                </a:solidFill>
                <a:latin typeface="Cambria Math"/>
              </a:rPr>
              <a:t>v</a:t>
            </a:r>
            <a:r>
              <a:rPr sz="1500" b="1" i="1">
                <a:solidFill>
                  <a:srgbClr val="0B3D5C"/>
                </a:solidFill>
                <a:latin typeface="Cambria Math"/>
              </a:rPr>
              <a:t> + f</a:t>
            </a:r>
          </a:p>
        </p:txBody>
      </p:sp>
      <p:sp>
        <p:nvSpPr>
          <p:cNvPr id="14" name="TextBox 13"/>
          <p:cNvSpPr txBox="1"/>
          <p:nvPr/>
        </p:nvSpPr>
        <p:spPr>
          <a:xfrm>
            <a:off x="292608" y="2267712"/>
            <a:ext cx="4160520" cy="237744"/>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15" name="Rounded Rectangle 14"/>
          <p:cNvSpPr/>
          <p:nvPr/>
        </p:nvSpPr>
        <p:spPr>
          <a:xfrm>
            <a:off x="292608" y="2523744"/>
            <a:ext cx="4160520" cy="475488"/>
          </a:xfrm>
          <a:prstGeom prst="roundRect">
            <a:avLst>
              <a:gd name="adj" fmla="val 12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 y="2523744"/>
            <a:ext cx="4160520" cy="475488"/>
          </a:xfrm>
          <a:prstGeom prst="rect">
            <a:avLst/>
          </a:prstGeom>
          <a:noFill/>
        </p:spPr>
        <p:txBody>
          <a:bodyPr wrap="square" lIns="54864" rIns="54864" tIns="27432" bIns="18288" anchor="ctr">
            <a:spAutoFit/>
          </a:bodyPr>
          <a:lstStyle/>
          <a:p>
            <a:pPr algn="ctr">
              <a:spcBef>
                <a:spcPts val="0"/>
              </a:spcBef>
              <a:spcAft>
                <a:spcPts val="300"/>
              </a:spcAft>
            </a:pPr>
            <a:r>
              <a:rPr sz="2000" b="1" i="0">
                <a:solidFill>
                  <a:srgbClr val="0B3D5C"/>
                </a:solidFill>
                <a:latin typeface="Cambria Math"/>
              </a:rPr>
              <a:t>v</a:t>
            </a:r>
            <a:r>
              <a:rPr sz="2000" b="1" i="1">
                <a:solidFill>
                  <a:srgbClr val="0B3D5C"/>
                </a:solidFill>
                <a:latin typeface="Cambria Math"/>
              </a:rPr>
              <a:t>  =  f</a:t>
            </a:r>
            <a:r>
              <a:rPr sz="1800" b="0" i="0">
                <a:solidFill>
                  <a:srgbClr val="0B3D5C"/>
                </a:solidFill>
                <a:latin typeface="Cambria Math"/>
              </a:rPr>
              <a:t> / ξ</a:t>
            </a:r>
          </a:p>
        </p:txBody>
      </p:sp>
      <p:sp>
        <p:nvSpPr>
          <p:cNvPr id="17" name="TextBox 16"/>
          <p:cNvSpPr txBox="1"/>
          <p:nvPr/>
        </p:nvSpPr>
        <p:spPr>
          <a:xfrm>
            <a:off x="292608" y="3054096"/>
            <a:ext cx="4160520" cy="219456"/>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18" name="Rounded Rectangle 17"/>
          <p:cNvSpPr/>
          <p:nvPr/>
        </p:nvSpPr>
        <p:spPr>
          <a:xfrm>
            <a:off x="292608" y="3291840"/>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3291840"/>
            <a:ext cx="4160520" cy="457200"/>
          </a:xfrm>
          <a:prstGeom prst="rect">
            <a:avLst/>
          </a:prstGeom>
          <a:noFill/>
        </p:spPr>
        <p:txBody>
          <a:bodyPr wrap="square" lIns="54864" rIns="54864" tIns="27432" bIns="18288" anchor="ctr">
            <a:spAutoFit/>
          </a:bodyPr>
          <a:lstStyle/>
          <a:p>
            <a:pPr algn="ctr">
              <a:spcBef>
                <a:spcPts val="0"/>
              </a:spcBef>
              <a:spcAft>
                <a:spcPts val="300"/>
              </a:spcAft>
            </a:pPr>
            <a:r>
              <a:rPr sz="1400" b="0" i="0">
                <a:solidFill>
                  <a:srgbClr val="0B3D5C"/>
                </a:solidFill>
                <a:latin typeface="Cambria Math"/>
              </a:rPr>
              <a:t>f</a:t>
            </a:r>
            <a:r>
              <a:rPr sz="1400" b="0" i="0" baseline="-25000">
                <a:solidFill>
                  <a:srgbClr val="0B3D5C"/>
                </a:solidFill>
                <a:latin typeface="Cambria Math"/>
              </a:rPr>
              <a:t>act</a:t>
            </a:r>
            <a:r>
              <a:rPr sz="1400" b="0" i="0">
                <a:solidFill>
                  <a:srgbClr val="0B3D5C"/>
                </a:solidFill>
                <a:latin typeface="Cambria Math"/>
              </a:rPr>
              <a:t> = −ζ ∇·(φ</a:t>
            </a:r>
            <a:r>
              <a:rPr sz="1500" b="1" i="0">
                <a:solidFill>
                  <a:srgbClr val="0B3D5C"/>
                </a:solidFill>
                <a:latin typeface="Cambria Math"/>
              </a:rPr>
              <a:t>P</a:t>
            </a:r>
            <a:r>
              <a:rPr sz="1500" b="1" i="0">
                <a:solidFill>
                  <a:srgbClr val="0B3D5C"/>
                </a:solidFill>
                <a:latin typeface="Cambria Math"/>
              </a:rPr>
              <a:t>P</a:t>
            </a:r>
            <a:r>
              <a:rPr sz="1400" b="0" i="0">
                <a:solidFill>
                  <a:srgbClr val="0B3D5C"/>
                </a:solidFill>
                <a:latin typeface="Cambria Math"/>
              </a:rPr>
              <a:t>)</a:t>
            </a:r>
          </a:p>
        </p:txBody>
      </p:sp>
      <p:sp>
        <p:nvSpPr>
          <p:cNvPr id="20" name="TextBox 19"/>
          <p:cNvSpPr txBox="1"/>
          <p:nvPr/>
        </p:nvSpPr>
        <p:spPr>
          <a:xfrm>
            <a:off x="292608" y="3767328"/>
            <a:ext cx="4160520" cy="219456"/>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21" name="Rounded Rectangle 20"/>
          <p:cNvSpPr/>
          <p:nvPr/>
        </p:nvSpPr>
        <p:spPr>
          <a:xfrm>
            <a:off x="292608" y="4005072"/>
            <a:ext cx="4160520" cy="475488"/>
          </a:xfrm>
          <a:prstGeom prst="roundRect">
            <a:avLst>
              <a:gd name="adj" fmla="val 12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2608" y="4005072"/>
            <a:ext cx="4160520" cy="475488"/>
          </a:xfrm>
          <a:prstGeom prst="rect">
            <a:avLst/>
          </a:prstGeom>
          <a:noFill/>
        </p:spPr>
        <p:txBody>
          <a:bodyPr wrap="square" lIns="54864" rIns="54864" tIns="27432" bIns="18288" anchor="ctr">
            <a:spAutoFit/>
          </a:bodyPr>
          <a:lstStyle/>
          <a:p>
            <a:pPr algn="ctr">
              <a:spcBef>
                <a:spcPts val="0"/>
              </a:spcBef>
              <a:spcAft>
                <a:spcPts val="300"/>
              </a:spcAft>
            </a:pPr>
            <a:r>
              <a:rPr sz="1700" b="1" i="0">
                <a:solidFill>
                  <a:srgbClr val="0B3D5C"/>
                </a:solidFill>
                <a:latin typeface="Cambria Math"/>
              </a:rPr>
              <a:t>v</a:t>
            </a:r>
            <a:r>
              <a:rPr sz="1300" b="0" i="0">
                <a:solidFill>
                  <a:srgbClr val="0B3D5C"/>
                </a:solidFill>
                <a:latin typeface="Cambria Math"/>
              </a:rPr>
              <a:t>  =  −(ζ/ξ) ∇·(φ</a:t>
            </a:r>
            <a:r>
              <a:rPr sz="1400" b="1" i="0">
                <a:solidFill>
                  <a:srgbClr val="0B3D5C"/>
                </a:solidFill>
                <a:latin typeface="Cambria Math"/>
              </a:rPr>
              <a:t>P</a:t>
            </a:r>
            <a:r>
              <a:rPr sz="1400" b="1" i="0">
                <a:solidFill>
                  <a:srgbClr val="0B3D5C"/>
                </a:solidFill>
                <a:latin typeface="Cambria Math"/>
              </a:rPr>
              <a:t>P</a:t>
            </a:r>
            <a:r>
              <a:rPr sz="1300" b="0" i="0">
                <a:solidFill>
                  <a:srgbClr val="0B3D5C"/>
                </a:solidFill>
                <a:latin typeface="Cambria Math"/>
              </a:rPr>
              <a:t>)</a:t>
            </a:r>
          </a:p>
        </p:txBody>
      </p:sp>
      <p:sp>
        <p:nvSpPr>
          <p:cNvPr id="23" name="Rounded Rectangle 22"/>
          <p:cNvSpPr/>
          <p:nvPr/>
        </p:nvSpPr>
        <p:spPr>
          <a:xfrm>
            <a:off x="292608" y="4617720"/>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4617720"/>
            <a:ext cx="4160520" cy="457200"/>
          </a:xfrm>
          <a:prstGeom prst="rect">
            <a:avLst/>
          </a:prstGeom>
          <a:noFill/>
        </p:spPr>
        <p:txBody>
          <a:bodyPr wrap="square" lIns="54864" rIns="54864" tIns="27432" bIns="18288" anchor="ctr">
            <a:spAutoFit/>
          </a:bodyPr>
          <a:lstStyle/>
          <a:p>
            <a:pPr algn="ctr">
              <a:spcBef>
                <a:spcPts val="0"/>
              </a:spcBef>
              <a:spcAft>
                <a:spcPts val="300"/>
              </a:spcAft>
            </a:pPr>
            <a:r>
              <a:rPr sz="1900" b="1" i="0">
                <a:solidFill>
                  <a:srgbClr val="0B3D5C"/>
                </a:solidFill>
                <a:latin typeface="Cambria Math"/>
              </a:rPr>
              <a:t>u</a:t>
            </a:r>
            <a:r>
              <a:rPr sz="1700" b="0" i="0">
                <a:solidFill>
                  <a:srgbClr val="0B3D5C"/>
                </a:solidFill>
                <a:latin typeface="Cambria Math"/>
              </a:rPr>
              <a:t>  =  </a:t>
            </a:r>
            <a:r>
              <a:rPr sz="1900" b="1" i="0">
                <a:solidFill>
                  <a:srgbClr val="0B3D5C"/>
                </a:solidFill>
                <a:latin typeface="Cambria Math"/>
              </a:rPr>
              <a:t>v</a:t>
            </a:r>
            <a:r>
              <a:rPr sz="1700" b="0" i="0">
                <a:solidFill>
                  <a:srgbClr val="0B3D5C"/>
                </a:solidFill>
                <a:latin typeface="Cambria Math"/>
              </a:rPr>
              <a:t>  +  w</a:t>
            </a:r>
            <a:r>
              <a:rPr sz="1700" b="0" i="0" baseline="-25000">
                <a:solidFill>
                  <a:srgbClr val="0B3D5C"/>
                </a:solidFill>
                <a:latin typeface="Cambria Math"/>
              </a:rPr>
              <a:t>0</a:t>
            </a:r>
            <a:r>
              <a:rPr sz="1900" b="1" i="0">
                <a:solidFill>
                  <a:srgbClr val="0B3D5C"/>
                </a:solidFill>
                <a:latin typeface="Cambria Math"/>
              </a:rPr>
              <a:t>P</a:t>
            </a:r>
          </a:p>
        </p:txBody>
      </p:sp>
      <p:sp>
        <p:nvSpPr>
          <p:cNvPr id="25" name="TextBox 24"/>
          <p:cNvSpPr txBox="1"/>
          <p:nvPr/>
        </p:nvSpPr>
        <p:spPr>
          <a:xfrm>
            <a:off x="292608" y="5138928"/>
            <a:ext cx="4160520" cy="594360"/>
          </a:xfrm>
          <a:prstGeom prst="rect">
            <a:avLst/>
          </a:prstGeom>
          <a:noFill/>
        </p:spPr>
        <p:txBody>
          <a:bodyPr wrap="square" lIns="54864" rIns="54864" tIns="27432" bIns="18288">
            <a:spAutoFit/>
          </a:bodyPr>
          <a:lstStyle/>
          <a:p>
            <a:pPr algn="ctr">
              <a:lnSpc>
                <a:spcPct val="105000"/>
              </a:lnSpc>
              <a:spcBef>
                <a:spcPts val="0"/>
              </a:spcBef>
              <a:spcAft>
                <a:spcPts val="0"/>
              </a:spcAft>
            </a:pPr>
            <a:r>
              <a:rPr sz="1200" b="1" i="0">
                <a:solidFill>
                  <a:srgbClr val="0B3D5C"/>
                </a:solidFill>
                <a:latin typeface="Calibri"/>
              </a:rPr>
              <a:t>No global Stokes / pressure solve — only local finite-difference stencils.</a:t>
            </a:r>
          </a:p>
        </p:txBody>
      </p:sp>
      <p:pic>
        <p:nvPicPr>
          <p:cNvPr id="26" name="Picture 25" descr="fig_v4_montage.png"/>
          <p:cNvPicPr>
            <a:picLocks noChangeAspect="1"/>
          </p:cNvPicPr>
          <p:nvPr/>
        </p:nvPicPr>
        <p:blipFill>
          <a:blip r:embed="rId2"/>
          <a:stretch>
            <a:fillRect/>
          </a:stretch>
        </p:blipFill>
        <p:spPr>
          <a:xfrm>
            <a:off x="6585839" y="914400"/>
            <a:ext cx="3333242" cy="1207008"/>
          </a:xfrm>
          <a:prstGeom prst="rect">
            <a:avLst/>
          </a:prstGeom>
        </p:spPr>
      </p:pic>
      <p:pic>
        <p:nvPicPr>
          <p:cNvPr id="27" name="Picture 26" descr="fig_v4_snapshots.png"/>
          <p:cNvPicPr>
            <a:picLocks noChangeAspect="1"/>
          </p:cNvPicPr>
          <p:nvPr/>
        </p:nvPicPr>
        <p:blipFill>
          <a:blip r:embed="rId3"/>
          <a:stretch>
            <a:fillRect/>
          </a:stretch>
        </p:blipFill>
        <p:spPr>
          <a:xfrm>
            <a:off x="6585839" y="2157984"/>
            <a:ext cx="3333242" cy="1207008"/>
          </a:xfrm>
          <a:prstGeom prst="rect">
            <a:avLst/>
          </a:prstGeom>
        </p:spPr>
      </p:pic>
      <p:pic>
        <p:nvPicPr>
          <p:cNvPr id="28" name="Picture 27" descr="fig_v4_diagnostics.png"/>
          <p:cNvPicPr>
            <a:picLocks noChangeAspect="1"/>
          </p:cNvPicPr>
          <p:nvPr/>
        </p:nvPicPr>
        <p:blipFill>
          <a:blip r:embed="rId4"/>
          <a:stretch>
            <a:fillRect/>
          </a:stretch>
        </p:blipFill>
        <p:spPr>
          <a:xfrm>
            <a:off x="6803636" y="3401568"/>
            <a:ext cx="2897647" cy="777240"/>
          </a:xfrm>
          <a:prstGeom prst="rect">
            <a:avLst/>
          </a:prstGeom>
        </p:spPr>
      </p:pic>
      <p:sp>
        <p:nvSpPr>
          <p:cNvPr id="29" name="Rounded Rectangle 28"/>
          <p:cNvSpPr/>
          <p:nvPr/>
        </p:nvSpPr>
        <p:spPr>
          <a:xfrm>
            <a:off x="4617720" y="4251960"/>
            <a:ext cx="7269480" cy="233172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0600" y="4343400"/>
            <a:ext cx="6903720" cy="2176272"/>
          </a:xfrm>
          <a:prstGeom prst="rect">
            <a:avLst/>
          </a:prstGeom>
          <a:noFill/>
        </p:spPr>
        <p:txBody>
          <a:bodyPr wrap="square" lIns="54864" rIns="54864" tIns="27432" bIns="18288">
            <a:spAutoFit/>
          </a:bodyPr>
          <a:lstStyle/>
          <a:p>
            <a:pPr algn="l">
              <a:spcBef>
                <a:spcPts val="0"/>
              </a:spcBef>
              <a:spcAft>
                <a:spcPts val="500"/>
              </a:spcAft>
            </a:pPr>
            <a:r>
              <a:rPr sz="1300" b="1" i="0">
                <a:solidFill>
                  <a:srgbClr val="0B3D5C"/>
                </a:solidFill>
                <a:latin typeface="Calibri"/>
              </a:rPr>
              <a:t>Travel 239.9  ·  Time 299  (model units)  ·  Speed 0.801  ·  Aspect ∼ 3.2</a:t>
            </a:r>
          </a:p>
          <a:p>
            <a:pPr algn="l">
              <a:spcBef>
                <a:spcPts val="0"/>
              </a:spcBef>
              <a:spcAft>
                <a:spcPts val="500"/>
              </a:spcAft>
            </a:pPr>
            <a:r>
              <a:rPr sz="1300" b="1" i="0">
                <a:solidFill>
                  <a:srgbClr val="0B3D5C"/>
                </a:solidFill>
                <a:latin typeface="Calibri"/>
              </a:rPr>
              <a:t>yᴄᴍ = 0  ·  Area +15%  ·  h/h₀ ≈ 0.87  (≈ 13% thinning)</a:t>
            </a:r>
          </a:p>
          <a:p>
            <a:pPr algn="l">
              <a:spcBef>
                <a:spcPts val="0"/>
              </a:spcBef>
              <a:spcAft>
                <a:spcPts val="400"/>
              </a:spcAft>
            </a:pPr>
            <a:r>
              <a:rPr sz="1200" b="0" i="0">
                <a:solidFill>
                  <a:srgbClr val="1F2937"/>
                </a:solidFill>
                <a:latin typeface="Calibri"/>
              </a:rPr>
              <a:t>Volume conserved; projected area is allowed to change.</a:t>
            </a:r>
          </a:p>
          <a:p>
            <a:pPr algn="l">
              <a:spcBef>
                <a:spcPts val="0"/>
              </a:spcBef>
              <a:spcAft>
                <a:spcPts val="500"/>
              </a:spcAft>
            </a:pPr>
            <a:r>
              <a:rPr sz="1200" b="0" i="0">
                <a:solidFill>
                  <a:srgbClr val="1F2937"/>
                </a:solidFill>
                <a:latin typeface="Cambria Math"/>
              </a:rPr>
              <a:t>k</a:t>
            </a:r>
            <a:r>
              <a:rPr sz="1200" b="0" i="0" baseline="-25000">
                <a:solidFill>
                  <a:srgbClr val="1F2937"/>
                </a:solidFill>
                <a:latin typeface="Cambria Math"/>
              </a:rPr>
              <a:t>A</a:t>
            </a:r>
            <a:r>
              <a:rPr sz="1200" b="0" i="0">
                <a:solidFill>
                  <a:srgbClr val="1F2937"/>
                </a:solidFill>
                <a:latin typeface="Cambria Math"/>
              </a:rPr>
              <a:t> = 0  ⇒  unbounded spreading / inflation</a:t>
            </a:r>
          </a:p>
          <a:p>
            <a:pPr algn="l">
              <a:spcBef>
                <a:spcPts val="0"/>
              </a:spcBef>
              <a:spcAft>
                <a:spcPts val="500"/>
              </a:spcAft>
            </a:pPr>
            <a:r>
              <a:rPr sz="1200" b="0" i="0">
                <a:solidFill>
                  <a:srgbClr val="4B5563"/>
                </a:solidFill>
                <a:latin typeface="Calibri"/>
              </a:rPr>
              <a:t>V3 and V4 agree to within 0.2% in the comparable (flow-off, rigid-area) limit.</a:t>
            </a:r>
          </a:p>
          <a:p>
            <a:pPr algn="l">
              <a:spcBef>
                <a:spcPts val="0"/>
              </a:spcBef>
              <a:spcAft>
                <a:spcPts val="500"/>
              </a:spcAft>
            </a:pPr>
            <a:r>
              <a:rPr sz="1200" b="0" i="0">
                <a:solidFill>
                  <a:srgbClr val="1F2937"/>
                </a:solidFill>
                <a:latin typeface="Calibri"/>
              </a:rPr>
              <a:t>Cost/step: 2.70 → 1.10 ms   ·   stable dt: 0.01 → 0.03</a:t>
            </a:r>
          </a:p>
          <a:p>
            <a:pPr algn="l">
              <a:lnSpc>
                <a:spcPct val="105000"/>
              </a:lnSpc>
              <a:spcBef>
                <a:spcPts val="0"/>
              </a:spcBef>
              <a:spcAft>
                <a:spcPts val="300"/>
              </a:spcAft>
            </a:pPr>
            <a:r>
              <a:rPr sz="1250" b="1" i="0">
                <a:solidFill>
                  <a:srgbClr val="1A7A6D"/>
                </a:solidFill>
                <a:latin typeface="Calibri"/>
              </a:rPr>
              <a:t>Overall runtime ≈ 5× faster, including the larger stable time-step.</a:t>
            </a:r>
          </a:p>
          <a:p>
            <a:pPr algn="l">
              <a:spcBef>
                <a:spcPts val="0"/>
              </a:spcBef>
              <a:spcAft>
                <a:spcPts val="0"/>
              </a:spcAft>
            </a:pPr>
            <a:r>
              <a:rPr sz="1200" b="0" i="0">
                <a:solidFill>
                  <a:srgbClr val="1F2937"/>
                </a:solidFill>
                <a:latin typeface="Calibri"/>
              </a:rPr>
              <a:t>Local formulation — a practical starting point for many cells.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What the simulations establish</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7 / 8</a:t>
            </a:r>
          </a:p>
        </p:txBody>
      </p:sp>
      <p:sp>
        <p:nvSpPr>
          <p:cNvPr id="9" name="Rounded Rectangle 8"/>
          <p:cNvSpPr/>
          <p:nvPr/>
        </p:nvSpPr>
        <p:spPr>
          <a:xfrm>
            <a:off x="365760" y="1051560"/>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051560"/>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106424"/>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01</a:t>
            </a:r>
          </a:p>
        </p:txBody>
      </p:sp>
      <p:sp>
        <p:nvSpPr>
          <p:cNvPr id="12" name="TextBox 11"/>
          <p:cNvSpPr txBox="1"/>
          <p:nvPr/>
        </p:nvSpPr>
        <p:spPr>
          <a:xfrm>
            <a:off x="1280160" y="1124712"/>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 spatial gradient in treadmilling can generate a leading protrusion.</a:t>
            </a:r>
          </a:p>
          <a:p>
            <a:pPr algn="l">
              <a:spcBef>
                <a:spcPts val="0"/>
              </a:spcBef>
              <a:spcAft>
                <a:spcPts val="600"/>
              </a:spcAft>
            </a:pPr>
            <a:r>
              <a:rPr sz="1250" b="0" i="0">
                <a:solidFill>
                  <a:srgbClr val="4B5563"/>
                </a:solidFill>
                <a:latin typeface="Calibri"/>
              </a:rPr>
              <a:t>V2</a:t>
            </a:r>
          </a:p>
        </p:txBody>
      </p:sp>
      <p:sp>
        <p:nvSpPr>
          <p:cNvPr id="13" name="Rounded Rectangle 12"/>
          <p:cNvSpPr/>
          <p:nvPr/>
        </p:nvSpPr>
        <p:spPr>
          <a:xfrm>
            <a:off x="365760" y="2130552"/>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130552"/>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185416"/>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02</a:t>
            </a:r>
          </a:p>
        </p:txBody>
      </p:sp>
      <p:sp>
        <p:nvSpPr>
          <p:cNvPr id="16" name="TextBox 15"/>
          <p:cNvSpPr txBox="1"/>
          <p:nvPr/>
        </p:nvSpPr>
        <p:spPr>
          <a:xfrm>
            <a:off x="1280160" y="2203704"/>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Planar morphology is controlled mainly by polarization anchoring.</a:t>
            </a:r>
          </a:p>
          <a:p>
            <a:pPr algn="l">
              <a:spcBef>
                <a:spcPts val="0"/>
              </a:spcBef>
              <a:spcAft>
                <a:spcPts val="600"/>
              </a:spcAft>
            </a:pPr>
            <a:r>
              <a:rPr sz="1250" b="0" i="0">
                <a:solidFill>
                  <a:srgbClr val="4B5563"/>
                </a:solidFill>
                <a:latin typeface="Calibri"/>
              </a:rPr>
              <a:t>V3  ·  flow adds ~2%</a:t>
            </a:r>
          </a:p>
        </p:txBody>
      </p:sp>
      <p:sp>
        <p:nvSpPr>
          <p:cNvPr id="17" name="Rounded Rectangle 16"/>
          <p:cNvSpPr/>
          <p:nvPr/>
        </p:nvSpPr>
        <p:spPr>
          <a:xfrm>
            <a:off x="365760" y="3209544"/>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209544"/>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264408"/>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03</a:t>
            </a:r>
          </a:p>
        </p:txBody>
      </p:sp>
      <p:sp>
        <p:nvSpPr>
          <p:cNvPr id="20" name="TextBox 19"/>
          <p:cNvSpPr txBox="1"/>
          <p:nvPr/>
        </p:nvSpPr>
        <p:spPr>
          <a:xfrm>
            <a:off x="1280160" y="3282696"/>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The friction-dominated model retains crawling behaviour.</a:t>
            </a:r>
          </a:p>
          <a:p>
            <a:pPr algn="l">
              <a:spcBef>
                <a:spcPts val="0"/>
              </a:spcBef>
              <a:spcAft>
                <a:spcPts val="600"/>
              </a:spcAft>
            </a:pPr>
            <a:r>
              <a:rPr sz="1250" b="0" i="0">
                <a:solidFill>
                  <a:srgbClr val="4B5563"/>
                </a:solidFill>
                <a:latin typeface="Calibri"/>
              </a:rPr>
              <a:t>V4  ·  speed 0.801  ·  0.2% agreement  ·  ~5× faster  ·  local</a:t>
            </a:r>
          </a:p>
        </p:txBody>
      </p:sp>
      <p:sp>
        <p:nvSpPr>
          <p:cNvPr id="21" name="Rounded Rectangle 20"/>
          <p:cNvSpPr/>
          <p:nvPr/>
        </p:nvSpPr>
        <p:spPr>
          <a:xfrm>
            <a:off x="365760" y="4288536"/>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288536"/>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343400"/>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04</a:t>
            </a:r>
          </a:p>
        </p:txBody>
      </p:sp>
      <p:sp>
        <p:nvSpPr>
          <p:cNvPr id="24" name="TextBox 23"/>
          <p:cNvSpPr txBox="1"/>
          <p:nvPr/>
        </p:nvSpPr>
        <p:spPr>
          <a:xfrm>
            <a:off x="1280160" y="4361688"/>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Volume conservation is more appropriate than rigid projected-area conservation.</a:t>
            </a:r>
          </a:p>
          <a:p>
            <a:pPr algn="l">
              <a:spcBef>
                <a:spcPts val="0"/>
              </a:spcBef>
              <a:spcAft>
                <a:spcPts val="600"/>
              </a:spcAft>
            </a:pPr>
            <a:r>
              <a:rPr sz="1250" b="0" i="0">
                <a:solidFill>
                  <a:srgbClr val="4B5563"/>
                </a:solidFill>
                <a:latin typeface="Calibri"/>
              </a:rPr>
              <a:t>kₐ = 5: area +15%      kₐ = 0: inflation, crawling lost</a:t>
            </a:r>
          </a:p>
        </p:txBody>
      </p:sp>
      <p:sp>
        <p:nvSpPr>
          <p:cNvPr id="25" name="Rounded Rectangle 24"/>
          <p:cNvSpPr/>
          <p:nvPr/>
        </p:nvSpPr>
        <p:spPr>
          <a:xfrm>
            <a:off x="365760" y="5468112"/>
            <a:ext cx="11430000" cy="960120"/>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77840"/>
            <a:ext cx="11064240" cy="777240"/>
          </a:xfrm>
          <a:prstGeom prst="rect">
            <a:avLst/>
          </a:prstGeom>
          <a:noFill/>
        </p:spPr>
        <p:txBody>
          <a:bodyPr wrap="square" lIns="54864" rIns="54864" tIns="27432" bIns="18288">
            <a:spAutoFit/>
          </a:bodyPr>
          <a:lstStyle/>
          <a:p>
            <a:pPr algn="l">
              <a:lnSpc>
                <a:spcPct val="105000"/>
              </a:lnSpc>
              <a:spcBef>
                <a:spcPts val="0"/>
              </a:spcBef>
              <a:spcAft>
                <a:spcPts val="0"/>
              </a:spcAft>
            </a:pPr>
            <a:r>
              <a:rPr sz="1600" b="1" i="0">
                <a:solidFill>
                  <a:srgbClr val="FFFFFF"/>
                </a:solidFill>
                <a:latin typeface="Calibri"/>
              </a:rPr>
              <a:t>Take-home: a verified local single-cell model now reproduces crawling without a global Stokes solve — providing a computational base for many-cell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From one cell to many</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8 / 8</a:t>
            </a:r>
          </a:p>
        </p:txBody>
      </p:sp>
      <p:sp>
        <p:nvSpPr>
          <p:cNvPr id="9" name="Rounded Rectangle 8"/>
          <p:cNvSpPr/>
          <p:nvPr/>
        </p:nvSpPr>
        <p:spPr>
          <a:xfrm>
            <a:off x="292608"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1  Two cells</a:t>
            </a:r>
          </a:p>
          <a:p>
            <a:pPr algn="l">
              <a:spcBef>
                <a:spcPts val="0"/>
              </a:spcBef>
              <a:spcAft>
                <a:spcPts val="600"/>
              </a:spcAft>
            </a:pPr>
            <a:r>
              <a:rPr sz="1250" b="0" i="0">
                <a:solidFill>
                  <a:srgbClr val="1F2937"/>
                </a:solidFill>
                <a:latin typeface="Calibri"/>
              </a:rPr>
              <a:t>One field pair per cell + repulsive overlap.</a:t>
            </a:r>
          </a:p>
        </p:txBody>
      </p:sp>
      <p:sp>
        <p:nvSpPr>
          <p:cNvPr id="11" name="Rounded Rectangle 10"/>
          <p:cNvSpPr/>
          <p:nvPr/>
        </p:nvSpPr>
        <p:spPr>
          <a:xfrm>
            <a:off x="2651760"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2  Collisions</a:t>
            </a:r>
          </a:p>
          <a:p>
            <a:pPr algn="l">
              <a:spcBef>
                <a:spcPts val="0"/>
              </a:spcBef>
              <a:spcAft>
                <a:spcPts val="600"/>
              </a:spcAft>
            </a:pPr>
            <a:r>
              <a:rPr sz="1250" b="0" i="0">
                <a:solidFill>
                  <a:srgbClr val="1F2937"/>
                </a:solidFill>
                <a:latin typeface="Calibri"/>
              </a:rPr>
              <a:t>Head-on and glancing interactions.</a:t>
            </a:r>
          </a:p>
        </p:txBody>
      </p:sp>
      <p:sp>
        <p:nvSpPr>
          <p:cNvPr id="13" name="Rounded Rectangle 12"/>
          <p:cNvSpPr/>
          <p:nvPr/>
        </p:nvSpPr>
        <p:spPr>
          <a:xfrm>
            <a:off x="5010912"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3  Polarity</a:t>
            </a:r>
          </a:p>
          <a:p>
            <a:pPr algn="l">
              <a:spcBef>
                <a:spcPts val="0"/>
              </a:spcBef>
              <a:spcAft>
                <a:spcPts val="600"/>
              </a:spcAft>
            </a:pPr>
            <a:r>
              <a:rPr sz="1250" b="0" i="0">
                <a:solidFill>
                  <a:srgbClr val="1F2937"/>
                </a:solidFill>
                <a:latin typeface="Calibri"/>
              </a:rPr>
              <a:t>Allow cells to choose their own direction.</a:t>
            </a:r>
          </a:p>
        </p:txBody>
      </p:sp>
      <p:sp>
        <p:nvSpPr>
          <p:cNvPr id="15" name="Rounded Rectangle 14"/>
          <p:cNvSpPr/>
          <p:nvPr/>
        </p:nvSpPr>
        <p:spPr>
          <a:xfrm>
            <a:off x="7370064"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4  Adhesion</a:t>
            </a:r>
          </a:p>
          <a:p>
            <a:pPr algn="l">
              <a:spcBef>
                <a:spcPts val="0"/>
              </a:spcBef>
              <a:spcAft>
                <a:spcPts val="600"/>
              </a:spcAft>
            </a:pPr>
            <a:r>
              <a:rPr sz="1250" b="0" i="0">
                <a:solidFill>
                  <a:srgbClr val="1F2937"/>
                </a:solidFill>
                <a:latin typeface="Calibri"/>
              </a:rPr>
              <a:t>Load-dependent friction ξ.</a:t>
            </a:r>
          </a:p>
        </p:txBody>
      </p:sp>
      <p:sp>
        <p:nvSpPr>
          <p:cNvPr id="17" name="Rounded Rectangle 16"/>
          <p:cNvSpPr/>
          <p:nvPr/>
        </p:nvSpPr>
        <p:spPr>
          <a:xfrm>
            <a:off x="9729216"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20656"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5  Collectives</a:t>
            </a:r>
          </a:p>
          <a:p>
            <a:pPr algn="l">
              <a:spcBef>
                <a:spcPts val="0"/>
              </a:spcBef>
              <a:spcAft>
                <a:spcPts val="600"/>
              </a:spcAft>
            </a:pPr>
            <a:r>
              <a:rPr sz="1250" b="0" i="0">
                <a:solidFill>
                  <a:srgbClr val="1F2937"/>
                </a:solidFill>
                <a:latin typeface="Calibri"/>
              </a:rPr>
              <a:t>Tens of cells: jamming and neighbour alignment.</a:t>
            </a:r>
          </a:p>
        </p:txBody>
      </p:sp>
      <p:sp>
        <p:nvSpPr>
          <p:cNvPr id="19" name="Rounded Rectangle 18"/>
          <p:cNvSpPr/>
          <p:nvPr/>
        </p:nvSpPr>
        <p:spPr>
          <a:xfrm>
            <a:off x="292608" y="3429000"/>
            <a:ext cx="11594592" cy="2926080"/>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11880"/>
            <a:ext cx="11109960" cy="2606040"/>
          </a:xfrm>
          <a:prstGeom prst="rect">
            <a:avLst/>
          </a:prstGeom>
          <a:noFill/>
        </p:spPr>
        <p:txBody>
          <a:bodyPr wrap="square" lIns="54864" rIns="54864" tIns="27432" bIns="18288">
            <a:spAutoFit/>
          </a:bodyPr>
          <a:lstStyle/>
          <a:p>
            <a:pPr algn="l">
              <a:spcBef>
                <a:spcPts val="0"/>
              </a:spcBef>
              <a:spcAft>
                <a:spcPts val="1600"/>
              </a:spcAft>
            </a:pPr>
            <a:r>
              <a:rPr sz="3200" b="1" i="0">
                <a:solidFill>
                  <a:srgbClr val="FFFFFF"/>
                </a:solidFill>
                <a:latin typeface="Calibri"/>
              </a:rPr>
              <a:t>Thank you — Questions</a:t>
            </a:r>
          </a:p>
          <a:p>
            <a:pPr algn="l">
              <a:spcBef>
                <a:spcPts val="0"/>
              </a:spcBef>
              <a:spcAft>
                <a:spcPts val="800"/>
              </a:spcAft>
            </a:pPr>
            <a:r>
              <a:rPr sz="1600" b="0" i="0">
                <a:solidFill>
                  <a:srgbClr val="FFFFFF"/>
                </a:solidFill>
                <a:latin typeface="Calibri"/>
              </a:rPr>
              <a:t>Siddharth Kumar  (2023PH10741)     ·     Soumik Roy  (2023PH10756)</a:t>
            </a:r>
          </a:p>
          <a:p>
            <a:pPr algn="l">
              <a:spcBef>
                <a:spcPts val="0"/>
              </a:spcBef>
              <a:spcAft>
                <a:spcPts val="600"/>
              </a:spcAft>
            </a:pPr>
            <a:r>
              <a:rPr sz="1500" b="0" i="0">
                <a:solidFill>
                  <a:srgbClr val="C5D4DE"/>
                </a:solidFill>
                <a:latin typeface="Calibri"/>
              </a:rPr>
              <a:t>Adviser: Prof. Sujin B. Babu     ·     Department of Physics, IIT Delhi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