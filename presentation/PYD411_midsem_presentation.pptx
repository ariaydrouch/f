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are modelling crawling cells using a phase-field description coupled to actin polarization, with the longer-term goal of extending the model from one cell to many interacting cells.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represent the cell by its shape field phi and the actin organisation by P. Treadmilling gives w0 P, active myosin stress gives the force that contributes to v, and substrate adhesion is coarse-grained as friction.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free energy controls the shape and polarisation, while the force balance determines motion. We progressively added physics so we could identify what was essential before simplifying the model for many-cell simulations.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every timestep we compute the functional derivatives of the free energy, update the polarization P by its relaxation and advection equation, form the active force from P, obtain the velocity either from the full Stokes solve or the local Darcy law of Version 4, assemble the total transport velocity u, and use u and mu to advance phi. The loop then repeats for the next timestep.</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Version 1 showed that uniform polarity can translate a cell but cannot deform it. Introducing a spatial gradient in treadmilling near the substrate produces the leading protrusion, with a transition near w0 approximately 0.8.</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full model shows that anchoring of the polarization at the boundary is the dominant control on planar shape. Adding hydrodynamic flow changes the elongated shape by only about two percent, motivating a friction-dominated reduction.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the cell scale the viscous contribution is only about zero point six percent of friction, so we use a friction-dominated force balance. The active stress gives a local velocity, eliminating the global Stokes solve. The resulting cell crawls steadily, reproduces the comparable full-model result, and is substantially cheaper.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not a finished result, it is evidence that the extension to many cells works mechanically. Two cells, each running the exact single-cell Version 4 equations, coupled by one new steric repulsion term in the free energy. A glancing collision shows a clean approach, contact, and scatter, with no merging and no global solve required. Head-on collisions are harder and are flagged as the next thing to get right.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outcome is not simply a faster simulation. We identified which mechanisms control the observed behaviour and reduced the model while retaining the essential single-cell crawling dynamics.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immediate next step is two-cell interaction, followed by collisions and dynamic polarity. The ultimate goal is to study collective behaviour using the local formulation.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1.mp4"/><Relationship Id="rId3" Type="http://schemas.openxmlformats.org/officeDocument/2006/relationships/video" Target="../media/media1.mp4"/><Relationship Id="rId4" Type="http://schemas.openxmlformats.org/officeDocument/2006/relationships/image" Target="../media/image9.png"/><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3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1A7A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263640"/>
            <a:ext cx="12191695" cy="594360"/>
          </a:xfrm>
          <a:prstGeom prst="rect">
            <a:avLst/>
          </a:prstGeom>
          <a:solidFill>
            <a:srgbClr val="0830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IITD.jpg"/>
          <p:cNvPicPr>
            <a:picLocks noChangeAspect="1"/>
          </p:cNvPicPr>
          <p:nvPr/>
        </p:nvPicPr>
        <p:blipFill>
          <a:blip r:embed="rId2"/>
          <a:stretch>
            <a:fillRect/>
          </a:stretch>
        </p:blipFill>
        <p:spPr>
          <a:xfrm>
            <a:off x="10561320" y="256032"/>
            <a:ext cx="1234440" cy="1234440"/>
          </a:xfrm>
          <a:prstGeom prst="rect">
            <a:avLst/>
          </a:prstGeom>
        </p:spPr>
      </p:pic>
      <p:sp>
        <p:nvSpPr>
          <p:cNvPr id="6" name="TextBox 5"/>
          <p:cNvSpPr txBox="1"/>
          <p:nvPr/>
        </p:nvSpPr>
        <p:spPr>
          <a:xfrm>
            <a:off x="640080" y="411480"/>
            <a:ext cx="9601200" cy="365760"/>
          </a:xfrm>
          <a:prstGeom prst="rect">
            <a:avLst/>
          </a:prstGeom>
          <a:noFill/>
        </p:spPr>
        <p:txBody>
          <a:bodyPr wrap="square" lIns="54864" rIns="54864" tIns="27432" bIns="18288">
            <a:spAutoFit/>
          </a:bodyPr>
          <a:lstStyle/>
          <a:p>
            <a:pPr algn="l">
              <a:spcBef>
                <a:spcPts val="0"/>
              </a:spcBef>
              <a:spcAft>
                <a:spcPts val="0"/>
              </a:spcAft>
            </a:pPr>
            <a:r>
              <a:rPr sz="1600" b="0" i="0">
                <a:solidFill>
                  <a:srgbClr val="A8C5D4"/>
                </a:solidFill>
                <a:latin typeface="Calibri"/>
              </a:rPr>
              <a:t>PYD411  ·  Mid-term evaluation  ·  Bachelor's Thesis Project</a:t>
            </a:r>
          </a:p>
        </p:txBody>
      </p:sp>
      <p:sp>
        <p:nvSpPr>
          <p:cNvPr id="7" name="TextBox 6"/>
          <p:cNvSpPr txBox="1"/>
          <p:nvPr/>
        </p:nvSpPr>
        <p:spPr>
          <a:xfrm>
            <a:off x="640080" y="1417320"/>
            <a:ext cx="10607040" cy="1554480"/>
          </a:xfrm>
          <a:prstGeom prst="rect">
            <a:avLst/>
          </a:prstGeom>
          <a:noFill/>
        </p:spPr>
        <p:txBody>
          <a:bodyPr wrap="square" lIns="54864" rIns="54864" tIns="27432" bIns="18288">
            <a:spAutoFit/>
          </a:bodyPr>
          <a:lstStyle/>
          <a:p>
            <a:pPr algn="l">
              <a:spcBef>
                <a:spcPts val="0"/>
              </a:spcBef>
              <a:spcAft>
                <a:spcPts val="200"/>
              </a:spcAft>
            </a:pPr>
            <a:r>
              <a:rPr sz="4000" b="1" i="0">
                <a:solidFill>
                  <a:srgbClr val="FFFFFF"/>
                </a:solidFill>
                <a:latin typeface="Calibri"/>
              </a:rPr>
              <a:t>Phase-Field Modelling</a:t>
            </a:r>
          </a:p>
          <a:p>
            <a:pPr algn="l">
              <a:spcBef>
                <a:spcPts val="0"/>
              </a:spcBef>
              <a:spcAft>
                <a:spcPts val="1000"/>
              </a:spcAft>
            </a:pPr>
            <a:r>
              <a:rPr sz="4000" b="1" i="0">
                <a:solidFill>
                  <a:srgbClr val="FFFFFF"/>
                </a:solidFill>
                <a:latin typeface="Calibri"/>
              </a:rPr>
              <a:t>of Crawling Cells</a:t>
            </a:r>
          </a:p>
          <a:p>
            <a:pPr algn="l">
              <a:spcBef>
                <a:spcPts val="0"/>
              </a:spcBef>
              <a:spcAft>
                <a:spcPts val="600"/>
              </a:spcAft>
            </a:pPr>
            <a:r>
              <a:rPr sz="2200" b="0" i="0">
                <a:solidFill>
                  <a:srgbClr val="7ED9C8"/>
                </a:solidFill>
                <a:latin typeface="Calibri"/>
              </a:rPr>
              <a:t>Towards a Tractable Two-Dimensional Model</a:t>
            </a:r>
          </a:p>
        </p:txBody>
      </p:sp>
      <p:sp>
        <p:nvSpPr>
          <p:cNvPr id="8" name="TextBox 7"/>
          <p:cNvSpPr txBox="1"/>
          <p:nvPr/>
        </p:nvSpPr>
        <p:spPr>
          <a:xfrm>
            <a:off x="640080" y="3794760"/>
            <a:ext cx="10058400" cy="2103120"/>
          </a:xfrm>
          <a:prstGeom prst="rect">
            <a:avLst/>
          </a:prstGeom>
          <a:noFill/>
        </p:spPr>
        <p:txBody>
          <a:bodyPr wrap="square" lIns="54864" rIns="54864" tIns="27432" bIns="18288">
            <a:spAutoFit/>
          </a:bodyPr>
          <a:lstStyle/>
          <a:p>
            <a:pPr algn="l">
              <a:spcBef>
                <a:spcPts val="0"/>
              </a:spcBef>
              <a:spcAft>
                <a:spcPts val="400"/>
              </a:spcAft>
            </a:pPr>
            <a:r>
              <a:rPr sz="2000" b="1" i="0">
                <a:solidFill>
                  <a:srgbClr val="FFFFFF"/>
                </a:solidFill>
                <a:latin typeface="Calibri"/>
              </a:rPr>
              <a:t>Siddharth Kumar   ·   2023PH10741</a:t>
            </a:r>
          </a:p>
          <a:p>
            <a:pPr algn="l">
              <a:spcBef>
                <a:spcPts val="0"/>
              </a:spcBef>
              <a:spcAft>
                <a:spcPts val="1200"/>
              </a:spcAft>
            </a:pPr>
            <a:r>
              <a:rPr sz="2000" b="1" i="0">
                <a:solidFill>
                  <a:srgbClr val="FFFFFF"/>
                </a:solidFill>
                <a:latin typeface="Calibri"/>
              </a:rPr>
              <a:t>Soumik Roy   ·   2023PH10756</a:t>
            </a:r>
          </a:p>
          <a:p>
            <a:pPr algn="l">
              <a:spcBef>
                <a:spcPts val="0"/>
              </a:spcBef>
              <a:spcAft>
                <a:spcPts val="600"/>
              </a:spcAft>
            </a:pPr>
            <a:r>
              <a:rPr sz="1800" b="0" i="0">
                <a:solidFill>
                  <a:srgbClr val="C5D4DE"/>
                </a:solidFill>
                <a:latin typeface="Calibri"/>
              </a:rPr>
              <a:t>Adviser:  Prof. Sujin B. Babu</a:t>
            </a:r>
          </a:p>
          <a:p>
            <a:pPr algn="l">
              <a:spcBef>
                <a:spcPts val="0"/>
              </a:spcBef>
              <a:spcAft>
                <a:spcPts val="600"/>
              </a:spcAft>
            </a:pPr>
            <a:r>
              <a:rPr sz="1600" b="0" i="0">
                <a:solidFill>
                  <a:srgbClr val="A8C5D4"/>
                </a:solidFill>
                <a:latin typeface="Calibri"/>
              </a:rPr>
              <a:t>Department of Physics, IIT Delhi   ·   2026 - 27, Semester I</a:t>
            </a:r>
          </a:p>
        </p:txBody>
      </p:sp>
      <p:sp>
        <p:nvSpPr>
          <p:cNvPr id="9" name="TextBox 8"/>
          <p:cNvSpPr txBox="1"/>
          <p:nvPr/>
        </p:nvSpPr>
        <p:spPr>
          <a:xfrm>
            <a:off x="640080" y="6355080"/>
            <a:ext cx="10972800" cy="365760"/>
          </a:xfrm>
          <a:prstGeom prst="rect">
            <a:avLst/>
          </a:prstGeom>
          <a:noFill/>
        </p:spPr>
        <p:txBody>
          <a:bodyPr wrap="square" lIns="54864" rIns="54864" tIns="27432" bIns="18288">
            <a:spAutoFit/>
          </a:bodyPr>
          <a:lstStyle/>
          <a:p>
            <a:pPr algn="l">
              <a:spcBef>
                <a:spcPts val="0"/>
              </a:spcBef>
              <a:spcAft>
                <a:spcPts val="0"/>
              </a:spcAft>
            </a:pPr>
            <a:r>
              <a:rPr sz="1300" b="0" i="0">
                <a:solidFill>
                  <a:srgbClr val="A8C5D4"/>
                </a:solidFill>
                <a:latin typeface="Calibri"/>
              </a:rPr>
              <a:t>8 minutes  ·  10 slides  ·  2 minutes for discussion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86384"/>
          </a:xfrm>
          <a:prstGeom prst="rect">
            <a:avLst/>
          </a:prstGeom>
          <a:solidFill>
            <a:srgbClr val="0B3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86384"/>
            <a:ext cx="12191695" cy="45720"/>
          </a:xfrm>
          <a:prstGeom prst="rect">
            <a:avLst/>
          </a:prstGeom>
          <a:solidFill>
            <a:srgbClr val="1A7A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338560" cy="420624"/>
          </a:xfrm>
          <a:prstGeom prst="rect">
            <a:avLst/>
          </a:prstGeom>
          <a:noFill/>
        </p:spPr>
        <p:txBody>
          <a:bodyPr wrap="square" lIns="54864" rIns="54864" tIns="27432" bIns="18288">
            <a:spAutoFit/>
          </a:bodyPr>
          <a:lstStyle/>
          <a:p>
            <a:pPr algn="l">
              <a:spcBef>
                <a:spcPts val="0"/>
              </a:spcBef>
              <a:spcAft>
                <a:spcPts val="0"/>
              </a:spcAft>
            </a:pPr>
            <a:r>
              <a:rPr sz="2500" b="1" i="0">
                <a:solidFill>
                  <a:srgbClr val="FFFFFF"/>
                </a:solidFill>
                <a:latin typeface="Calibri"/>
              </a:rPr>
              <a:t>What makes a crawling cell move?</a:t>
            </a:r>
          </a:p>
        </p:txBody>
      </p:sp>
      <p:sp>
        <p:nvSpPr>
          <p:cNvPr id="6" name="Rectangle 5"/>
          <p:cNvSpPr/>
          <p:nvPr/>
        </p:nvSpPr>
        <p:spPr>
          <a:xfrm>
            <a:off x="0" y="6601968"/>
            <a:ext cx="12191695" cy="256032"/>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0040" y="6601968"/>
            <a:ext cx="9601200" cy="237744"/>
          </a:xfrm>
          <a:prstGeom prst="rect">
            <a:avLst/>
          </a:prstGeom>
          <a:noFill/>
        </p:spPr>
        <p:txBody>
          <a:bodyPr wrap="square" lIns="54864" rIns="54864" tIns="27432" bIns="18288">
            <a:spAutoFit/>
          </a:bodyPr>
          <a:lstStyle/>
          <a:p>
            <a:pPr algn="l">
              <a:spcBef>
                <a:spcPts val="0"/>
              </a:spcBef>
              <a:spcAft>
                <a:spcPts val="0"/>
              </a:spcAft>
            </a:pPr>
            <a:r>
              <a:rPr sz="1100" b="0" i="0">
                <a:solidFill>
                  <a:srgbClr val="4B5563"/>
                </a:solidFill>
                <a:latin typeface="Calibri"/>
              </a:rPr>
              <a:t>PYD411  ·  Mid-term  ·  Dept of Physics, IIT Delhi  ·  Siddharth Kumar &amp; Soumik Roy</a:t>
            </a:r>
          </a:p>
        </p:txBody>
      </p:sp>
      <p:sp>
        <p:nvSpPr>
          <p:cNvPr id="8" name="TextBox 7"/>
          <p:cNvSpPr txBox="1"/>
          <p:nvPr/>
        </p:nvSpPr>
        <p:spPr>
          <a:xfrm>
            <a:off x="10607040" y="6601968"/>
            <a:ext cx="1280160" cy="237744"/>
          </a:xfrm>
          <a:prstGeom prst="rect">
            <a:avLst/>
          </a:prstGeom>
          <a:noFill/>
        </p:spPr>
        <p:txBody>
          <a:bodyPr wrap="square" lIns="54864" rIns="54864" tIns="27432" bIns="18288">
            <a:spAutoFit/>
          </a:bodyPr>
          <a:lstStyle/>
          <a:p>
            <a:pPr algn="r">
              <a:spcBef>
                <a:spcPts val="0"/>
              </a:spcBef>
              <a:spcAft>
                <a:spcPts val="0"/>
              </a:spcAft>
            </a:pPr>
            <a:r>
              <a:rPr sz="1100" b="0" i="0">
                <a:solidFill>
                  <a:srgbClr val="4B5563"/>
                </a:solidFill>
                <a:latin typeface="Calibri"/>
              </a:rPr>
              <a:t>2 / 10</a:t>
            </a:r>
          </a:p>
        </p:txBody>
      </p:sp>
      <p:sp>
        <p:nvSpPr>
          <p:cNvPr id="9" name="Rounded Rectangle 8"/>
          <p:cNvSpPr/>
          <p:nvPr/>
        </p:nvSpPr>
        <p:spPr>
          <a:xfrm>
            <a:off x="320040" y="960120"/>
            <a:ext cx="5623560" cy="310896"/>
          </a:xfrm>
          <a:prstGeom prst="roundRect">
            <a:avLst>
              <a:gd name="adj" fmla="val 8000"/>
            </a:avLst>
          </a:prstGeom>
          <a:solidFill>
            <a:srgbClr val="0B3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 y="960120"/>
            <a:ext cx="5623560" cy="310896"/>
          </a:xfrm>
          <a:prstGeom prst="rect">
            <a:avLst/>
          </a:prstGeom>
          <a:noFill/>
        </p:spPr>
        <p:txBody>
          <a:bodyPr wrap="square" lIns="54864" rIns="54864" tIns="27432" bIns="18288" anchor="ctr">
            <a:spAutoFit/>
          </a:bodyPr>
          <a:lstStyle/>
          <a:p>
            <a:pPr algn="ctr">
              <a:spcBef>
                <a:spcPts val="0"/>
              </a:spcBef>
              <a:spcAft>
                <a:spcPts val="0"/>
              </a:spcAft>
            </a:pPr>
            <a:r>
              <a:rPr sz="1300" b="1" i="0">
                <a:solidFill>
                  <a:srgbClr val="FFFFFF"/>
                </a:solidFill>
                <a:latin typeface="Calibri"/>
              </a:rPr>
              <a:t>PHYSICAL MECHANISMS</a:t>
            </a:r>
          </a:p>
        </p:txBody>
      </p:sp>
      <p:sp>
        <p:nvSpPr>
          <p:cNvPr id="11" name="Rounded Rectangle 10"/>
          <p:cNvSpPr/>
          <p:nvPr/>
        </p:nvSpPr>
        <p:spPr>
          <a:xfrm>
            <a:off x="320040" y="1371600"/>
            <a:ext cx="5623560" cy="1170432"/>
          </a:xfrm>
          <a:prstGeom prst="roundRect">
            <a:avLst>
              <a:gd name="adj" fmla="val 80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0040" y="1371600"/>
            <a:ext cx="91440" cy="1170432"/>
          </a:xfrm>
          <a:prstGeom prst="rect">
            <a:avLst/>
          </a:prstGeom>
          <a:solidFill>
            <a:srgbClr val="1A7A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76072" y="1444752"/>
            <a:ext cx="5257800" cy="1024128"/>
          </a:xfrm>
          <a:prstGeom prst="rect">
            <a:avLst/>
          </a:prstGeom>
          <a:noFill/>
        </p:spPr>
        <p:txBody>
          <a:bodyPr wrap="square" lIns="54864" rIns="54864" tIns="27432" bIns="18288">
            <a:spAutoFit/>
          </a:bodyPr>
          <a:lstStyle/>
          <a:p>
            <a:pPr algn="l">
              <a:spcBef>
                <a:spcPts val="0"/>
              </a:spcBef>
              <a:spcAft>
                <a:spcPts val="400"/>
              </a:spcAft>
            </a:pPr>
            <a:r>
              <a:rPr sz="1600" b="1" i="0">
                <a:solidFill>
                  <a:srgbClr val="0B3D5C"/>
                </a:solidFill>
                <a:latin typeface="Calibri"/>
              </a:rPr>
              <a:t>Actin treadmilling</a:t>
            </a:r>
          </a:p>
          <a:p>
            <a:pPr>
              <a:spcAft>
                <a:spcPts val="200"/>
              </a:spcAft>
            </a:pPr>
            <a:r>
              <a:rPr sz="1300" b="0" i="0">
                <a:solidFill>
                  <a:srgbClr val="1F2937"/>
                </a:solidFill>
                <a:latin typeface="Calibri"/>
              </a:rPr>
              <a:t>•  Polymerises at the front, depolymerises at the rear</a:t>
            </a:r>
          </a:p>
          <a:p>
            <a:pPr>
              <a:spcAft>
                <a:spcPts val="200"/>
              </a:spcAft>
            </a:pPr>
            <a:r>
              <a:rPr sz="1300" b="0" i="0">
                <a:solidFill>
                  <a:srgbClr val="1F2937"/>
                </a:solidFill>
                <a:latin typeface="Calibri"/>
              </a:rPr>
              <a:t>•  Produces protrusive transport</a:t>
            </a:r>
          </a:p>
        </p:txBody>
      </p:sp>
      <p:sp>
        <p:nvSpPr>
          <p:cNvPr id="14" name="Rounded Rectangle 13"/>
          <p:cNvSpPr/>
          <p:nvPr/>
        </p:nvSpPr>
        <p:spPr>
          <a:xfrm>
            <a:off x="320040" y="2670048"/>
            <a:ext cx="5623560" cy="1170432"/>
          </a:xfrm>
          <a:prstGeom prst="roundRect">
            <a:avLst>
              <a:gd name="adj" fmla="val 80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20040" y="2670048"/>
            <a:ext cx="91440" cy="1170432"/>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76072" y="2743200"/>
            <a:ext cx="5257800" cy="1024128"/>
          </a:xfrm>
          <a:prstGeom prst="rect">
            <a:avLst/>
          </a:prstGeom>
          <a:noFill/>
        </p:spPr>
        <p:txBody>
          <a:bodyPr wrap="square" lIns="54864" rIns="54864" tIns="27432" bIns="18288">
            <a:spAutoFit/>
          </a:bodyPr>
          <a:lstStyle/>
          <a:p>
            <a:pPr algn="l">
              <a:spcBef>
                <a:spcPts val="0"/>
              </a:spcBef>
              <a:spcAft>
                <a:spcPts val="400"/>
              </a:spcAft>
            </a:pPr>
            <a:r>
              <a:rPr sz="1600" b="1" i="0">
                <a:solidFill>
                  <a:srgbClr val="0B3D5C"/>
                </a:solidFill>
                <a:latin typeface="Calibri"/>
              </a:rPr>
              <a:t>Myosin contractility</a:t>
            </a:r>
          </a:p>
          <a:p>
            <a:pPr>
              <a:spcAft>
                <a:spcPts val="200"/>
              </a:spcAft>
            </a:pPr>
            <a:r>
              <a:rPr sz="1300" b="0" i="0">
                <a:solidFill>
                  <a:srgbClr val="1F2937"/>
                </a:solidFill>
                <a:latin typeface="Calibri"/>
              </a:rPr>
              <a:t>•  Generates active contractile stress</a:t>
            </a:r>
          </a:p>
          <a:p>
            <a:pPr>
              <a:spcAft>
                <a:spcPts val="200"/>
              </a:spcAft>
            </a:pPr>
            <a:r>
              <a:rPr sz="1300" b="0" i="0">
                <a:solidFill>
                  <a:srgbClr val="1F2937"/>
                </a:solidFill>
                <a:latin typeface="Calibri"/>
              </a:rPr>
              <a:t>•  Helps retract the cell rear</a:t>
            </a:r>
          </a:p>
        </p:txBody>
      </p:sp>
      <p:sp>
        <p:nvSpPr>
          <p:cNvPr id="17" name="Rounded Rectangle 16"/>
          <p:cNvSpPr/>
          <p:nvPr/>
        </p:nvSpPr>
        <p:spPr>
          <a:xfrm>
            <a:off x="320040" y="3968496"/>
            <a:ext cx="5623560" cy="1170432"/>
          </a:xfrm>
          <a:prstGeom prst="roundRect">
            <a:avLst>
              <a:gd name="adj" fmla="val 80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20040" y="3968496"/>
            <a:ext cx="91440" cy="1170432"/>
          </a:xfrm>
          <a:prstGeom prst="rect">
            <a:avLst/>
          </a:prstGeom>
          <a:solidFill>
            <a:srgbClr val="1A7A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76072" y="4041648"/>
            <a:ext cx="5257800" cy="1024128"/>
          </a:xfrm>
          <a:prstGeom prst="rect">
            <a:avLst/>
          </a:prstGeom>
          <a:noFill/>
        </p:spPr>
        <p:txBody>
          <a:bodyPr wrap="square" lIns="54864" rIns="54864" tIns="27432" bIns="18288">
            <a:spAutoFit/>
          </a:bodyPr>
          <a:lstStyle/>
          <a:p>
            <a:pPr algn="l">
              <a:spcBef>
                <a:spcPts val="0"/>
              </a:spcBef>
              <a:spcAft>
                <a:spcPts val="400"/>
              </a:spcAft>
            </a:pPr>
            <a:r>
              <a:rPr sz="1600" b="1" i="0">
                <a:solidFill>
                  <a:srgbClr val="0B3D5C"/>
                </a:solidFill>
                <a:latin typeface="Calibri"/>
              </a:rPr>
              <a:t>Adhesion</a:t>
            </a:r>
          </a:p>
          <a:p>
            <a:pPr>
              <a:spcAft>
                <a:spcPts val="200"/>
              </a:spcAft>
            </a:pPr>
            <a:r>
              <a:rPr sz="1300" b="0" i="0">
                <a:solidFill>
                  <a:srgbClr val="1F2937"/>
                </a:solidFill>
                <a:latin typeface="Calibri"/>
              </a:rPr>
              <a:t>•  Focal adhesions couple the cell to the substrate</a:t>
            </a:r>
          </a:p>
          <a:p>
            <a:pPr>
              <a:spcAft>
                <a:spcPts val="200"/>
              </a:spcAft>
            </a:pPr>
            <a:r>
              <a:rPr sz="1300" b="0" i="0">
                <a:solidFill>
                  <a:srgbClr val="1F2937"/>
                </a:solidFill>
                <a:latin typeface="Calibri"/>
              </a:rPr>
              <a:t>•  Coarse-grained as friction</a:t>
            </a:r>
          </a:p>
        </p:txBody>
      </p:sp>
      <p:sp>
        <p:nvSpPr>
          <p:cNvPr id="20" name="Rounded Rectangle 19"/>
          <p:cNvSpPr/>
          <p:nvPr/>
        </p:nvSpPr>
        <p:spPr>
          <a:xfrm>
            <a:off x="320040" y="5285232"/>
            <a:ext cx="5623560" cy="868680"/>
          </a:xfrm>
          <a:prstGeom prst="roundRect">
            <a:avLst>
              <a:gd name="adj" fmla="val 8000"/>
            </a:avLst>
          </a:prstGeom>
          <a:solidFill>
            <a:srgbClr val="E8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66344" y="5358384"/>
            <a:ext cx="5330952" cy="731520"/>
          </a:xfrm>
          <a:prstGeom prst="rect">
            <a:avLst/>
          </a:prstGeom>
          <a:noFill/>
        </p:spPr>
        <p:txBody>
          <a:bodyPr wrap="square" lIns="54864" rIns="54864" tIns="27432" bIns="18288">
            <a:spAutoFit/>
          </a:bodyPr>
          <a:lstStyle/>
          <a:p>
            <a:pPr algn="l">
              <a:spcBef>
                <a:spcPts val="0"/>
              </a:spcBef>
              <a:spcAft>
                <a:spcPts val="0"/>
              </a:spcAft>
            </a:pPr>
            <a:r>
              <a:rPr sz="1250" b="0" i="0">
                <a:solidFill>
                  <a:srgbClr val="1F2937"/>
                </a:solidFill>
                <a:latin typeface="Calibri"/>
              </a:rPr>
              <a:t>Keratocyte fragments without a nucleus can still polarise and crawl — mechanics provides a major part of the behaviour.</a:t>
            </a:r>
          </a:p>
        </p:txBody>
      </p:sp>
      <p:sp>
        <p:nvSpPr>
          <p:cNvPr id="22" name="Rounded Rectangle 21"/>
          <p:cNvSpPr/>
          <p:nvPr/>
        </p:nvSpPr>
        <p:spPr>
          <a:xfrm>
            <a:off x="6144768" y="960120"/>
            <a:ext cx="5742432" cy="310896"/>
          </a:xfrm>
          <a:prstGeom prst="roundRect">
            <a:avLst>
              <a:gd name="adj" fmla="val 8000"/>
            </a:avLst>
          </a:prstGeom>
          <a:solidFill>
            <a:srgbClr val="0B3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144768" y="960120"/>
            <a:ext cx="5742432" cy="310896"/>
          </a:xfrm>
          <a:prstGeom prst="rect">
            <a:avLst/>
          </a:prstGeom>
          <a:noFill/>
        </p:spPr>
        <p:txBody>
          <a:bodyPr wrap="square" lIns="54864" rIns="54864" tIns="27432" bIns="18288" anchor="ctr">
            <a:spAutoFit/>
          </a:bodyPr>
          <a:lstStyle/>
          <a:p>
            <a:pPr algn="ctr">
              <a:spcBef>
                <a:spcPts val="0"/>
              </a:spcBef>
              <a:spcAft>
                <a:spcPts val="0"/>
              </a:spcAft>
            </a:pPr>
            <a:r>
              <a:rPr sz="1300" b="1" i="0">
                <a:solidFill>
                  <a:srgbClr val="FFFFFF"/>
                </a:solidFill>
                <a:latin typeface="Calibri"/>
              </a:rPr>
              <a:t>MODEL REPRESENTATION</a:t>
            </a:r>
          </a:p>
        </p:txBody>
      </p:sp>
      <p:sp>
        <p:nvSpPr>
          <p:cNvPr id="24" name="Rounded Rectangle 23"/>
          <p:cNvSpPr/>
          <p:nvPr/>
        </p:nvSpPr>
        <p:spPr>
          <a:xfrm>
            <a:off x="6144768" y="1371600"/>
            <a:ext cx="5742432" cy="566928"/>
          </a:xfrm>
          <a:prstGeom prst="roundRect">
            <a:avLst>
              <a:gd name="adj" fmla="val 12000"/>
            </a:avLst>
          </a:prstGeom>
          <a:solidFill>
            <a:srgbClr val="EFF5F7"/>
          </a:solidFill>
          <a:ln w="15875">
            <a:solidFill>
              <a:srgbClr val="1A7A6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144768" y="1371600"/>
            <a:ext cx="5742432" cy="566928"/>
          </a:xfrm>
          <a:prstGeom prst="rect">
            <a:avLst/>
          </a:prstGeom>
          <a:noFill/>
        </p:spPr>
        <p:txBody>
          <a:bodyPr wrap="square" lIns="54864" rIns="54864" tIns="27432" bIns="18288" anchor="ctr">
            <a:spAutoFit/>
          </a:bodyPr>
          <a:lstStyle/>
          <a:p>
            <a:pPr algn="ctr">
              <a:spcBef>
                <a:spcPts val="0"/>
              </a:spcBef>
              <a:spcAft>
                <a:spcPts val="300"/>
              </a:spcAft>
            </a:pPr>
            <a:r>
              <a:rPr sz="1600" b="0" i="0">
                <a:solidFill>
                  <a:srgbClr val="0B3D5C"/>
                </a:solidFill>
                <a:latin typeface="Cambria Math"/>
              </a:rPr>
              <a:t>Phase field   </a:t>
            </a:r>
            <a:r>
              <a:rPr sz="2200" b="0" i="1">
                <a:solidFill>
                  <a:srgbClr val="0B3D5C"/>
                </a:solidFill>
                <a:latin typeface="Cambria Math"/>
              </a:rPr>
              <a:t>φ</a:t>
            </a:r>
            <a:r>
              <a:rPr sz="1600" b="0" i="0">
                <a:solidFill>
                  <a:srgbClr val="0B3D5C"/>
                </a:solidFill>
                <a:latin typeface="Cambria Math"/>
              </a:rPr>
              <a:t>(x, t)</a:t>
            </a:r>
          </a:p>
        </p:txBody>
      </p:sp>
      <p:sp>
        <p:nvSpPr>
          <p:cNvPr id="26" name="TextBox 25"/>
          <p:cNvSpPr txBox="1"/>
          <p:nvPr/>
        </p:nvSpPr>
        <p:spPr>
          <a:xfrm>
            <a:off x="6144768" y="1956816"/>
            <a:ext cx="5742432" cy="274320"/>
          </a:xfrm>
          <a:prstGeom prst="rect">
            <a:avLst/>
          </a:prstGeom>
          <a:noFill/>
        </p:spPr>
        <p:txBody>
          <a:bodyPr wrap="square" lIns="54864" rIns="54864" tIns="27432" bIns="18288">
            <a:spAutoFit/>
          </a:bodyPr>
          <a:lstStyle/>
          <a:p>
            <a:pPr algn="ctr">
              <a:spcBef>
                <a:spcPts val="0"/>
              </a:spcBef>
              <a:spcAft>
                <a:spcPts val="0"/>
              </a:spcAft>
            </a:pPr>
            <a:r>
              <a:rPr sz="1300" b="0" i="0">
                <a:solidFill>
                  <a:srgbClr val="4B5563"/>
                </a:solidFill>
                <a:latin typeface="Calibri"/>
              </a:rPr>
              <a:t>φ ≈ 1 inside cell,   φ ≈ 0 outside</a:t>
            </a:r>
          </a:p>
        </p:txBody>
      </p:sp>
      <p:sp>
        <p:nvSpPr>
          <p:cNvPr id="27" name="Rounded Rectangle 26"/>
          <p:cNvSpPr/>
          <p:nvPr/>
        </p:nvSpPr>
        <p:spPr>
          <a:xfrm>
            <a:off x="6144768" y="2304288"/>
            <a:ext cx="5742432" cy="566928"/>
          </a:xfrm>
          <a:prstGeom prst="roundRect">
            <a:avLst>
              <a:gd name="adj" fmla="val 12000"/>
            </a:avLst>
          </a:prstGeom>
          <a:solidFill>
            <a:srgbClr val="EFF5F7"/>
          </a:solidFill>
          <a:ln w="15875">
            <a:solidFill>
              <a:srgbClr val="1A7A6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144768" y="2304288"/>
            <a:ext cx="5742432" cy="566928"/>
          </a:xfrm>
          <a:prstGeom prst="rect">
            <a:avLst/>
          </a:prstGeom>
          <a:noFill/>
        </p:spPr>
        <p:txBody>
          <a:bodyPr wrap="square" lIns="54864" rIns="54864" tIns="27432" bIns="18288" anchor="ctr">
            <a:spAutoFit/>
          </a:bodyPr>
          <a:lstStyle/>
          <a:p>
            <a:pPr algn="ctr">
              <a:spcBef>
                <a:spcPts val="0"/>
              </a:spcBef>
              <a:spcAft>
                <a:spcPts val="300"/>
              </a:spcAft>
            </a:pPr>
            <a:r>
              <a:rPr sz="1600" b="0" i="0">
                <a:solidFill>
                  <a:srgbClr val="0B3D5C"/>
                </a:solidFill>
                <a:latin typeface="Cambria Math"/>
              </a:rPr>
              <a:t>Actin polarization   </a:t>
            </a:r>
            <a:r>
              <a:rPr sz="2200" b="1" i="0">
                <a:solidFill>
                  <a:srgbClr val="0B3D5C"/>
                </a:solidFill>
                <a:latin typeface="Cambria Math"/>
              </a:rPr>
              <a:t>P</a:t>
            </a:r>
            <a:r>
              <a:rPr sz="1600" b="0" i="0">
                <a:solidFill>
                  <a:srgbClr val="0B3D5C"/>
                </a:solidFill>
                <a:latin typeface="Cambria Math"/>
              </a:rPr>
              <a:t>(x, t)</a:t>
            </a:r>
          </a:p>
        </p:txBody>
      </p:sp>
      <p:sp>
        <p:nvSpPr>
          <p:cNvPr id="29" name="Rounded Rectangle 28"/>
          <p:cNvSpPr/>
          <p:nvPr/>
        </p:nvSpPr>
        <p:spPr>
          <a:xfrm>
            <a:off x="6144768" y="3035808"/>
            <a:ext cx="5742432" cy="566928"/>
          </a:xfrm>
          <a:prstGeom prst="roundRect">
            <a:avLst>
              <a:gd name="adj" fmla="val 12000"/>
            </a:avLst>
          </a:prstGeom>
          <a:solidFill>
            <a:srgbClr val="EFF5F7"/>
          </a:solidFill>
          <a:ln w="15875">
            <a:solidFill>
              <a:srgbClr val="1A7A6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144768" y="3035808"/>
            <a:ext cx="5742432" cy="566928"/>
          </a:xfrm>
          <a:prstGeom prst="rect">
            <a:avLst/>
          </a:prstGeom>
          <a:noFill/>
        </p:spPr>
        <p:txBody>
          <a:bodyPr wrap="square" lIns="54864" rIns="54864" tIns="27432" bIns="18288" anchor="ctr">
            <a:spAutoFit/>
          </a:bodyPr>
          <a:lstStyle/>
          <a:p>
            <a:pPr algn="ctr">
              <a:spcBef>
                <a:spcPts val="0"/>
              </a:spcBef>
              <a:spcAft>
                <a:spcPts val="300"/>
              </a:spcAft>
            </a:pPr>
            <a:r>
              <a:rPr sz="2200" b="1" i="0">
                <a:solidFill>
                  <a:srgbClr val="0B3D5C"/>
                </a:solidFill>
                <a:latin typeface="Cambria Math"/>
              </a:rPr>
              <a:t>u</a:t>
            </a:r>
            <a:r>
              <a:rPr sz="2000" b="0" i="0">
                <a:solidFill>
                  <a:srgbClr val="0B3D5C"/>
                </a:solidFill>
                <a:latin typeface="Cambria Math"/>
              </a:rPr>
              <a:t>  =  </a:t>
            </a:r>
            <a:r>
              <a:rPr sz="2200" b="1" i="0">
                <a:solidFill>
                  <a:srgbClr val="0B3D5C"/>
                </a:solidFill>
                <a:latin typeface="Cambria Math"/>
              </a:rPr>
              <a:t>v</a:t>
            </a:r>
            <a:r>
              <a:rPr sz="2000" b="0" i="0">
                <a:solidFill>
                  <a:srgbClr val="0B3D5C"/>
                </a:solidFill>
                <a:latin typeface="Cambria Math"/>
              </a:rPr>
              <a:t>  +  w</a:t>
            </a:r>
            <a:r>
              <a:rPr sz="2000" b="0" i="0" baseline="-25000">
                <a:solidFill>
                  <a:srgbClr val="0B3D5C"/>
                </a:solidFill>
                <a:latin typeface="Cambria Math"/>
              </a:rPr>
              <a:t>0</a:t>
            </a:r>
            <a:r>
              <a:rPr sz="2200" b="1" i="0">
                <a:solidFill>
                  <a:srgbClr val="0B3D5C"/>
                </a:solidFill>
                <a:latin typeface="Cambria Math"/>
              </a:rPr>
              <a:t>P</a:t>
            </a:r>
          </a:p>
        </p:txBody>
      </p:sp>
      <p:sp>
        <p:nvSpPr>
          <p:cNvPr id="31" name="TextBox 30"/>
          <p:cNvSpPr txBox="1"/>
          <p:nvPr/>
        </p:nvSpPr>
        <p:spPr>
          <a:xfrm>
            <a:off x="6144768" y="3621024"/>
            <a:ext cx="5742432" cy="402336"/>
          </a:xfrm>
          <a:prstGeom prst="rect">
            <a:avLst/>
          </a:prstGeom>
          <a:noFill/>
        </p:spPr>
        <p:txBody>
          <a:bodyPr wrap="square" lIns="54864" rIns="54864" tIns="27432" bIns="18288">
            <a:spAutoFit/>
          </a:bodyPr>
          <a:lstStyle/>
          <a:p>
            <a:pPr algn="ctr">
              <a:spcBef>
                <a:spcPts val="0"/>
              </a:spcBef>
              <a:spcAft>
                <a:spcPts val="0"/>
              </a:spcAft>
            </a:pPr>
            <a:r>
              <a:rPr sz="1200" b="0" i="0">
                <a:solidFill>
                  <a:srgbClr val="4B5563"/>
                </a:solidFill>
                <a:latin typeface="Calibri"/>
              </a:rPr>
              <a:t>w₀P: treadmilling transport      v: friction/active-stress velocity</a:t>
            </a:r>
          </a:p>
        </p:txBody>
      </p:sp>
      <p:sp>
        <p:nvSpPr>
          <p:cNvPr id="32" name="Rounded Rectangle 31"/>
          <p:cNvSpPr/>
          <p:nvPr/>
        </p:nvSpPr>
        <p:spPr>
          <a:xfrm>
            <a:off x="6144768" y="4041648"/>
            <a:ext cx="5742432" cy="548640"/>
          </a:xfrm>
          <a:prstGeom prst="roundRect">
            <a:avLst>
              <a:gd name="adj" fmla="val 12000"/>
            </a:avLst>
          </a:prstGeom>
          <a:solidFill>
            <a:srgbClr val="EFF5F7"/>
          </a:solidFill>
          <a:ln w="15875">
            <a:solidFill>
              <a:srgbClr val="1A7A6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144768" y="4041648"/>
            <a:ext cx="5742432" cy="548640"/>
          </a:xfrm>
          <a:prstGeom prst="rect">
            <a:avLst/>
          </a:prstGeom>
          <a:noFill/>
        </p:spPr>
        <p:txBody>
          <a:bodyPr wrap="square" lIns="54864" rIns="54864" tIns="27432" bIns="18288" anchor="ctr">
            <a:spAutoFit/>
          </a:bodyPr>
          <a:lstStyle/>
          <a:p>
            <a:pPr algn="ctr">
              <a:spcBef>
                <a:spcPts val="0"/>
              </a:spcBef>
              <a:spcAft>
                <a:spcPts val="300"/>
              </a:spcAft>
            </a:pPr>
            <a:r>
              <a:rPr sz="1800" b="0" i="0">
                <a:solidFill>
                  <a:srgbClr val="0B3D5C"/>
                </a:solidFill>
                <a:latin typeface="Cambria Math"/>
              </a:rPr>
              <a:t>σ</a:t>
            </a:r>
            <a:r>
              <a:rPr sz="1800" b="0" i="0" baseline="-25000">
                <a:solidFill>
                  <a:srgbClr val="0B3D5C"/>
                </a:solidFill>
                <a:latin typeface="Cambria Math"/>
              </a:rPr>
              <a:t>act</a:t>
            </a:r>
            <a:r>
              <a:rPr sz="1800" b="0" i="0">
                <a:solidFill>
                  <a:srgbClr val="0B3D5C"/>
                </a:solidFill>
                <a:latin typeface="Cambria Math"/>
              </a:rPr>
              <a:t>  =  −ζ φ </a:t>
            </a:r>
            <a:r>
              <a:rPr sz="2000" b="1" i="0">
                <a:solidFill>
                  <a:srgbClr val="0B3D5C"/>
                </a:solidFill>
                <a:latin typeface="Cambria Math"/>
              </a:rPr>
              <a:t>P</a:t>
            </a:r>
            <a:r>
              <a:rPr sz="2000" b="1" i="0">
                <a:solidFill>
                  <a:srgbClr val="0B3D5C"/>
                </a:solidFill>
                <a:latin typeface="Cambria Math"/>
              </a:rPr>
              <a:t>P</a:t>
            </a:r>
          </a:p>
        </p:txBody>
      </p:sp>
      <p:sp>
        <p:nvSpPr>
          <p:cNvPr id="34" name="TextBox 33"/>
          <p:cNvSpPr txBox="1"/>
          <p:nvPr/>
        </p:nvSpPr>
        <p:spPr>
          <a:xfrm>
            <a:off x="6144768" y="4608576"/>
            <a:ext cx="5742432" cy="274320"/>
          </a:xfrm>
          <a:prstGeom prst="rect">
            <a:avLst/>
          </a:prstGeom>
          <a:noFill/>
        </p:spPr>
        <p:txBody>
          <a:bodyPr wrap="square" lIns="54864" rIns="54864" tIns="27432" bIns="18288">
            <a:spAutoFit/>
          </a:bodyPr>
          <a:lstStyle/>
          <a:p>
            <a:pPr algn="ctr">
              <a:spcBef>
                <a:spcPts val="0"/>
              </a:spcBef>
              <a:spcAft>
                <a:spcPts val="0"/>
              </a:spcAft>
            </a:pPr>
            <a:r>
              <a:rPr sz="1200" b="0" i="0">
                <a:solidFill>
                  <a:srgbClr val="4B5563"/>
                </a:solidFill>
                <a:latin typeface="Calibri"/>
              </a:rPr>
              <a:t>convention: ζ &lt; 0  is contractile</a:t>
            </a:r>
          </a:p>
        </p:txBody>
      </p:sp>
      <p:sp>
        <p:nvSpPr>
          <p:cNvPr id="35" name="Rounded Rectangle 34"/>
          <p:cNvSpPr/>
          <p:nvPr/>
        </p:nvSpPr>
        <p:spPr>
          <a:xfrm>
            <a:off x="6144768" y="4937760"/>
            <a:ext cx="2743200" cy="530352"/>
          </a:xfrm>
          <a:prstGeom prst="roundRect">
            <a:avLst>
              <a:gd name="adj" fmla="val 12000"/>
            </a:avLst>
          </a:prstGeom>
          <a:solidFill>
            <a:srgbClr val="EFF5F7"/>
          </a:solidFill>
          <a:ln w="15875">
            <a:solidFill>
              <a:srgbClr val="1A7A6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144768" y="4937760"/>
            <a:ext cx="2743200" cy="530352"/>
          </a:xfrm>
          <a:prstGeom prst="rect">
            <a:avLst/>
          </a:prstGeom>
          <a:noFill/>
        </p:spPr>
        <p:txBody>
          <a:bodyPr wrap="square" lIns="54864" rIns="54864" tIns="27432" bIns="18288" anchor="ctr">
            <a:spAutoFit/>
          </a:bodyPr>
          <a:lstStyle/>
          <a:p>
            <a:pPr algn="ctr">
              <a:spcBef>
                <a:spcPts val="0"/>
              </a:spcBef>
              <a:spcAft>
                <a:spcPts val="300"/>
              </a:spcAft>
            </a:pPr>
            <a:r>
              <a:rPr sz="2000" b="0" i="0">
                <a:solidFill>
                  <a:srgbClr val="0B3D5C"/>
                </a:solidFill>
                <a:latin typeface="Cambria Math"/>
              </a:rPr>
              <a:t>−ξ </a:t>
            </a:r>
            <a:r>
              <a:rPr sz="2000" b="1" i="0">
                <a:solidFill>
                  <a:srgbClr val="0B3D5C"/>
                </a:solidFill>
                <a:latin typeface="Cambria Math"/>
              </a:rPr>
              <a:t>v</a:t>
            </a:r>
          </a:p>
        </p:txBody>
      </p:sp>
      <p:sp>
        <p:nvSpPr>
          <p:cNvPr id="37" name="TextBox 36"/>
          <p:cNvSpPr txBox="1"/>
          <p:nvPr/>
        </p:nvSpPr>
        <p:spPr>
          <a:xfrm>
            <a:off x="9025128" y="4937760"/>
            <a:ext cx="2862072" cy="530352"/>
          </a:xfrm>
          <a:prstGeom prst="rect">
            <a:avLst/>
          </a:prstGeom>
          <a:noFill/>
        </p:spPr>
        <p:txBody>
          <a:bodyPr wrap="square" lIns="54864" rIns="54864" tIns="27432" bIns="18288" anchor="ctr">
            <a:spAutoFit/>
          </a:bodyPr>
          <a:lstStyle/>
          <a:p>
            <a:pPr algn="l">
              <a:spcBef>
                <a:spcPts val="0"/>
              </a:spcBef>
              <a:spcAft>
                <a:spcPts val="0"/>
              </a:spcAft>
            </a:pPr>
            <a:r>
              <a:rPr sz="1250" b="0" i="0">
                <a:solidFill>
                  <a:srgbClr val="1F2937"/>
                </a:solidFill>
                <a:latin typeface="Calibri"/>
              </a:rPr>
              <a:t>strong adhesion → larger ξ</a:t>
            </a:r>
          </a:p>
        </p:txBody>
      </p:sp>
      <p:sp>
        <p:nvSpPr>
          <p:cNvPr id="38" name="TextBox 37"/>
          <p:cNvSpPr txBox="1"/>
          <p:nvPr/>
        </p:nvSpPr>
        <p:spPr>
          <a:xfrm>
            <a:off x="320040" y="6419088"/>
            <a:ext cx="11521440" cy="201168"/>
          </a:xfrm>
          <a:prstGeom prst="rect">
            <a:avLst/>
          </a:prstGeom>
          <a:noFill/>
        </p:spPr>
        <p:txBody>
          <a:bodyPr wrap="square" lIns="54864" rIns="54864" tIns="27432" bIns="18288">
            <a:spAutoFit/>
          </a:bodyPr>
          <a:lstStyle/>
          <a:p>
            <a:pPr algn="ctr">
              <a:spcBef>
                <a:spcPts val="0"/>
              </a:spcBef>
              <a:spcAft>
                <a:spcPts val="0"/>
              </a:spcAft>
            </a:pPr>
            <a:r>
              <a:rPr sz="950" b="0" i="0">
                <a:solidFill>
                  <a:srgbClr val="4B5563"/>
                </a:solidFill>
                <a:latin typeface="Calibri"/>
              </a:rPr>
              <a:t>Tjhung et al., Nat. Commun. 2015  ·  Leoni &amp; Sens, PRL 2017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86384"/>
          </a:xfrm>
          <a:prstGeom prst="rect">
            <a:avLst/>
          </a:prstGeom>
          <a:solidFill>
            <a:srgbClr val="0B3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86384"/>
            <a:ext cx="12191695" cy="45720"/>
          </a:xfrm>
          <a:prstGeom prst="rect">
            <a:avLst/>
          </a:prstGeom>
          <a:solidFill>
            <a:srgbClr val="1A7A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338560" cy="420624"/>
          </a:xfrm>
          <a:prstGeom prst="rect">
            <a:avLst/>
          </a:prstGeom>
          <a:noFill/>
        </p:spPr>
        <p:txBody>
          <a:bodyPr wrap="square" lIns="54864" rIns="54864" tIns="27432" bIns="18288">
            <a:spAutoFit/>
          </a:bodyPr>
          <a:lstStyle/>
          <a:p>
            <a:pPr algn="l">
              <a:spcBef>
                <a:spcPts val="0"/>
              </a:spcBef>
              <a:spcAft>
                <a:spcPts val="0"/>
              </a:spcAft>
            </a:pPr>
            <a:r>
              <a:rPr sz="2500" b="1" i="0">
                <a:solidFill>
                  <a:srgbClr val="FFFFFF"/>
                </a:solidFill>
                <a:latin typeface="Calibri"/>
              </a:rPr>
              <a:t>The model: shape, polarity and mechanics</a:t>
            </a:r>
          </a:p>
        </p:txBody>
      </p:sp>
      <p:sp>
        <p:nvSpPr>
          <p:cNvPr id="6" name="Rectangle 5"/>
          <p:cNvSpPr/>
          <p:nvPr/>
        </p:nvSpPr>
        <p:spPr>
          <a:xfrm>
            <a:off x="0" y="6601968"/>
            <a:ext cx="12191695" cy="256032"/>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0040" y="6601968"/>
            <a:ext cx="9601200" cy="237744"/>
          </a:xfrm>
          <a:prstGeom prst="rect">
            <a:avLst/>
          </a:prstGeom>
          <a:noFill/>
        </p:spPr>
        <p:txBody>
          <a:bodyPr wrap="square" lIns="54864" rIns="54864" tIns="27432" bIns="18288">
            <a:spAutoFit/>
          </a:bodyPr>
          <a:lstStyle/>
          <a:p>
            <a:pPr algn="l">
              <a:spcBef>
                <a:spcPts val="0"/>
              </a:spcBef>
              <a:spcAft>
                <a:spcPts val="0"/>
              </a:spcAft>
            </a:pPr>
            <a:r>
              <a:rPr sz="1100" b="0" i="0">
                <a:solidFill>
                  <a:srgbClr val="4B5563"/>
                </a:solidFill>
                <a:latin typeface="Calibri"/>
              </a:rPr>
              <a:t>PYD411  ·  Mid-term  ·  Dept of Physics, IIT Delhi  ·  Siddharth Kumar &amp; Soumik Roy</a:t>
            </a:r>
          </a:p>
        </p:txBody>
      </p:sp>
      <p:sp>
        <p:nvSpPr>
          <p:cNvPr id="8" name="TextBox 7"/>
          <p:cNvSpPr txBox="1"/>
          <p:nvPr/>
        </p:nvSpPr>
        <p:spPr>
          <a:xfrm>
            <a:off x="10607040" y="6601968"/>
            <a:ext cx="1280160" cy="237744"/>
          </a:xfrm>
          <a:prstGeom prst="rect">
            <a:avLst/>
          </a:prstGeom>
          <a:noFill/>
        </p:spPr>
        <p:txBody>
          <a:bodyPr wrap="square" lIns="54864" rIns="54864" tIns="27432" bIns="18288">
            <a:spAutoFit/>
          </a:bodyPr>
          <a:lstStyle/>
          <a:p>
            <a:pPr algn="r">
              <a:spcBef>
                <a:spcPts val="0"/>
              </a:spcBef>
              <a:spcAft>
                <a:spcPts val="0"/>
              </a:spcAft>
            </a:pPr>
            <a:r>
              <a:rPr sz="1100" b="0" i="0">
                <a:solidFill>
                  <a:srgbClr val="4B5563"/>
                </a:solidFill>
                <a:latin typeface="Calibri"/>
              </a:rPr>
              <a:t>3 / 10</a:t>
            </a:r>
          </a:p>
        </p:txBody>
      </p:sp>
      <p:sp>
        <p:nvSpPr>
          <p:cNvPr id="9" name="Rounded Rectangle 8"/>
          <p:cNvSpPr/>
          <p:nvPr/>
        </p:nvSpPr>
        <p:spPr>
          <a:xfrm>
            <a:off x="320040" y="932688"/>
            <a:ext cx="11548872" cy="566928"/>
          </a:xfrm>
          <a:prstGeom prst="roundRect">
            <a:avLst>
              <a:gd name="adj" fmla="val 12000"/>
            </a:avLst>
          </a:prstGeom>
          <a:solidFill>
            <a:srgbClr val="EFF5F7"/>
          </a:solidFill>
          <a:ln w="15875">
            <a:solidFill>
              <a:srgbClr val="1A7A6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 y="932688"/>
            <a:ext cx="11548872" cy="566928"/>
          </a:xfrm>
          <a:prstGeom prst="rect">
            <a:avLst/>
          </a:prstGeom>
          <a:noFill/>
        </p:spPr>
        <p:txBody>
          <a:bodyPr wrap="square" lIns="54864" rIns="54864" tIns="27432" bIns="18288" anchor="ctr">
            <a:spAutoFit/>
          </a:bodyPr>
          <a:lstStyle/>
          <a:p>
            <a:pPr algn="ctr">
              <a:spcBef>
                <a:spcPts val="0"/>
              </a:spcBef>
              <a:spcAft>
                <a:spcPts val="300"/>
              </a:spcAft>
            </a:pPr>
            <a:r>
              <a:rPr sz="2000" b="0" i="1">
                <a:solidFill>
                  <a:srgbClr val="0B3D5C"/>
                </a:solidFill>
                <a:latin typeface="Cambria Math"/>
              </a:rPr>
              <a:t>F</a:t>
            </a:r>
            <a:r>
              <a:rPr sz="1800" b="0" i="0">
                <a:solidFill>
                  <a:srgbClr val="0B3D5C"/>
                </a:solidFill>
                <a:latin typeface="Cambria Math"/>
              </a:rPr>
              <a:t>  =  F</a:t>
            </a:r>
            <a:r>
              <a:rPr sz="1500" b="0" i="0" baseline="-25000">
                <a:solidFill>
                  <a:srgbClr val="0B3D5C"/>
                </a:solidFill>
                <a:latin typeface="Cambria Math"/>
              </a:rPr>
              <a:t>interface</a:t>
            </a:r>
            <a:r>
              <a:rPr sz="1800" b="0" i="0">
                <a:solidFill>
                  <a:srgbClr val="0B3D5C"/>
                </a:solidFill>
                <a:latin typeface="Cambria Math"/>
              </a:rPr>
              <a:t>  +  F</a:t>
            </a:r>
            <a:r>
              <a:rPr sz="1500" b="0" i="0" baseline="-25000">
                <a:solidFill>
                  <a:srgbClr val="0B3D5C"/>
                </a:solidFill>
                <a:latin typeface="Cambria Math"/>
              </a:rPr>
              <a:t>polar</a:t>
            </a:r>
            <a:r>
              <a:rPr sz="1800" b="0" i="0">
                <a:solidFill>
                  <a:srgbClr val="0B3D5C"/>
                </a:solidFill>
                <a:latin typeface="Cambria Math"/>
              </a:rPr>
              <a:t>  +  F</a:t>
            </a:r>
            <a:r>
              <a:rPr sz="1500" b="0" i="0" baseline="-25000">
                <a:solidFill>
                  <a:srgbClr val="0B3D5C"/>
                </a:solidFill>
                <a:latin typeface="Cambria Math"/>
              </a:rPr>
              <a:t>Frank</a:t>
            </a:r>
            <a:r>
              <a:rPr sz="1800" b="0" i="0">
                <a:solidFill>
                  <a:srgbClr val="0B3D5C"/>
                </a:solidFill>
                <a:latin typeface="Cambria Math"/>
              </a:rPr>
              <a:t>  +  F</a:t>
            </a:r>
            <a:r>
              <a:rPr sz="1500" b="0" i="0" baseline="-25000">
                <a:solidFill>
                  <a:srgbClr val="0B3D5C"/>
                </a:solidFill>
                <a:latin typeface="Cambria Math"/>
              </a:rPr>
              <a:t>anchor</a:t>
            </a:r>
            <a:r>
              <a:rPr sz="1800" b="0" i="0">
                <a:solidFill>
                  <a:srgbClr val="0B3D5C"/>
                </a:solidFill>
                <a:latin typeface="Cambria Math"/>
              </a:rPr>
              <a:t>  +  F</a:t>
            </a:r>
            <a:r>
              <a:rPr sz="1500" b="0" i="0" baseline="-25000">
                <a:solidFill>
                  <a:srgbClr val="0B3D5C"/>
                </a:solidFill>
                <a:latin typeface="Cambria Math"/>
              </a:rPr>
              <a:t>area/volume</a:t>
            </a:r>
          </a:p>
        </p:txBody>
      </p:sp>
      <p:sp>
        <p:nvSpPr>
          <p:cNvPr id="11" name="TextBox 10"/>
          <p:cNvSpPr txBox="1"/>
          <p:nvPr/>
        </p:nvSpPr>
        <p:spPr>
          <a:xfrm>
            <a:off x="411480" y="1645920"/>
            <a:ext cx="11338560" cy="365760"/>
          </a:xfrm>
          <a:prstGeom prst="rect">
            <a:avLst/>
          </a:prstGeom>
          <a:noFill/>
        </p:spPr>
        <p:txBody>
          <a:bodyPr wrap="square" lIns="54864" rIns="54864" tIns="27432" bIns="18288">
            <a:spAutoFit/>
          </a:bodyPr>
          <a:lstStyle/>
          <a:p>
            <a:pPr algn="l">
              <a:spcAft>
                <a:spcPts val="0"/>
              </a:spcAft>
            </a:pPr>
            <a:r>
              <a:rPr sz="1400" b="1" i="0">
                <a:solidFill>
                  <a:srgbClr val="1A7A6D"/>
                </a:solidFill>
                <a:latin typeface="Calibri"/>
              </a:rPr>
              <a:t>Double-well:  </a:t>
            </a:r>
            <a:r>
              <a:rPr sz="1400" b="0" i="0">
                <a:solidFill>
                  <a:srgbClr val="1F2937"/>
                </a:solidFill>
                <a:latin typeface="Calibri"/>
              </a:rPr>
              <a:t>separates cell (φ≈1) from outside (φ≈0)</a:t>
            </a:r>
          </a:p>
        </p:txBody>
      </p:sp>
      <p:sp>
        <p:nvSpPr>
          <p:cNvPr id="12" name="TextBox 11"/>
          <p:cNvSpPr txBox="1"/>
          <p:nvPr/>
        </p:nvSpPr>
        <p:spPr>
          <a:xfrm>
            <a:off x="411480" y="2011680"/>
            <a:ext cx="11338560" cy="365760"/>
          </a:xfrm>
          <a:prstGeom prst="rect">
            <a:avLst/>
          </a:prstGeom>
          <a:noFill/>
        </p:spPr>
        <p:txBody>
          <a:bodyPr wrap="square" lIns="54864" rIns="54864" tIns="27432" bIns="18288">
            <a:spAutoFit/>
          </a:bodyPr>
          <a:lstStyle/>
          <a:p>
            <a:pPr algn="l">
              <a:spcAft>
                <a:spcPts val="0"/>
              </a:spcAft>
            </a:pPr>
            <a:r>
              <a:rPr sz="1400" b="1" i="0">
                <a:solidFill>
                  <a:srgbClr val="1A7A6D"/>
                </a:solidFill>
                <a:latin typeface="Calibri"/>
              </a:rPr>
              <a:t>Surface tension:  </a:t>
            </a:r>
            <a:r>
              <a:rPr sz="1400" b="0" i="0">
                <a:solidFill>
                  <a:srgbClr val="1F2937"/>
                </a:solidFill>
                <a:latin typeface="Calibri"/>
              </a:rPr>
              <a:t>gives the cell boundary an energetic cost</a:t>
            </a:r>
          </a:p>
        </p:txBody>
      </p:sp>
      <p:sp>
        <p:nvSpPr>
          <p:cNvPr id="13" name="TextBox 12"/>
          <p:cNvSpPr txBox="1"/>
          <p:nvPr/>
        </p:nvSpPr>
        <p:spPr>
          <a:xfrm>
            <a:off x="411480" y="2377440"/>
            <a:ext cx="11338560" cy="365760"/>
          </a:xfrm>
          <a:prstGeom prst="rect">
            <a:avLst/>
          </a:prstGeom>
          <a:noFill/>
        </p:spPr>
        <p:txBody>
          <a:bodyPr wrap="square" lIns="54864" rIns="54864" tIns="27432" bIns="18288">
            <a:spAutoFit/>
          </a:bodyPr>
          <a:lstStyle/>
          <a:p>
            <a:pPr algn="l">
              <a:spcAft>
                <a:spcPts val="0"/>
              </a:spcAft>
            </a:pPr>
            <a:r>
              <a:rPr sz="1400" b="1" i="0">
                <a:solidFill>
                  <a:srgbClr val="1A7A6D"/>
                </a:solidFill>
                <a:latin typeface="Calibri"/>
              </a:rPr>
              <a:t>Polar order:  </a:t>
            </a:r>
            <a:r>
              <a:rPr sz="1400" b="0" i="0">
                <a:solidFill>
                  <a:srgbClr val="1F2937"/>
                </a:solidFill>
                <a:latin typeface="Calibri"/>
              </a:rPr>
              <a:t>favours |P| inside the cell</a:t>
            </a:r>
          </a:p>
        </p:txBody>
      </p:sp>
      <p:sp>
        <p:nvSpPr>
          <p:cNvPr id="14" name="TextBox 13"/>
          <p:cNvSpPr txBox="1"/>
          <p:nvPr/>
        </p:nvSpPr>
        <p:spPr>
          <a:xfrm>
            <a:off x="411480" y="2743200"/>
            <a:ext cx="11338560" cy="365760"/>
          </a:xfrm>
          <a:prstGeom prst="rect">
            <a:avLst/>
          </a:prstGeom>
          <a:noFill/>
        </p:spPr>
        <p:txBody>
          <a:bodyPr wrap="square" lIns="54864" rIns="54864" tIns="27432" bIns="18288">
            <a:spAutoFit/>
          </a:bodyPr>
          <a:lstStyle/>
          <a:p>
            <a:pPr algn="l">
              <a:spcAft>
                <a:spcPts val="0"/>
              </a:spcAft>
            </a:pPr>
            <a:r>
              <a:rPr sz="1400" b="1" i="0">
                <a:solidFill>
                  <a:srgbClr val="1A7A6D"/>
                </a:solidFill>
                <a:latin typeface="Calibri"/>
              </a:rPr>
              <a:t>Frank elasticity:  </a:t>
            </a:r>
            <a:r>
              <a:rPr sz="1400" b="0" i="0">
                <a:solidFill>
                  <a:srgbClr val="1F2937"/>
                </a:solidFill>
                <a:latin typeface="Calibri"/>
              </a:rPr>
              <a:t>penalises strong spatial variation of P</a:t>
            </a:r>
          </a:p>
        </p:txBody>
      </p:sp>
      <p:sp>
        <p:nvSpPr>
          <p:cNvPr id="15" name="TextBox 14"/>
          <p:cNvSpPr txBox="1"/>
          <p:nvPr/>
        </p:nvSpPr>
        <p:spPr>
          <a:xfrm>
            <a:off x="411480" y="3108960"/>
            <a:ext cx="11338560" cy="365760"/>
          </a:xfrm>
          <a:prstGeom prst="rect">
            <a:avLst/>
          </a:prstGeom>
          <a:noFill/>
        </p:spPr>
        <p:txBody>
          <a:bodyPr wrap="square" lIns="54864" rIns="54864" tIns="27432" bIns="18288">
            <a:spAutoFit/>
          </a:bodyPr>
          <a:lstStyle/>
          <a:p>
            <a:pPr algn="l">
              <a:spcAft>
                <a:spcPts val="0"/>
              </a:spcAft>
            </a:pPr>
            <a:r>
              <a:rPr sz="1400" b="1" i="0">
                <a:solidFill>
                  <a:srgbClr val="1A7A6D"/>
                </a:solidFill>
                <a:latin typeface="Calibri"/>
              </a:rPr>
              <a:t>Anchoring β:  </a:t>
            </a:r>
            <a:r>
              <a:rPr sz="1400" b="0" i="0">
                <a:solidFill>
                  <a:srgbClr val="1F2937"/>
                </a:solidFill>
                <a:latin typeface="Calibri"/>
              </a:rPr>
              <a:t>couples P to the cell edge and controls morphology</a:t>
            </a:r>
          </a:p>
        </p:txBody>
      </p:sp>
      <p:sp>
        <p:nvSpPr>
          <p:cNvPr id="16" name="Rounded Rectangle 15"/>
          <p:cNvSpPr/>
          <p:nvPr/>
        </p:nvSpPr>
        <p:spPr>
          <a:xfrm>
            <a:off x="320040" y="3584448"/>
            <a:ext cx="8229600" cy="566928"/>
          </a:xfrm>
          <a:prstGeom prst="roundRect">
            <a:avLst>
              <a:gd name="adj" fmla="val 12000"/>
            </a:avLst>
          </a:prstGeom>
          <a:solidFill>
            <a:srgbClr val="EFF5F7"/>
          </a:solidFill>
          <a:ln w="15875">
            <a:solidFill>
              <a:srgbClr val="1A7A6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0040" y="3584448"/>
            <a:ext cx="8229600" cy="566928"/>
          </a:xfrm>
          <a:prstGeom prst="rect">
            <a:avLst/>
          </a:prstGeom>
          <a:noFill/>
        </p:spPr>
        <p:txBody>
          <a:bodyPr wrap="square" lIns="54864" rIns="54864" tIns="27432" bIns="18288" anchor="ctr">
            <a:spAutoFit/>
          </a:bodyPr>
          <a:lstStyle/>
          <a:p>
            <a:pPr algn="ctr">
              <a:spcBef>
                <a:spcPts val="0"/>
              </a:spcBef>
              <a:spcAft>
                <a:spcPts val="300"/>
              </a:spcAft>
            </a:pPr>
            <a:r>
              <a:rPr sz="1700" b="0" i="0">
                <a:solidFill>
                  <a:srgbClr val="0B3D5C"/>
                </a:solidFill>
                <a:latin typeface="Cambria Math"/>
              </a:rPr>
              <a:t>0  =  −∇p  +  η∇</a:t>
            </a:r>
            <a:r>
              <a:rPr sz="1700" b="0" i="0" baseline="30000">
                <a:solidFill>
                  <a:srgbClr val="0B3D5C"/>
                </a:solidFill>
                <a:latin typeface="Cambria Math"/>
              </a:rPr>
              <a:t>2</a:t>
            </a:r>
            <a:r>
              <a:rPr sz="1800" b="1" i="0">
                <a:solidFill>
                  <a:srgbClr val="0B3D5C"/>
                </a:solidFill>
                <a:latin typeface="Cambria Math"/>
              </a:rPr>
              <a:t>v</a:t>
            </a:r>
            <a:r>
              <a:rPr sz="1700" b="0" i="0">
                <a:solidFill>
                  <a:srgbClr val="0B3D5C"/>
                </a:solidFill>
                <a:latin typeface="Cambria Math"/>
              </a:rPr>
              <a:t>  −  ξ</a:t>
            </a:r>
            <a:r>
              <a:rPr sz="1800" b="1" i="0">
                <a:solidFill>
                  <a:srgbClr val="0B3D5C"/>
                </a:solidFill>
                <a:latin typeface="Cambria Math"/>
              </a:rPr>
              <a:t>v</a:t>
            </a:r>
            <a:r>
              <a:rPr sz="1700" b="1" i="1">
                <a:solidFill>
                  <a:srgbClr val="0B3D5C"/>
                </a:solidFill>
                <a:latin typeface="Cambria Math"/>
              </a:rPr>
              <a:t>  +  f</a:t>
            </a:r>
          </a:p>
        </p:txBody>
      </p:sp>
      <p:sp>
        <p:nvSpPr>
          <p:cNvPr id="18" name="Rounded Rectangle 17"/>
          <p:cNvSpPr/>
          <p:nvPr/>
        </p:nvSpPr>
        <p:spPr>
          <a:xfrm>
            <a:off x="8732520" y="3584448"/>
            <a:ext cx="3136392" cy="566928"/>
          </a:xfrm>
          <a:prstGeom prst="roundRect">
            <a:avLst>
              <a:gd name="adj" fmla="val 12000"/>
            </a:avLst>
          </a:prstGeom>
          <a:solidFill>
            <a:srgbClr val="EFF5F7"/>
          </a:solidFill>
          <a:ln w="15875">
            <a:solidFill>
              <a:srgbClr val="1A7A6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732520" y="3584448"/>
            <a:ext cx="3136392" cy="566928"/>
          </a:xfrm>
          <a:prstGeom prst="rect">
            <a:avLst/>
          </a:prstGeom>
          <a:noFill/>
        </p:spPr>
        <p:txBody>
          <a:bodyPr wrap="square" lIns="54864" rIns="54864" tIns="27432" bIns="18288" anchor="ctr">
            <a:spAutoFit/>
          </a:bodyPr>
          <a:lstStyle/>
          <a:p>
            <a:pPr algn="ctr">
              <a:spcBef>
                <a:spcPts val="0"/>
              </a:spcBef>
              <a:spcAft>
                <a:spcPts val="300"/>
              </a:spcAft>
            </a:pPr>
            <a:r>
              <a:rPr sz="1800" b="0" i="0">
                <a:solidFill>
                  <a:srgbClr val="0B3D5C"/>
                </a:solidFill>
                <a:latin typeface="Cambria Math"/>
              </a:rPr>
              <a:t>Re  ∼  10</a:t>
            </a:r>
            <a:r>
              <a:rPr sz="1300" b="0" i="0">
                <a:solidFill>
                  <a:srgbClr val="0B3D5C"/>
                </a:solidFill>
                <a:latin typeface="Cambria Math"/>
              </a:rPr>
              <a:t>−5</a:t>
            </a:r>
          </a:p>
        </p:txBody>
      </p:sp>
      <p:sp>
        <p:nvSpPr>
          <p:cNvPr id="20" name="TextBox 19"/>
          <p:cNvSpPr txBox="1"/>
          <p:nvPr/>
        </p:nvSpPr>
        <p:spPr>
          <a:xfrm>
            <a:off x="320040" y="4187952"/>
            <a:ext cx="11548872" cy="237744"/>
          </a:xfrm>
          <a:prstGeom prst="rect">
            <a:avLst/>
          </a:prstGeom>
          <a:noFill/>
        </p:spPr>
        <p:txBody>
          <a:bodyPr wrap="square" lIns="54864" rIns="54864" tIns="27432" bIns="18288">
            <a:spAutoFit/>
          </a:bodyPr>
          <a:lstStyle/>
          <a:p>
            <a:pPr algn="ctr">
              <a:spcBef>
                <a:spcPts val="0"/>
              </a:spcBef>
              <a:spcAft>
                <a:spcPts val="0"/>
              </a:spcAft>
            </a:pPr>
            <a:r>
              <a:rPr sz="1250" b="0" i="0">
                <a:solidFill>
                  <a:srgbClr val="4B5563"/>
                </a:solidFill>
                <a:latin typeface="Calibri"/>
              </a:rPr>
              <a:t>Stokes force balance — inertia is negligible at the cell scale</a:t>
            </a:r>
          </a:p>
        </p:txBody>
      </p:sp>
      <p:graphicFrame>
        <p:nvGraphicFramePr>
          <p:cNvPr id="21" name="Table 20"/>
          <p:cNvGraphicFramePr>
            <a:graphicFrameLocks noGrp="1"/>
          </p:cNvGraphicFramePr>
          <p:nvPr/>
        </p:nvGraphicFramePr>
        <p:xfrm>
          <a:off x="320040" y="4590288"/>
          <a:ext cx="11548872" cy="1600200"/>
        </p:xfrm>
        <a:graphic>
          <a:graphicData uri="http://schemas.openxmlformats.org/drawingml/2006/table">
            <a:tbl>
              <a:tblPr firstRow="1" bandRow="1">
                <a:tableStyleId>{5C22544A-7EE6-4342-B048-85BDC9FD1C3A}</a:tableStyleId>
              </a:tblPr>
              <a:tblGrid>
                <a:gridCol w="868680"/>
                <a:gridCol w="3246120"/>
                <a:gridCol w="4279392"/>
                <a:gridCol w="3154680"/>
              </a:tblGrid>
              <a:tr h="320040">
                <a:tc>
                  <a:txBody>
                    <a:bodyPr/>
                    <a:lstStyle/>
                    <a:p>
                      <a:pPr algn="ctr"/>
                      <a:r>
                        <a:rPr sz="1300" b="1">
                          <a:solidFill>
                            <a:srgbClr val="FFFFFF"/>
                          </a:solidFill>
                          <a:latin typeface="Calibri"/>
                        </a:rPr>
                        <a:t>Ver.</a:t>
                      </a:r>
                    </a:p>
                  </a:txBody>
                  <a:tcPr anchor="ctr">
                    <a:solidFill>
                      <a:srgbClr val="0B3D5C"/>
                    </a:solidFill>
                  </a:tcPr>
                </a:tc>
                <a:tc>
                  <a:txBody>
                    <a:bodyPr/>
                    <a:lstStyle/>
                    <a:p>
                      <a:pPr algn="ctr"/>
                      <a:r>
                        <a:rPr sz="1300" b="1">
                          <a:solidFill>
                            <a:srgbClr val="FFFFFF"/>
                          </a:solidFill>
                          <a:latin typeface="Calibri"/>
                        </a:rPr>
                        <a:t>Geometry</a:t>
                      </a:r>
                    </a:p>
                  </a:txBody>
                  <a:tcPr anchor="ctr">
                    <a:solidFill>
                      <a:srgbClr val="0B3D5C"/>
                    </a:solidFill>
                  </a:tcPr>
                </a:tc>
                <a:tc>
                  <a:txBody>
                    <a:bodyPr/>
                    <a:lstStyle/>
                    <a:p>
                      <a:pPr algn="ctr"/>
                      <a:r>
                        <a:rPr sz="1300" b="1">
                          <a:solidFill>
                            <a:srgbClr val="FFFFFF"/>
                          </a:solidFill>
                          <a:latin typeface="Calibri"/>
                        </a:rPr>
                        <a:t>Force balance</a:t>
                      </a:r>
                    </a:p>
                  </a:txBody>
                  <a:tcPr anchor="ctr">
                    <a:solidFill>
                      <a:srgbClr val="0B3D5C"/>
                    </a:solidFill>
                  </a:tcPr>
                </a:tc>
                <a:tc>
                  <a:txBody>
                    <a:bodyPr/>
                    <a:lstStyle/>
                    <a:p>
                      <a:pPr algn="ctr"/>
                      <a:r>
                        <a:rPr sz="1300" b="1">
                          <a:solidFill>
                            <a:srgbClr val="FFFFFF"/>
                          </a:solidFill>
                          <a:latin typeface="Calibri"/>
                        </a:rPr>
                        <a:t>Area / volume</a:t>
                      </a:r>
                    </a:p>
                  </a:txBody>
                  <a:tcPr anchor="ctr">
                    <a:solidFill>
                      <a:srgbClr val="0B3D5C"/>
                    </a:solidFill>
                  </a:tcPr>
                </a:tc>
              </a:tr>
              <a:tr h="320040">
                <a:tc>
                  <a:txBody>
                    <a:bodyPr/>
                    <a:lstStyle/>
                    <a:p>
                      <a:pPr algn="ctr"/>
                      <a:r>
                        <a:rPr sz="1300" b="1">
                          <a:solidFill>
                            <a:srgbClr val="1F2937"/>
                          </a:solidFill>
                          <a:latin typeface="Calibri"/>
                        </a:rPr>
                        <a:t>1</a:t>
                      </a:r>
                    </a:p>
                  </a:txBody>
                  <a:tcPr anchor="ctr">
                    <a:solidFill>
                      <a:srgbClr val="FFFFFF"/>
                    </a:solidFill>
                  </a:tcPr>
                </a:tc>
                <a:tc>
                  <a:txBody>
                    <a:bodyPr/>
                    <a:lstStyle/>
                    <a:p>
                      <a:pPr algn="ctr"/>
                      <a:r>
                        <a:rPr sz="1300" b="0">
                          <a:solidFill>
                            <a:srgbClr val="1F2937"/>
                          </a:solidFill>
                          <a:latin typeface="Calibri"/>
                        </a:rPr>
                        <a:t>Plane</a:t>
                      </a:r>
                    </a:p>
                  </a:txBody>
                  <a:tcPr anchor="ctr">
                    <a:solidFill>
                      <a:srgbClr val="FFFFFF"/>
                    </a:solidFill>
                  </a:tcPr>
                </a:tc>
                <a:tc>
                  <a:txBody>
                    <a:bodyPr/>
                    <a:lstStyle/>
                    <a:p>
                      <a:pPr algn="ctr"/>
                      <a:r>
                        <a:rPr sz="1300" b="0">
                          <a:solidFill>
                            <a:srgbClr val="1F2937"/>
                          </a:solidFill>
                          <a:latin typeface="Calibri"/>
                        </a:rPr>
                        <a:t>v = 0</a:t>
                      </a:r>
                    </a:p>
                  </a:txBody>
                  <a:tcPr anchor="ctr">
                    <a:solidFill>
                      <a:srgbClr val="FFFFFF"/>
                    </a:solidFill>
                  </a:tcPr>
                </a:tc>
                <a:tc>
                  <a:txBody>
                    <a:bodyPr/>
                    <a:lstStyle/>
                    <a:p>
                      <a:pPr algn="ctr"/>
                      <a:r>
                        <a:rPr sz="1300" b="0">
                          <a:solidFill>
                            <a:srgbClr val="1F2937"/>
                          </a:solidFill>
                          <a:latin typeface="Calibri"/>
                        </a:rPr>
                        <a:t>drifts 4.5%</a:t>
                      </a:r>
                    </a:p>
                  </a:txBody>
                  <a:tcPr anchor="ctr">
                    <a:solidFill>
                      <a:srgbClr val="FFFFFF"/>
                    </a:solidFill>
                  </a:tcPr>
                </a:tc>
              </a:tr>
              <a:tr h="320040">
                <a:tc>
                  <a:txBody>
                    <a:bodyPr/>
                    <a:lstStyle/>
                    <a:p>
                      <a:pPr algn="ctr"/>
                      <a:r>
                        <a:rPr sz="1300" b="1">
                          <a:solidFill>
                            <a:srgbClr val="1F2937"/>
                          </a:solidFill>
                          <a:latin typeface="Calibri"/>
                        </a:rPr>
                        <a:t>2</a:t>
                      </a:r>
                    </a:p>
                  </a:txBody>
                  <a:tcPr anchor="ctr">
                    <a:solidFill>
                      <a:srgbClr val="E8F3F1"/>
                    </a:solidFill>
                  </a:tcPr>
                </a:tc>
                <a:tc>
                  <a:txBody>
                    <a:bodyPr/>
                    <a:lstStyle/>
                    <a:p>
                      <a:pPr algn="ctr"/>
                      <a:r>
                        <a:rPr sz="1300" b="0">
                          <a:solidFill>
                            <a:srgbClr val="1F2937"/>
                          </a:solidFill>
                          <a:latin typeface="Calibri"/>
                        </a:rPr>
                        <a:t>Vertical slice + wall</a:t>
                      </a:r>
                    </a:p>
                  </a:txBody>
                  <a:tcPr anchor="ctr">
                    <a:solidFill>
                      <a:srgbClr val="E8F3F1"/>
                    </a:solidFill>
                  </a:tcPr>
                </a:tc>
                <a:tc>
                  <a:txBody>
                    <a:bodyPr/>
                    <a:lstStyle/>
                    <a:p>
                      <a:pPr algn="ctr"/>
                      <a:r>
                        <a:rPr sz="1300" b="0">
                          <a:solidFill>
                            <a:srgbClr val="1F2937"/>
                          </a:solidFill>
                          <a:latin typeface="Calibri"/>
                        </a:rPr>
                        <a:t>Brinkman / screened in z</a:t>
                      </a:r>
                    </a:p>
                  </a:txBody>
                  <a:tcPr anchor="ctr">
                    <a:solidFill>
                      <a:srgbClr val="E8F3F1"/>
                    </a:solidFill>
                  </a:tcPr>
                </a:tc>
                <a:tc>
                  <a:txBody>
                    <a:bodyPr/>
                    <a:lstStyle/>
                    <a:p>
                      <a:pPr algn="ctr"/>
                      <a:r>
                        <a:rPr sz="1300" b="0">
                          <a:solidFill>
                            <a:srgbClr val="1F2937"/>
                          </a:solidFill>
                          <a:latin typeface="Calibri"/>
                        </a:rPr>
                        <a:t>fixed</a:t>
                      </a:r>
                    </a:p>
                  </a:txBody>
                  <a:tcPr anchor="ctr">
                    <a:solidFill>
                      <a:srgbClr val="E8F3F1"/>
                    </a:solidFill>
                  </a:tcPr>
                </a:tc>
              </a:tr>
              <a:tr h="320040">
                <a:tc>
                  <a:txBody>
                    <a:bodyPr/>
                    <a:lstStyle/>
                    <a:p>
                      <a:pPr algn="ctr"/>
                      <a:r>
                        <a:rPr sz="1300" b="1">
                          <a:solidFill>
                            <a:srgbClr val="1F2937"/>
                          </a:solidFill>
                          <a:latin typeface="Calibri"/>
                        </a:rPr>
                        <a:t>3</a:t>
                      </a:r>
                    </a:p>
                  </a:txBody>
                  <a:tcPr anchor="ctr">
                    <a:solidFill>
                      <a:srgbClr val="FFFFFF"/>
                    </a:solidFill>
                  </a:tcPr>
                </a:tc>
                <a:tc>
                  <a:txBody>
                    <a:bodyPr/>
                    <a:lstStyle/>
                    <a:p>
                      <a:pPr algn="ctr"/>
                      <a:r>
                        <a:rPr sz="1300" b="0">
                          <a:solidFill>
                            <a:srgbClr val="1F2937"/>
                          </a:solidFill>
                          <a:latin typeface="Calibri"/>
                        </a:rPr>
                        <a:t>Plane</a:t>
                      </a:r>
                    </a:p>
                  </a:txBody>
                  <a:tcPr anchor="ctr">
                    <a:solidFill>
                      <a:srgbClr val="FFFFFF"/>
                    </a:solidFill>
                  </a:tcPr>
                </a:tc>
                <a:tc>
                  <a:txBody>
                    <a:bodyPr/>
                    <a:lstStyle/>
                    <a:p>
                      <a:pPr algn="ctr"/>
                      <a:r>
                        <a:rPr sz="1300" b="0">
                          <a:solidFill>
                            <a:srgbClr val="1F2937"/>
                          </a:solidFill>
                          <a:latin typeface="Calibri"/>
                        </a:rPr>
                        <a:t>incompressible Stokes</a:t>
                      </a:r>
                    </a:p>
                  </a:txBody>
                  <a:tcPr anchor="ctr">
                    <a:solidFill>
                      <a:srgbClr val="FFFFFF"/>
                    </a:solidFill>
                  </a:tcPr>
                </a:tc>
                <a:tc>
                  <a:txBody>
                    <a:bodyPr/>
                    <a:lstStyle/>
                    <a:p>
                      <a:pPr algn="ctr"/>
                      <a:r>
                        <a:rPr sz="1300" b="0">
                          <a:solidFill>
                            <a:srgbClr val="1F2937"/>
                          </a:solidFill>
                          <a:latin typeface="Calibri"/>
                        </a:rPr>
                        <a:t>fixed</a:t>
                      </a:r>
                    </a:p>
                  </a:txBody>
                  <a:tcPr anchor="ctr">
                    <a:solidFill>
                      <a:srgbClr val="FFFFFF"/>
                    </a:solidFill>
                  </a:tcPr>
                </a:tc>
              </a:tr>
              <a:tr h="320040">
                <a:tc>
                  <a:txBody>
                    <a:bodyPr/>
                    <a:lstStyle/>
                    <a:p>
                      <a:pPr algn="ctr"/>
                      <a:r>
                        <a:rPr sz="1300" b="1">
                          <a:solidFill>
                            <a:srgbClr val="1F2937"/>
                          </a:solidFill>
                          <a:latin typeface="Calibri"/>
                        </a:rPr>
                        <a:t>4</a:t>
                      </a:r>
                    </a:p>
                  </a:txBody>
                  <a:tcPr anchor="ctr">
                    <a:solidFill>
                      <a:srgbClr val="E8F3F1"/>
                    </a:solidFill>
                  </a:tcPr>
                </a:tc>
                <a:tc>
                  <a:txBody>
                    <a:bodyPr/>
                    <a:lstStyle/>
                    <a:p>
                      <a:pPr algn="ctr"/>
                      <a:r>
                        <a:rPr sz="1300" b="0">
                          <a:solidFill>
                            <a:srgbClr val="1F2937"/>
                          </a:solidFill>
                          <a:latin typeface="Calibri"/>
                        </a:rPr>
                        <a:t>Plane</a:t>
                      </a:r>
                    </a:p>
                  </a:txBody>
                  <a:tcPr anchor="ctr">
                    <a:solidFill>
                      <a:srgbClr val="E8F3F1"/>
                    </a:solidFill>
                  </a:tcPr>
                </a:tc>
                <a:tc>
                  <a:txBody>
                    <a:bodyPr/>
                    <a:lstStyle/>
                    <a:p>
                      <a:pPr algn="ctr"/>
                      <a:r>
                        <a:rPr sz="1300" b="0">
                          <a:solidFill>
                            <a:srgbClr val="1F2937"/>
                          </a:solidFill>
                          <a:latin typeface="Calibri"/>
                        </a:rPr>
                        <a:t>friction-dominated  v = f/ξ</a:t>
                      </a:r>
                    </a:p>
                  </a:txBody>
                  <a:tcPr anchor="ctr">
                    <a:solidFill>
                      <a:srgbClr val="E8F3F1"/>
                    </a:solidFill>
                  </a:tcPr>
                </a:tc>
                <a:tc>
                  <a:txBody>
                    <a:bodyPr/>
                    <a:lstStyle/>
                    <a:p>
                      <a:pPr algn="ctr"/>
                      <a:r>
                        <a:rPr sz="1300" b="0">
                          <a:solidFill>
                            <a:srgbClr val="1F2937"/>
                          </a:solidFill>
                          <a:latin typeface="Calibri"/>
                        </a:rPr>
                        <a:t>soft volume</a:t>
                      </a:r>
                    </a:p>
                  </a:txBody>
                  <a:tcPr anchor="ctr">
                    <a:solidFill>
                      <a:srgbClr val="E8F3F1"/>
                    </a:solidFill>
                  </a:tcPr>
                </a:tc>
              </a:tr>
            </a:tbl>
          </a:graphicData>
        </a:graphic>
      </p:graphicFrame>
      <p:sp>
        <p:nvSpPr>
          <p:cNvPr id="22" name="TextBox 21"/>
          <p:cNvSpPr txBox="1"/>
          <p:nvPr/>
        </p:nvSpPr>
        <p:spPr>
          <a:xfrm>
            <a:off x="320040" y="6272784"/>
            <a:ext cx="11548872" cy="292608"/>
          </a:xfrm>
          <a:prstGeom prst="rect">
            <a:avLst/>
          </a:prstGeom>
          <a:noFill/>
        </p:spPr>
        <p:txBody>
          <a:bodyPr wrap="square" lIns="54864" rIns="54864" tIns="27432" bIns="18288">
            <a:spAutoFit/>
          </a:bodyPr>
          <a:lstStyle/>
          <a:p>
            <a:pPr algn="ctr"/>
            <a:r>
              <a:rPr sz="1300" b="1" i="0">
                <a:solidFill>
                  <a:srgbClr val="0B3D5C"/>
                </a:solidFill>
                <a:latin typeface="Calibri"/>
              </a:rPr>
              <a:t>One ingredient at a time → identify what controls the behaviour.   </a:t>
            </a:r>
            <a:r>
              <a:rPr sz="1300" b="0" i="0">
                <a:solidFill>
                  <a:srgbClr val="4B5563"/>
                </a:solidFill>
                <a:latin typeface="Calibri"/>
              </a:rPr>
              <a:t>Goal: many interacting cells → avoid a global Stokes solve.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86384"/>
          </a:xfrm>
          <a:prstGeom prst="rect">
            <a:avLst/>
          </a:prstGeom>
          <a:solidFill>
            <a:srgbClr val="0B3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86384"/>
            <a:ext cx="12191695" cy="45720"/>
          </a:xfrm>
          <a:prstGeom prst="rect">
            <a:avLst/>
          </a:prstGeom>
          <a:solidFill>
            <a:srgbClr val="1A7A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338560" cy="420624"/>
          </a:xfrm>
          <a:prstGeom prst="rect">
            <a:avLst/>
          </a:prstGeom>
          <a:noFill/>
        </p:spPr>
        <p:txBody>
          <a:bodyPr wrap="square" lIns="54864" rIns="54864" tIns="27432" bIns="18288">
            <a:spAutoFit/>
          </a:bodyPr>
          <a:lstStyle/>
          <a:p>
            <a:pPr algn="l">
              <a:spcBef>
                <a:spcPts val="0"/>
              </a:spcBef>
              <a:spcAft>
                <a:spcPts val="0"/>
              </a:spcAft>
            </a:pPr>
            <a:r>
              <a:rPr sz="2500" b="1" i="0">
                <a:solidFill>
                  <a:srgbClr val="FFFFFF"/>
                </a:solidFill>
                <a:latin typeface="Calibri"/>
              </a:rPr>
              <a:t>How the cell is simulated</a:t>
            </a:r>
          </a:p>
        </p:txBody>
      </p:sp>
      <p:sp>
        <p:nvSpPr>
          <p:cNvPr id="6" name="TextBox 5"/>
          <p:cNvSpPr txBox="1"/>
          <p:nvPr/>
        </p:nvSpPr>
        <p:spPr>
          <a:xfrm>
            <a:off x="365760" y="457200"/>
            <a:ext cx="11338560" cy="292608"/>
          </a:xfrm>
          <a:prstGeom prst="rect">
            <a:avLst/>
          </a:prstGeom>
          <a:noFill/>
        </p:spPr>
        <p:txBody>
          <a:bodyPr wrap="square" lIns="54864" rIns="54864" tIns="27432" bIns="18288">
            <a:spAutoFit/>
          </a:bodyPr>
          <a:lstStyle/>
          <a:p>
            <a:pPr algn="l">
              <a:spcBef>
                <a:spcPts val="0"/>
              </a:spcBef>
              <a:spcAft>
                <a:spcPts val="0"/>
              </a:spcAft>
            </a:pPr>
            <a:r>
              <a:rPr sz="1250" b="0" i="0">
                <a:solidFill>
                  <a:srgbClr val="C5D4DE"/>
                </a:solidFill>
                <a:latin typeface="Calibri"/>
              </a:rPr>
              <a:t>Coupled evolution of cell shape, actin polarity and active motion</a:t>
            </a:r>
          </a:p>
        </p:txBody>
      </p:sp>
      <p:sp>
        <p:nvSpPr>
          <p:cNvPr id="7" name="Rectangle 6"/>
          <p:cNvSpPr/>
          <p:nvPr/>
        </p:nvSpPr>
        <p:spPr>
          <a:xfrm>
            <a:off x="0" y="6601968"/>
            <a:ext cx="12191695" cy="256032"/>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6601968"/>
            <a:ext cx="9601200" cy="237744"/>
          </a:xfrm>
          <a:prstGeom prst="rect">
            <a:avLst/>
          </a:prstGeom>
          <a:noFill/>
        </p:spPr>
        <p:txBody>
          <a:bodyPr wrap="square" lIns="54864" rIns="54864" tIns="27432" bIns="18288">
            <a:spAutoFit/>
          </a:bodyPr>
          <a:lstStyle/>
          <a:p>
            <a:pPr algn="l">
              <a:spcBef>
                <a:spcPts val="0"/>
              </a:spcBef>
              <a:spcAft>
                <a:spcPts val="0"/>
              </a:spcAft>
            </a:pPr>
            <a:r>
              <a:rPr sz="1100" b="0" i="0">
                <a:solidFill>
                  <a:srgbClr val="4B5563"/>
                </a:solidFill>
                <a:latin typeface="Calibri"/>
              </a:rPr>
              <a:t>PYD411  ·  Mid-term  ·  Dept of Physics, IIT Delhi  ·  Siddharth Kumar &amp; Soumik Roy</a:t>
            </a:r>
          </a:p>
        </p:txBody>
      </p:sp>
      <p:sp>
        <p:nvSpPr>
          <p:cNvPr id="9" name="TextBox 8"/>
          <p:cNvSpPr txBox="1"/>
          <p:nvPr/>
        </p:nvSpPr>
        <p:spPr>
          <a:xfrm>
            <a:off x="10607040" y="6601968"/>
            <a:ext cx="1280160" cy="237744"/>
          </a:xfrm>
          <a:prstGeom prst="rect">
            <a:avLst/>
          </a:prstGeom>
          <a:noFill/>
        </p:spPr>
        <p:txBody>
          <a:bodyPr wrap="square" lIns="54864" rIns="54864" tIns="27432" bIns="18288">
            <a:spAutoFit/>
          </a:bodyPr>
          <a:lstStyle/>
          <a:p>
            <a:pPr algn="r">
              <a:spcBef>
                <a:spcPts val="0"/>
              </a:spcBef>
              <a:spcAft>
                <a:spcPts val="0"/>
              </a:spcAft>
            </a:pPr>
            <a:r>
              <a:rPr sz="1100" b="0" i="0">
                <a:solidFill>
                  <a:srgbClr val="4B5563"/>
                </a:solidFill>
                <a:latin typeface="Calibri"/>
              </a:rPr>
              <a:t>4 / 10</a:t>
            </a:r>
          </a:p>
        </p:txBody>
      </p:sp>
      <p:sp>
        <p:nvSpPr>
          <p:cNvPr id="10" name="Rounded Rectangle 9"/>
          <p:cNvSpPr/>
          <p:nvPr/>
        </p:nvSpPr>
        <p:spPr>
          <a:xfrm>
            <a:off x="4160520" y="868680"/>
            <a:ext cx="3840480" cy="310896"/>
          </a:xfrm>
          <a:prstGeom prst="roundRect">
            <a:avLst>
              <a:gd name="adj" fmla="val 12000"/>
            </a:avLst>
          </a:prstGeom>
          <a:solidFill>
            <a:srgbClr val="EFF5F7"/>
          </a:solidFill>
          <a:ln w="15875">
            <a:solidFill>
              <a:srgbClr val="1A7A6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160520" y="868680"/>
            <a:ext cx="3840480" cy="310896"/>
          </a:xfrm>
          <a:prstGeom prst="rect">
            <a:avLst/>
          </a:prstGeom>
          <a:noFill/>
        </p:spPr>
        <p:txBody>
          <a:bodyPr wrap="square" lIns="54864" rIns="54864" tIns="27432" bIns="18288" anchor="ctr">
            <a:spAutoFit/>
          </a:bodyPr>
          <a:lstStyle/>
          <a:p>
            <a:pPr algn="ctr">
              <a:spcBef>
                <a:spcPts val="0"/>
              </a:spcBef>
              <a:spcAft>
                <a:spcPts val="300"/>
              </a:spcAft>
            </a:pPr>
            <a:r>
              <a:rPr sz="1500" b="0" i="0">
                <a:solidFill>
                  <a:srgbClr val="0B3D5C"/>
                </a:solidFill>
                <a:latin typeface="Cambria Math"/>
              </a:rPr>
              <a:t>φ</a:t>
            </a:r>
            <a:r>
              <a:rPr sz="1500" b="0" i="0" baseline="30000">
                <a:solidFill>
                  <a:srgbClr val="0B3D5C"/>
                </a:solidFill>
                <a:latin typeface="Cambria Math"/>
              </a:rPr>
              <a:t>n</a:t>
            </a:r>
            <a:r>
              <a:rPr sz="1500" b="0" i="0">
                <a:solidFill>
                  <a:srgbClr val="0B3D5C"/>
                </a:solidFill>
                <a:latin typeface="Cambria Math"/>
              </a:rPr>
              <a:t>, </a:t>
            </a:r>
            <a:r>
              <a:rPr sz="1500" b="1" i="0">
                <a:solidFill>
                  <a:srgbClr val="0B3D5C"/>
                </a:solidFill>
                <a:latin typeface="Cambria Math"/>
              </a:rPr>
              <a:t>P</a:t>
            </a:r>
            <a:r>
              <a:rPr sz="1500" b="0" i="0" baseline="30000">
                <a:solidFill>
                  <a:srgbClr val="0B3D5C"/>
                </a:solidFill>
                <a:latin typeface="Cambria Math"/>
              </a:rPr>
              <a:t>n</a:t>
            </a:r>
          </a:p>
        </p:txBody>
      </p:sp>
      <p:sp>
        <p:nvSpPr>
          <p:cNvPr id="12" name="TextBox 11"/>
          <p:cNvSpPr txBox="1"/>
          <p:nvPr/>
        </p:nvSpPr>
        <p:spPr>
          <a:xfrm>
            <a:off x="0" y="1188720"/>
            <a:ext cx="12191695" cy="137160"/>
          </a:xfrm>
          <a:prstGeom prst="rect">
            <a:avLst/>
          </a:prstGeom>
          <a:noFill/>
        </p:spPr>
        <p:txBody>
          <a:bodyPr wrap="square" lIns="54864" rIns="54864" tIns="27432" bIns="18288">
            <a:spAutoFit/>
          </a:bodyPr>
          <a:lstStyle/>
          <a:p>
            <a:pPr algn="ctr">
              <a:spcBef>
                <a:spcPts val="0"/>
              </a:spcBef>
              <a:spcAft>
                <a:spcPts val="0"/>
              </a:spcAft>
            </a:pPr>
            <a:r>
              <a:rPr sz="1300" b="1" i="0">
                <a:solidFill>
                  <a:srgbClr val="1A7A6D"/>
                </a:solidFill>
                <a:latin typeface="Calibri"/>
              </a:rPr>
              <a:t>↓</a:t>
            </a:r>
          </a:p>
        </p:txBody>
      </p:sp>
      <p:sp>
        <p:nvSpPr>
          <p:cNvPr id="13" name="Rounded Rectangle 12"/>
          <p:cNvSpPr/>
          <p:nvPr/>
        </p:nvSpPr>
        <p:spPr>
          <a:xfrm>
            <a:off x="2880360" y="1335024"/>
            <a:ext cx="6446520" cy="457200"/>
          </a:xfrm>
          <a:prstGeom prst="roundRect">
            <a:avLst>
              <a:gd name="adj" fmla="val 12000"/>
            </a:avLst>
          </a:prstGeom>
          <a:solidFill>
            <a:srgbClr val="EFF5F7"/>
          </a:solidFill>
          <a:ln w="15875">
            <a:solidFill>
              <a:srgbClr val="1A7A6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880360" y="1335024"/>
            <a:ext cx="6446520" cy="457200"/>
          </a:xfrm>
          <a:prstGeom prst="rect">
            <a:avLst/>
          </a:prstGeom>
          <a:noFill/>
        </p:spPr>
        <p:txBody>
          <a:bodyPr wrap="square" lIns="54864" rIns="54864" tIns="27432" bIns="18288" anchor="ctr">
            <a:spAutoFit/>
          </a:bodyPr>
          <a:lstStyle/>
          <a:p>
            <a:pPr algn="ctr">
              <a:spcBef>
                <a:spcPts val="0"/>
              </a:spcBef>
              <a:spcAft>
                <a:spcPts val="300"/>
              </a:spcAft>
            </a:pPr>
            <a:r>
              <a:rPr sz="1050" b="1" i="0">
                <a:solidFill>
                  <a:srgbClr val="1A7A6D"/>
                </a:solidFill>
                <a:latin typeface="Cambria Math"/>
              </a:rPr>
              <a:t>FREE ENERGY   </a:t>
            </a:r>
            <a:r>
              <a:rPr sz="1350" b="0" i="0">
                <a:solidFill>
                  <a:srgbClr val="0B3D5C"/>
                </a:solidFill>
                <a:latin typeface="Cambria Math"/>
              </a:rPr>
              <a:t>μ = δF/δφ</a:t>
            </a:r>
            <a:r>
              <a:rPr sz="1350" b="0" i="0">
                <a:solidFill>
                  <a:srgbClr val="0B3D5C"/>
                </a:solidFill>
                <a:latin typeface="Cambria Math"/>
              </a:rPr>
              <a:t>      δF/δ</a:t>
            </a:r>
            <a:r>
              <a:rPr sz="1350" b="1" i="0">
                <a:solidFill>
                  <a:srgbClr val="0B3D5C"/>
                </a:solidFill>
                <a:latin typeface="Cambria Math"/>
              </a:rPr>
              <a:t>P</a:t>
            </a:r>
          </a:p>
        </p:txBody>
      </p:sp>
      <p:sp>
        <p:nvSpPr>
          <p:cNvPr id="15" name="TextBox 14"/>
          <p:cNvSpPr txBox="1"/>
          <p:nvPr/>
        </p:nvSpPr>
        <p:spPr>
          <a:xfrm>
            <a:off x="2880360" y="1810512"/>
            <a:ext cx="6446520" cy="146304"/>
          </a:xfrm>
          <a:prstGeom prst="rect">
            <a:avLst/>
          </a:prstGeom>
          <a:noFill/>
        </p:spPr>
        <p:txBody>
          <a:bodyPr wrap="square" lIns="54864" rIns="54864" tIns="27432" bIns="18288">
            <a:spAutoFit/>
          </a:bodyPr>
          <a:lstStyle/>
          <a:p>
            <a:pPr algn="ctr">
              <a:spcBef>
                <a:spcPts val="0"/>
              </a:spcBef>
              <a:spcAft>
                <a:spcPts val="0"/>
              </a:spcAft>
            </a:pPr>
            <a:r>
              <a:rPr sz="1000" b="0" i="0">
                <a:solidFill>
                  <a:srgbClr val="4B5563"/>
                </a:solidFill>
                <a:latin typeface="Calibri"/>
              </a:rPr>
              <a:t>μ → shape evolution      δF/δP → polarization relaxation</a:t>
            </a:r>
          </a:p>
        </p:txBody>
      </p:sp>
      <p:sp>
        <p:nvSpPr>
          <p:cNvPr id="16" name="TextBox 15"/>
          <p:cNvSpPr txBox="1"/>
          <p:nvPr/>
        </p:nvSpPr>
        <p:spPr>
          <a:xfrm>
            <a:off x="0" y="1975104"/>
            <a:ext cx="12191695" cy="137160"/>
          </a:xfrm>
          <a:prstGeom prst="rect">
            <a:avLst/>
          </a:prstGeom>
          <a:noFill/>
        </p:spPr>
        <p:txBody>
          <a:bodyPr wrap="square" lIns="54864" rIns="54864" tIns="27432" bIns="18288">
            <a:spAutoFit/>
          </a:bodyPr>
          <a:lstStyle/>
          <a:p>
            <a:pPr algn="ctr">
              <a:spcBef>
                <a:spcPts val="0"/>
              </a:spcBef>
              <a:spcAft>
                <a:spcPts val="0"/>
              </a:spcAft>
            </a:pPr>
            <a:r>
              <a:rPr sz="1300" b="1" i="0">
                <a:solidFill>
                  <a:srgbClr val="1A7A6D"/>
                </a:solidFill>
                <a:latin typeface="Calibri"/>
              </a:rPr>
              <a:t>↓</a:t>
            </a:r>
          </a:p>
        </p:txBody>
      </p:sp>
      <p:sp>
        <p:nvSpPr>
          <p:cNvPr id="17" name="Rounded Rectangle 16"/>
          <p:cNvSpPr/>
          <p:nvPr/>
        </p:nvSpPr>
        <p:spPr>
          <a:xfrm>
            <a:off x="320040" y="2121408"/>
            <a:ext cx="5532120" cy="640080"/>
          </a:xfrm>
          <a:prstGeom prst="roundRect">
            <a:avLst>
              <a:gd name="adj" fmla="val 12000"/>
            </a:avLst>
          </a:prstGeom>
          <a:solidFill>
            <a:srgbClr val="EFF5F7"/>
          </a:solidFill>
          <a:ln w="15875">
            <a:solidFill>
              <a:srgbClr val="1A7A6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20040" y="2121408"/>
            <a:ext cx="5532120" cy="640080"/>
          </a:xfrm>
          <a:prstGeom prst="rect">
            <a:avLst/>
          </a:prstGeom>
          <a:noFill/>
        </p:spPr>
        <p:txBody>
          <a:bodyPr wrap="square" lIns="54864" rIns="54864" tIns="27432" bIns="18288" anchor="ctr">
            <a:spAutoFit/>
          </a:bodyPr>
          <a:lstStyle/>
          <a:p>
            <a:pPr algn="ctr">
              <a:spcBef>
                <a:spcPts val="0"/>
              </a:spcBef>
              <a:spcAft>
                <a:spcPts val="200"/>
              </a:spcAft>
            </a:pPr>
            <a:r>
              <a:rPr sz="1100" b="1" i="0">
                <a:solidFill>
                  <a:srgbClr val="1A7A6D"/>
                </a:solidFill>
                <a:latin typeface="Cambria Math"/>
              </a:rPr>
              <a:t>UPDATE P   </a:t>
            </a:r>
            <a:r>
              <a:rPr sz="1200" b="0" i="0">
                <a:solidFill>
                  <a:srgbClr val="0B3D5C"/>
                </a:solidFill>
                <a:latin typeface="Cambria Math"/>
              </a:rPr>
              <a:t>(P</a:t>
            </a:r>
            <a:r>
              <a:rPr sz="1050" b="0" i="0" baseline="30000">
                <a:solidFill>
                  <a:srgbClr val="0B3D5C"/>
                </a:solidFill>
                <a:latin typeface="Cambria Math"/>
              </a:rPr>
              <a:t>n</a:t>
            </a:r>
            <a:r>
              <a:rPr sz="1200" b="0" i="0">
                <a:solidFill>
                  <a:srgbClr val="0B3D5C"/>
                </a:solidFill>
                <a:latin typeface="Cambria Math"/>
              </a:rPr>
              <a:t> → P</a:t>
            </a:r>
            <a:r>
              <a:rPr sz="1050" b="0" i="0" baseline="30000">
                <a:solidFill>
                  <a:srgbClr val="0B3D5C"/>
                </a:solidFill>
                <a:latin typeface="Cambria Math"/>
              </a:rPr>
              <a:t>n+1</a:t>
            </a:r>
            <a:r>
              <a:rPr sz="1200" b="0" i="0">
                <a:solidFill>
                  <a:srgbClr val="0B3D5C"/>
                </a:solidFill>
                <a:latin typeface="Cambria Math"/>
              </a:rPr>
              <a:t>)</a:t>
            </a:r>
          </a:p>
          <a:p>
            <a:pPr algn="ctr">
              <a:spcBef>
                <a:spcPts val="0"/>
              </a:spcBef>
              <a:spcAft>
                <a:spcPts val="200"/>
              </a:spcAft>
            </a:pPr>
            <a:r>
              <a:rPr sz="1200" b="0" i="0">
                <a:solidFill>
                  <a:srgbClr val="0B3D5C"/>
                </a:solidFill>
                <a:latin typeface="Cambria Math"/>
              </a:rPr>
              <a:t>∂</a:t>
            </a:r>
            <a:r>
              <a:rPr sz="1200" b="0" i="0" baseline="-25000">
                <a:solidFill>
                  <a:srgbClr val="0B3D5C"/>
                </a:solidFill>
                <a:latin typeface="Cambria Math"/>
              </a:rPr>
              <a:t>t</a:t>
            </a:r>
            <a:r>
              <a:rPr sz="1200" b="1" i="0">
                <a:solidFill>
                  <a:srgbClr val="0B3D5C"/>
                </a:solidFill>
                <a:latin typeface="Cambria Math"/>
              </a:rPr>
              <a:t>P</a:t>
            </a:r>
            <a:r>
              <a:rPr sz="1200" b="0" i="0">
                <a:solidFill>
                  <a:srgbClr val="0B3D5C"/>
                </a:solidFill>
                <a:latin typeface="Cambria Math"/>
              </a:rPr>
              <a:t> + (</a:t>
            </a:r>
            <a:r>
              <a:rPr sz="1200" b="1" i="0">
                <a:solidFill>
                  <a:srgbClr val="0B3D5C"/>
                </a:solidFill>
                <a:latin typeface="Cambria Math"/>
              </a:rPr>
              <a:t>u</a:t>
            </a:r>
            <a:r>
              <a:rPr sz="1200" b="0" i="0">
                <a:solidFill>
                  <a:srgbClr val="0B3D5C"/>
                </a:solidFill>
                <a:latin typeface="Cambria Math"/>
              </a:rPr>
              <a:t>·∇)</a:t>
            </a:r>
            <a:r>
              <a:rPr sz="1200" b="1" i="0">
                <a:solidFill>
                  <a:srgbClr val="0B3D5C"/>
                </a:solidFill>
                <a:latin typeface="Cambria Math"/>
              </a:rPr>
              <a:t>P</a:t>
            </a:r>
            <a:r>
              <a:rPr sz="1200" b="0" i="0">
                <a:solidFill>
                  <a:srgbClr val="0B3D5C"/>
                </a:solidFill>
                <a:latin typeface="Cambria Math"/>
              </a:rPr>
              <a:t> = −Ω·</a:t>
            </a:r>
            <a:r>
              <a:rPr sz="1200" b="1" i="0">
                <a:solidFill>
                  <a:srgbClr val="0B3D5C"/>
                </a:solidFill>
                <a:latin typeface="Cambria Math"/>
              </a:rPr>
              <a:t>P</a:t>
            </a:r>
            <a:r>
              <a:rPr sz="1200" b="0" i="0">
                <a:solidFill>
                  <a:srgbClr val="0B3D5C"/>
                </a:solidFill>
                <a:latin typeface="Cambria Math"/>
              </a:rPr>
              <a:t> + χD·</a:t>
            </a:r>
            <a:r>
              <a:rPr sz="1200" b="1" i="0">
                <a:solidFill>
                  <a:srgbClr val="0B3D5C"/>
                </a:solidFill>
                <a:latin typeface="Cambria Math"/>
              </a:rPr>
              <a:t>P</a:t>
            </a:r>
            <a:r>
              <a:rPr sz="1200" b="0" i="0">
                <a:solidFill>
                  <a:srgbClr val="0B3D5C"/>
                </a:solidFill>
                <a:latin typeface="Cambria Math"/>
              </a:rPr>
              <a:t> − h/Γ</a:t>
            </a:r>
          </a:p>
        </p:txBody>
      </p:sp>
      <p:sp>
        <p:nvSpPr>
          <p:cNvPr id="19" name="TextBox 18"/>
          <p:cNvSpPr txBox="1"/>
          <p:nvPr/>
        </p:nvSpPr>
        <p:spPr>
          <a:xfrm>
            <a:off x="320040" y="2779776"/>
            <a:ext cx="5532120" cy="137160"/>
          </a:xfrm>
          <a:prstGeom prst="rect">
            <a:avLst/>
          </a:prstGeom>
          <a:noFill/>
        </p:spPr>
        <p:txBody>
          <a:bodyPr wrap="square" lIns="54864" rIns="54864" tIns="27432" bIns="18288">
            <a:spAutoFit/>
          </a:bodyPr>
          <a:lstStyle/>
          <a:p>
            <a:pPr algn="ctr">
              <a:spcBef>
                <a:spcPts val="0"/>
              </a:spcBef>
              <a:spcAft>
                <a:spcPts val="0"/>
              </a:spcAft>
            </a:pPr>
            <a:r>
              <a:rPr sz="950" b="0" i="0">
                <a:solidFill>
                  <a:srgbClr val="4B5563"/>
                </a:solidFill>
                <a:latin typeface="Calibri"/>
              </a:rPr>
              <a:t>advection + relaxation terms  ·  P: local direction &amp; strength of actin</a:t>
            </a:r>
          </a:p>
        </p:txBody>
      </p:sp>
      <p:sp>
        <p:nvSpPr>
          <p:cNvPr id="20" name="TextBox 19"/>
          <p:cNvSpPr txBox="1"/>
          <p:nvPr/>
        </p:nvSpPr>
        <p:spPr>
          <a:xfrm>
            <a:off x="320040" y="2944368"/>
            <a:ext cx="5532120" cy="137160"/>
          </a:xfrm>
          <a:prstGeom prst="rect">
            <a:avLst/>
          </a:prstGeom>
          <a:noFill/>
        </p:spPr>
        <p:txBody>
          <a:bodyPr wrap="square" lIns="54864" rIns="54864" tIns="27432" bIns="18288">
            <a:spAutoFit/>
          </a:bodyPr>
          <a:lstStyle/>
          <a:p>
            <a:pPr algn="ctr">
              <a:spcBef>
                <a:spcPts val="0"/>
              </a:spcBef>
              <a:spcAft>
                <a:spcPts val="0"/>
              </a:spcAft>
            </a:pPr>
            <a:r>
              <a:rPr sz="1200" b="1" i="0">
                <a:solidFill>
                  <a:srgbClr val="1A7A6D"/>
                </a:solidFill>
                <a:latin typeface="Calibri"/>
              </a:rPr>
              <a:t>↓</a:t>
            </a:r>
          </a:p>
        </p:txBody>
      </p:sp>
      <p:sp>
        <p:nvSpPr>
          <p:cNvPr id="21" name="Rounded Rectangle 20"/>
          <p:cNvSpPr/>
          <p:nvPr/>
        </p:nvSpPr>
        <p:spPr>
          <a:xfrm>
            <a:off x="320040" y="3090672"/>
            <a:ext cx="5532120" cy="420624"/>
          </a:xfrm>
          <a:prstGeom prst="roundRect">
            <a:avLst>
              <a:gd name="adj" fmla="val 12000"/>
            </a:avLst>
          </a:prstGeom>
          <a:solidFill>
            <a:srgbClr val="EFF5F7"/>
          </a:solidFill>
          <a:ln w="15875">
            <a:solidFill>
              <a:srgbClr val="1A7A6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20040" y="3090672"/>
            <a:ext cx="5532120" cy="420624"/>
          </a:xfrm>
          <a:prstGeom prst="rect">
            <a:avLst/>
          </a:prstGeom>
          <a:noFill/>
        </p:spPr>
        <p:txBody>
          <a:bodyPr wrap="square" lIns="54864" rIns="54864" tIns="27432" bIns="18288" anchor="ctr">
            <a:spAutoFit/>
          </a:bodyPr>
          <a:lstStyle/>
          <a:p>
            <a:pPr algn="ctr">
              <a:spcBef>
                <a:spcPts val="0"/>
              </a:spcBef>
              <a:spcAft>
                <a:spcPts val="300"/>
              </a:spcAft>
            </a:pPr>
            <a:r>
              <a:rPr sz="1500" b="0" i="0">
                <a:solidFill>
                  <a:srgbClr val="0B3D5C"/>
                </a:solidFill>
                <a:latin typeface="Cambria Math"/>
              </a:rPr>
              <a:t>f</a:t>
            </a:r>
            <a:r>
              <a:rPr sz="1500" b="0" i="0" baseline="-25000">
                <a:solidFill>
                  <a:srgbClr val="0B3D5C"/>
                </a:solidFill>
                <a:latin typeface="Cambria Math"/>
              </a:rPr>
              <a:t>act</a:t>
            </a:r>
            <a:r>
              <a:rPr sz="1400" b="0" i="0">
                <a:solidFill>
                  <a:srgbClr val="0B3D5C"/>
                </a:solidFill>
                <a:latin typeface="Cambria Math"/>
              </a:rPr>
              <a:t> = −ζ ∇·(φ</a:t>
            </a:r>
            <a:r>
              <a:rPr sz="1500" b="1" i="0">
                <a:solidFill>
                  <a:srgbClr val="0B3D5C"/>
                </a:solidFill>
                <a:latin typeface="Cambria Math"/>
              </a:rPr>
              <a:t>P</a:t>
            </a:r>
            <a:r>
              <a:rPr sz="1500" b="1" i="0">
                <a:solidFill>
                  <a:srgbClr val="0B3D5C"/>
                </a:solidFill>
                <a:latin typeface="Cambria Math"/>
              </a:rPr>
              <a:t>P</a:t>
            </a:r>
            <a:r>
              <a:rPr sz="1400" b="0" i="0">
                <a:solidFill>
                  <a:srgbClr val="0B3D5C"/>
                </a:solidFill>
                <a:latin typeface="Cambria Math"/>
              </a:rPr>
              <a:t>)</a:t>
            </a:r>
          </a:p>
        </p:txBody>
      </p:sp>
      <p:sp>
        <p:nvSpPr>
          <p:cNvPr id="23" name="TextBox 22"/>
          <p:cNvSpPr txBox="1"/>
          <p:nvPr/>
        </p:nvSpPr>
        <p:spPr>
          <a:xfrm>
            <a:off x="320040" y="3529584"/>
            <a:ext cx="5532120" cy="137160"/>
          </a:xfrm>
          <a:prstGeom prst="rect">
            <a:avLst/>
          </a:prstGeom>
          <a:noFill/>
        </p:spPr>
        <p:txBody>
          <a:bodyPr wrap="square" lIns="54864" rIns="54864" tIns="27432" bIns="18288">
            <a:spAutoFit/>
          </a:bodyPr>
          <a:lstStyle/>
          <a:p>
            <a:pPr algn="ctr">
              <a:spcBef>
                <a:spcPts val="0"/>
              </a:spcBef>
              <a:spcAft>
                <a:spcPts val="0"/>
              </a:spcAft>
            </a:pPr>
            <a:r>
              <a:rPr sz="950" b="0" i="0">
                <a:solidFill>
                  <a:srgbClr val="4B5563"/>
                </a:solidFill>
                <a:latin typeface="Calibri"/>
              </a:rPr>
              <a:t>polarised actomyosin stress drives cytoplasmic motion</a:t>
            </a:r>
          </a:p>
        </p:txBody>
      </p:sp>
      <p:sp>
        <p:nvSpPr>
          <p:cNvPr id="24" name="TextBox 23"/>
          <p:cNvSpPr txBox="1"/>
          <p:nvPr/>
        </p:nvSpPr>
        <p:spPr>
          <a:xfrm>
            <a:off x="320040" y="3675888"/>
            <a:ext cx="5532120" cy="137160"/>
          </a:xfrm>
          <a:prstGeom prst="rect">
            <a:avLst/>
          </a:prstGeom>
          <a:noFill/>
        </p:spPr>
        <p:txBody>
          <a:bodyPr wrap="square" lIns="54864" rIns="54864" tIns="27432" bIns="18288">
            <a:spAutoFit/>
          </a:bodyPr>
          <a:lstStyle/>
          <a:p>
            <a:pPr algn="ctr">
              <a:spcBef>
                <a:spcPts val="0"/>
              </a:spcBef>
              <a:spcAft>
                <a:spcPts val="0"/>
              </a:spcAft>
            </a:pPr>
            <a:r>
              <a:rPr sz="1200" b="1" i="0">
                <a:solidFill>
                  <a:srgbClr val="1A7A6D"/>
                </a:solidFill>
                <a:latin typeface="Calibri"/>
              </a:rPr>
              <a:t>↓</a:t>
            </a:r>
          </a:p>
        </p:txBody>
      </p:sp>
      <p:sp>
        <p:nvSpPr>
          <p:cNvPr id="25" name="Rounded Rectangle 24"/>
          <p:cNvSpPr/>
          <p:nvPr/>
        </p:nvSpPr>
        <p:spPr>
          <a:xfrm>
            <a:off x="320040" y="3822192"/>
            <a:ext cx="5532120" cy="658368"/>
          </a:xfrm>
          <a:prstGeom prst="roundRect">
            <a:avLst>
              <a:gd name="adj" fmla="val 12000"/>
            </a:avLst>
          </a:prstGeom>
          <a:solidFill>
            <a:srgbClr val="EFF5F7"/>
          </a:solidFill>
          <a:ln w="15875">
            <a:solidFill>
              <a:srgbClr val="1A7A6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081528" y="3867912"/>
            <a:ext cx="9144" cy="566928"/>
          </a:xfrm>
          <a:prstGeom prst="rect">
            <a:avLst/>
          </a:prstGeom>
          <a:solidFill>
            <a:srgbClr val="D0D7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20040" y="3849624"/>
            <a:ext cx="2766060" cy="603504"/>
          </a:xfrm>
          <a:prstGeom prst="rect">
            <a:avLst/>
          </a:prstGeom>
          <a:noFill/>
        </p:spPr>
        <p:txBody>
          <a:bodyPr wrap="square" lIns="54864" rIns="54864" tIns="27432" bIns="18288">
            <a:spAutoFit/>
          </a:bodyPr>
          <a:lstStyle/>
          <a:p>
            <a:pPr algn="ctr">
              <a:spcBef>
                <a:spcPts val="0"/>
              </a:spcBef>
              <a:spcAft>
                <a:spcPts val="100"/>
              </a:spcAft>
            </a:pPr>
            <a:r>
              <a:rPr sz="1000" b="1" i="0">
                <a:solidFill>
                  <a:srgbClr val="0B3D5C"/>
                </a:solidFill>
                <a:latin typeface="Calibri"/>
              </a:rPr>
              <a:t>Full model</a:t>
            </a:r>
          </a:p>
          <a:p>
            <a:pPr algn="ctr">
              <a:spcBef>
                <a:spcPts val="0"/>
              </a:spcBef>
              <a:spcAft>
                <a:spcPts val="100"/>
              </a:spcAft>
            </a:pPr>
            <a:r>
              <a:rPr sz="1000" b="0" i="0">
                <a:solidFill>
                  <a:srgbClr val="1F2937"/>
                </a:solidFill>
                <a:latin typeface="Cambria Math"/>
              </a:rPr>
              <a:t>0=−∇p+η∇</a:t>
            </a:r>
            <a:r>
              <a:rPr sz="950" b="0" i="0" baseline="30000">
                <a:solidFill>
                  <a:srgbClr val="1F2937"/>
                </a:solidFill>
                <a:latin typeface="Cambria Math"/>
              </a:rPr>
              <a:t>2</a:t>
            </a:r>
            <a:r>
              <a:rPr sz="1000" b="1" i="0">
                <a:solidFill>
                  <a:srgbClr val="1F2937"/>
                </a:solidFill>
                <a:latin typeface="Cambria Math"/>
              </a:rPr>
              <a:t>v</a:t>
            </a:r>
            <a:r>
              <a:rPr sz="1000" b="0" i="0">
                <a:solidFill>
                  <a:srgbClr val="1F2937"/>
                </a:solidFill>
                <a:latin typeface="Cambria Math"/>
              </a:rPr>
              <a:t>−ξ</a:t>
            </a:r>
            <a:r>
              <a:rPr sz="1000" b="1" i="0">
                <a:solidFill>
                  <a:srgbClr val="1F2937"/>
                </a:solidFill>
                <a:latin typeface="Cambria Math"/>
              </a:rPr>
              <a:t>v</a:t>
            </a:r>
            <a:r>
              <a:rPr sz="1000" b="1" i="1">
                <a:solidFill>
                  <a:srgbClr val="1F2937"/>
                </a:solidFill>
                <a:latin typeface="Cambria Math"/>
              </a:rPr>
              <a:t>+f</a:t>
            </a:r>
          </a:p>
          <a:p>
            <a:pPr algn="ctr">
              <a:spcBef>
                <a:spcPts val="0"/>
              </a:spcBef>
              <a:spcAft>
                <a:spcPts val="0"/>
              </a:spcAft>
            </a:pPr>
            <a:r>
              <a:rPr sz="900" b="0" i="0">
                <a:solidFill>
                  <a:srgbClr val="4B5563"/>
                </a:solidFill>
                <a:latin typeface="Calibri"/>
              </a:rPr>
              <a:t>→ solve Stokes</a:t>
            </a:r>
          </a:p>
        </p:txBody>
      </p:sp>
      <p:sp>
        <p:nvSpPr>
          <p:cNvPr id="28" name="TextBox 27"/>
          <p:cNvSpPr txBox="1"/>
          <p:nvPr/>
        </p:nvSpPr>
        <p:spPr>
          <a:xfrm>
            <a:off x="3086100" y="3849624"/>
            <a:ext cx="2766060" cy="603504"/>
          </a:xfrm>
          <a:prstGeom prst="rect">
            <a:avLst/>
          </a:prstGeom>
          <a:noFill/>
        </p:spPr>
        <p:txBody>
          <a:bodyPr wrap="square" lIns="54864" rIns="54864" tIns="27432" bIns="18288">
            <a:spAutoFit/>
          </a:bodyPr>
          <a:lstStyle/>
          <a:p>
            <a:pPr algn="ctr">
              <a:spcBef>
                <a:spcPts val="0"/>
              </a:spcBef>
              <a:spcAft>
                <a:spcPts val="100"/>
              </a:spcAft>
            </a:pPr>
            <a:r>
              <a:rPr sz="1000" b="1" i="0">
                <a:solidFill>
                  <a:srgbClr val="1A7A6D"/>
                </a:solidFill>
                <a:latin typeface="Calibri"/>
              </a:rPr>
              <a:t>Version 4</a:t>
            </a:r>
          </a:p>
          <a:p>
            <a:pPr algn="ctr">
              <a:spcBef>
                <a:spcPts val="0"/>
              </a:spcBef>
              <a:spcAft>
                <a:spcPts val="100"/>
              </a:spcAft>
            </a:pPr>
            <a:r>
              <a:rPr sz="1250" b="1" i="0">
                <a:solidFill>
                  <a:srgbClr val="0B3D5C"/>
                </a:solidFill>
                <a:latin typeface="Cambria Math"/>
              </a:rPr>
              <a:t>v</a:t>
            </a:r>
            <a:r>
              <a:rPr sz="1250" b="1" i="1">
                <a:solidFill>
                  <a:srgbClr val="0B3D5C"/>
                </a:solidFill>
                <a:latin typeface="Cambria Math"/>
              </a:rPr>
              <a:t> = f</a:t>
            </a:r>
            <a:r>
              <a:rPr sz="1250" b="0" i="0">
                <a:solidFill>
                  <a:srgbClr val="0B3D5C"/>
                </a:solidFill>
                <a:latin typeface="Cambria Math"/>
              </a:rPr>
              <a:t>/ξ</a:t>
            </a:r>
          </a:p>
          <a:p>
            <a:pPr algn="ctr">
              <a:spcBef>
                <a:spcPts val="0"/>
              </a:spcBef>
              <a:spcAft>
                <a:spcPts val="0"/>
              </a:spcAft>
            </a:pPr>
            <a:r>
              <a:rPr sz="1000" b="0" i="0">
                <a:solidFill>
                  <a:srgbClr val="1F2937"/>
                </a:solidFill>
                <a:latin typeface="Cambria Math"/>
              </a:rPr>
              <a:t>= −(ζ/ξ)∇·(φ</a:t>
            </a:r>
            <a:r>
              <a:rPr sz="1000" b="1" i="0">
                <a:solidFill>
                  <a:srgbClr val="1F2937"/>
                </a:solidFill>
                <a:latin typeface="Cambria Math"/>
              </a:rPr>
              <a:t>P</a:t>
            </a:r>
            <a:r>
              <a:rPr sz="1000" b="1" i="0">
                <a:solidFill>
                  <a:srgbClr val="1F2937"/>
                </a:solidFill>
                <a:latin typeface="Cambria Math"/>
              </a:rPr>
              <a:t>P</a:t>
            </a:r>
            <a:r>
              <a:rPr sz="1000" b="0" i="0">
                <a:solidFill>
                  <a:srgbClr val="1F2937"/>
                </a:solidFill>
                <a:latin typeface="Cambria Math"/>
              </a:rPr>
              <a:t>)</a:t>
            </a:r>
          </a:p>
        </p:txBody>
      </p:sp>
      <p:sp>
        <p:nvSpPr>
          <p:cNvPr id="29" name="TextBox 28"/>
          <p:cNvSpPr txBox="1"/>
          <p:nvPr/>
        </p:nvSpPr>
        <p:spPr>
          <a:xfrm>
            <a:off x="320040" y="4498848"/>
            <a:ext cx="5532120" cy="137160"/>
          </a:xfrm>
          <a:prstGeom prst="rect">
            <a:avLst/>
          </a:prstGeom>
          <a:noFill/>
        </p:spPr>
        <p:txBody>
          <a:bodyPr wrap="square" lIns="54864" rIns="54864" tIns="27432" bIns="18288">
            <a:spAutoFit/>
          </a:bodyPr>
          <a:lstStyle/>
          <a:p>
            <a:pPr algn="ctr">
              <a:spcBef>
                <a:spcPts val="0"/>
              </a:spcBef>
              <a:spcAft>
                <a:spcPts val="0"/>
              </a:spcAft>
            </a:pPr>
            <a:r>
              <a:rPr sz="950" b="0" i="0">
                <a:solidFill>
                  <a:srgbClr val="4B5563"/>
                </a:solidFill>
                <a:latin typeface="Calibri"/>
              </a:rPr>
              <a:t>V4: local velocity — no global pressure / Stokes solve</a:t>
            </a:r>
          </a:p>
        </p:txBody>
      </p:sp>
      <p:sp>
        <p:nvSpPr>
          <p:cNvPr id="30" name="TextBox 29"/>
          <p:cNvSpPr txBox="1"/>
          <p:nvPr/>
        </p:nvSpPr>
        <p:spPr>
          <a:xfrm>
            <a:off x="320040" y="4645152"/>
            <a:ext cx="5532120" cy="137160"/>
          </a:xfrm>
          <a:prstGeom prst="rect">
            <a:avLst/>
          </a:prstGeom>
          <a:noFill/>
        </p:spPr>
        <p:txBody>
          <a:bodyPr wrap="square" lIns="54864" rIns="54864" tIns="27432" bIns="18288">
            <a:spAutoFit/>
          </a:bodyPr>
          <a:lstStyle/>
          <a:p>
            <a:pPr algn="ctr">
              <a:spcBef>
                <a:spcPts val="0"/>
              </a:spcBef>
              <a:spcAft>
                <a:spcPts val="0"/>
              </a:spcAft>
            </a:pPr>
            <a:r>
              <a:rPr sz="1200" b="1" i="0">
                <a:solidFill>
                  <a:srgbClr val="1A7A6D"/>
                </a:solidFill>
                <a:latin typeface="Calibri"/>
              </a:rPr>
              <a:t>↓</a:t>
            </a:r>
          </a:p>
        </p:txBody>
      </p:sp>
      <p:sp>
        <p:nvSpPr>
          <p:cNvPr id="31" name="Rounded Rectangle 30"/>
          <p:cNvSpPr/>
          <p:nvPr/>
        </p:nvSpPr>
        <p:spPr>
          <a:xfrm>
            <a:off x="320040" y="4791456"/>
            <a:ext cx="5532120" cy="420624"/>
          </a:xfrm>
          <a:prstGeom prst="roundRect">
            <a:avLst>
              <a:gd name="adj" fmla="val 12000"/>
            </a:avLst>
          </a:prstGeom>
          <a:solidFill>
            <a:srgbClr val="E8F3F1"/>
          </a:solidFill>
          <a:ln w="15875">
            <a:solidFill>
              <a:srgbClr val="1A7A6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20040" y="4791456"/>
            <a:ext cx="5532120" cy="420624"/>
          </a:xfrm>
          <a:prstGeom prst="rect">
            <a:avLst/>
          </a:prstGeom>
          <a:noFill/>
        </p:spPr>
        <p:txBody>
          <a:bodyPr wrap="square" lIns="54864" rIns="54864" tIns="27432" bIns="18288" anchor="ctr">
            <a:spAutoFit/>
          </a:bodyPr>
          <a:lstStyle/>
          <a:p>
            <a:pPr algn="ctr">
              <a:spcBef>
                <a:spcPts val="0"/>
              </a:spcBef>
              <a:spcAft>
                <a:spcPts val="300"/>
              </a:spcAft>
            </a:pPr>
            <a:r>
              <a:rPr sz="1700" b="1" i="0">
                <a:solidFill>
                  <a:srgbClr val="0B3D5C"/>
                </a:solidFill>
                <a:latin typeface="Cambria Math"/>
              </a:rPr>
              <a:t>u</a:t>
            </a:r>
            <a:r>
              <a:rPr sz="1500" b="0" i="0">
                <a:solidFill>
                  <a:srgbClr val="0B3D5C"/>
                </a:solidFill>
                <a:latin typeface="Cambria Math"/>
              </a:rPr>
              <a:t>  =  </a:t>
            </a:r>
            <a:r>
              <a:rPr sz="1700" b="1" i="0">
                <a:solidFill>
                  <a:srgbClr val="0B3D5C"/>
                </a:solidFill>
                <a:latin typeface="Cambria Math"/>
              </a:rPr>
              <a:t>v</a:t>
            </a:r>
            <a:r>
              <a:rPr sz="1500" b="0" i="0">
                <a:solidFill>
                  <a:srgbClr val="0B3D5C"/>
                </a:solidFill>
                <a:latin typeface="Cambria Math"/>
              </a:rPr>
              <a:t>  +  w</a:t>
            </a:r>
            <a:r>
              <a:rPr sz="1500" b="0" i="0" baseline="-25000">
                <a:solidFill>
                  <a:srgbClr val="0B3D5C"/>
                </a:solidFill>
                <a:latin typeface="Cambria Math"/>
              </a:rPr>
              <a:t>0</a:t>
            </a:r>
            <a:r>
              <a:rPr sz="1700" b="1" i="0">
                <a:solidFill>
                  <a:srgbClr val="0B3D5C"/>
                </a:solidFill>
                <a:latin typeface="Cambria Math"/>
              </a:rPr>
              <a:t>P</a:t>
            </a:r>
          </a:p>
        </p:txBody>
      </p:sp>
      <p:sp>
        <p:nvSpPr>
          <p:cNvPr id="33" name="TextBox 32"/>
          <p:cNvSpPr txBox="1"/>
          <p:nvPr/>
        </p:nvSpPr>
        <p:spPr>
          <a:xfrm>
            <a:off x="320040" y="5230368"/>
            <a:ext cx="5532120" cy="146304"/>
          </a:xfrm>
          <a:prstGeom prst="rect">
            <a:avLst/>
          </a:prstGeom>
          <a:noFill/>
        </p:spPr>
        <p:txBody>
          <a:bodyPr wrap="square" lIns="54864" rIns="54864" tIns="27432" bIns="18288">
            <a:spAutoFit/>
          </a:bodyPr>
          <a:lstStyle/>
          <a:p>
            <a:pPr algn="ctr">
              <a:spcBef>
                <a:spcPts val="0"/>
              </a:spcBef>
              <a:spcAft>
                <a:spcPts val="0"/>
              </a:spcAft>
            </a:pPr>
            <a:r>
              <a:rPr sz="950" b="0" i="0">
                <a:solidFill>
                  <a:srgbClr val="4B5563"/>
                </a:solidFill>
                <a:latin typeface="Calibri"/>
              </a:rPr>
              <a:t>v: mechanical / friction-driven motion  ·  w₀P: actin treadmilling</a:t>
            </a:r>
          </a:p>
        </p:txBody>
      </p:sp>
      <p:sp>
        <p:nvSpPr>
          <p:cNvPr id="34" name="Rounded Rectangle 33"/>
          <p:cNvSpPr/>
          <p:nvPr/>
        </p:nvSpPr>
        <p:spPr>
          <a:xfrm>
            <a:off x="6080760" y="2121408"/>
            <a:ext cx="5788152" cy="3255264"/>
          </a:xfrm>
          <a:prstGeom prst="roundRect">
            <a:avLst>
              <a:gd name="adj" fmla="val 8000"/>
            </a:avLst>
          </a:prstGeom>
          <a:solidFill>
            <a:srgbClr val="E8F3F1"/>
          </a:solidFill>
          <a:ln w="15875">
            <a:solidFill>
              <a:srgbClr val="1A7A6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263640" y="2231136"/>
            <a:ext cx="5422392" cy="3035808"/>
          </a:xfrm>
          <a:prstGeom prst="rect">
            <a:avLst/>
          </a:prstGeom>
          <a:noFill/>
        </p:spPr>
        <p:txBody>
          <a:bodyPr wrap="square" lIns="54864" rIns="54864" tIns="27432" bIns="18288" anchor="t">
            <a:spAutoFit/>
          </a:bodyPr>
          <a:lstStyle/>
          <a:p>
            <a:pPr algn="l">
              <a:spcBef>
                <a:spcPts val="0"/>
              </a:spcBef>
              <a:spcAft>
                <a:spcPts val="800"/>
              </a:spcAft>
            </a:pPr>
            <a:r>
              <a:rPr sz="1300" b="1" i="0">
                <a:solidFill>
                  <a:srgbClr val="1A7A6D"/>
                </a:solidFill>
                <a:latin typeface="Calibri"/>
              </a:rPr>
              <a:t>UPDATE φ   (φⁿ → φⁿ⁺¹)</a:t>
            </a:r>
          </a:p>
          <a:p>
            <a:pPr algn="ctr">
              <a:spcBef>
                <a:spcPts val="0"/>
              </a:spcBef>
              <a:spcAft>
                <a:spcPts val="1000"/>
              </a:spcAft>
            </a:pPr>
            <a:r>
              <a:rPr sz="1600" b="0" i="0">
                <a:solidFill>
                  <a:srgbClr val="0B3D5C"/>
                </a:solidFill>
                <a:latin typeface="Cambria Math"/>
              </a:rPr>
              <a:t>∂</a:t>
            </a:r>
            <a:r>
              <a:rPr sz="1600" b="0" i="0" baseline="-25000">
                <a:solidFill>
                  <a:srgbClr val="0B3D5C"/>
                </a:solidFill>
                <a:latin typeface="Cambria Math"/>
              </a:rPr>
              <a:t>t</a:t>
            </a:r>
            <a:r>
              <a:rPr sz="1600" b="0" i="1">
                <a:solidFill>
                  <a:srgbClr val="0B3D5C"/>
                </a:solidFill>
                <a:latin typeface="Cambria Math"/>
              </a:rPr>
              <a:t>φ</a:t>
            </a:r>
            <a:r>
              <a:rPr sz="1600" b="0" i="0">
                <a:solidFill>
                  <a:srgbClr val="0B3D5C"/>
                </a:solidFill>
                <a:latin typeface="Cambria Math"/>
              </a:rPr>
              <a:t> + ∇·(φ</a:t>
            </a:r>
            <a:r>
              <a:rPr sz="1600" b="1" i="0">
                <a:solidFill>
                  <a:srgbClr val="0B3D5C"/>
                </a:solidFill>
                <a:latin typeface="Cambria Math"/>
              </a:rPr>
              <a:t>u</a:t>
            </a:r>
            <a:r>
              <a:rPr sz="1600" b="0" i="0">
                <a:solidFill>
                  <a:srgbClr val="0B3D5C"/>
                </a:solidFill>
                <a:latin typeface="Cambria Math"/>
              </a:rPr>
              <a:t>)</a:t>
            </a:r>
            <a:r>
              <a:rPr sz="1600" b="0" i="0">
                <a:solidFill>
                  <a:srgbClr val="0B3D5C"/>
                </a:solidFill>
                <a:latin typeface="Cambria Math"/>
              </a:rPr>
              <a:t> = −M[μ − Λ g(φ)]</a:t>
            </a:r>
          </a:p>
          <a:p>
            <a:pPr algn="ctr">
              <a:spcAft>
                <a:spcPts val="1000"/>
              </a:spcAft>
            </a:pPr>
            <a:r>
              <a:rPr sz="1200" b="0" i="0">
                <a:solidFill>
                  <a:srgbClr val="1F2937"/>
                </a:solidFill>
                <a:latin typeface="Calibri"/>
              </a:rPr>
              <a:t>uses  </a:t>
            </a:r>
            <a:r>
              <a:rPr sz="1200" b="1" i="0">
                <a:solidFill>
                  <a:srgbClr val="1A7A6D"/>
                </a:solidFill>
                <a:latin typeface="Calibri"/>
              </a:rPr>
              <a:t>u</a:t>
            </a:r>
            <a:r>
              <a:rPr sz="1200" b="0" i="0">
                <a:solidFill>
                  <a:srgbClr val="1F2937"/>
                </a:solidFill>
                <a:latin typeface="Calibri"/>
              </a:rPr>
              <a:t>  (transport) and  </a:t>
            </a:r>
            <a:r>
              <a:rPr sz="1200" b="1" i="0">
                <a:solidFill>
                  <a:srgbClr val="1A7A6D"/>
                </a:solidFill>
                <a:latin typeface="Calibri"/>
              </a:rPr>
              <a:t>μ</a:t>
            </a:r>
            <a:r>
              <a:rPr sz="1200" b="0" i="0">
                <a:solidFill>
                  <a:srgbClr val="1F2937"/>
                </a:solidFill>
                <a:latin typeface="Calibri"/>
              </a:rPr>
              <a:t>  (from the free energy)</a:t>
            </a:r>
          </a:p>
          <a:p>
            <a:pPr algn="ctr">
              <a:spcBef>
                <a:spcPts val="0"/>
              </a:spcBef>
              <a:spcAft>
                <a:spcPts val="1000"/>
              </a:spcAft>
            </a:pPr>
            <a:r>
              <a:rPr sz="1250" b="0" i="0">
                <a:solidFill>
                  <a:srgbClr val="1F2937"/>
                </a:solidFill>
                <a:latin typeface="Calibri"/>
              </a:rPr>
              <a:t>φ determines the cell boundary and therefore the cell shape.</a:t>
            </a:r>
          </a:p>
          <a:p>
            <a:pPr algn="ctr">
              <a:spcBef>
                <a:spcPts val="0"/>
              </a:spcBef>
              <a:spcAft>
                <a:spcPts val="0"/>
              </a:spcAft>
            </a:pPr>
            <a:r>
              <a:rPr sz="1000" b="0" i="0">
                <a:solidFill>
                  <a:srgbClr val="4B5563"/>
                </a:solidFill>
                <a:latin typeface="Calibri"/>
              </a:rPr>
              <a:t>g(φ) = φ(1−φ),   Λ enforces area / volume conservation</a:t>
            </a:r>
          </a:p>
        </p:txBody>
      </p:sp>
      <p:sp>
        <p:nvSpPr>
          <p:cNvPr id="36" name="TextBox 35"/>
          <p:cNvSpPr txBox="1"/>
          <p:nvPr/>
        </p:nvSpPr>
        <p:spPr>
          <a:xfrm>
            <a:off x="320040" y="5431536"/>
            <a:ext cx="11548872" cy="219456"/>
          </a:xfrm>
          <a:prstGeom prst="rect">
            <a:avLst/>
          </a:prstGeom>
          <a:noFill/>
        </p:spPr>
        <p:txBody>
          <a:bodyPr wrap="square" lIns="54864" rIns="54864" tIns="27432" bIns="18288">
            <a:spAutoFit/>
          </a:bodyPr>
          <a:lstStyle/>
          <a:p>
            <a:pPr algn="ctr"/>
            <a:r>
              <a:rPr sz="1250" b="1" i="0">
                <a:solidFill>
                  <a:srgbClr val="1A7A6D"/>
                </a:solidFill>
                <a:latin typeface="Calibri"/>
              </a:rPr>
              <a:t>↻  </a:t>
            </a:r>
            <a:r>
              <a:rPr sz="1250" b="1" i="1">
                <a:solidFill>
                  <a:srgbClr val="0B3D5C"/>
                </a:solidFill>
                <a:latin typeface="Calibri"/>
              </a:rPr>
              <a:t>φ</a:t>
            </a:r>
            <a:r>
              <a:rPr sz="950" b="1" i="0" baseline="30000">
                <a:solidFill>
                  <a:srgbClr val="0B3D5C"/>
                </a:solidFill>
                <a:latin typeface="Calibri"/>
              </a:rPr>
              <a:t>n+1</a:t>
            </a:r>
            <a:r>
              <a:rPr sz="1250" b="1" i="0">
                <a:solidFill>
                  <a:srgbClr val="0B3D5C"/>
                </a:solidFill>
                <a:latin typeface="Calibri"/>
              </a:rPr>
              <a:t>, </a:t>
            </a:r>
            <a:r>
              <a:rPr sz="1250" b="1" i="0">
                <a:solidFill>
                  <a:srgbClr val="0B3D5C"/>
                </a:solidFill>
                <a:latin typeface="Calibri"/>
              </a:rPr>
              <a:t>P</a:t>
            </a:r>
            <a:r>
              <a:rPr sz="950" b="1" i="0" baseline="30000">
                <a:solidFill>
                  <a:srgbClr val="0B3D5C"/>
                </a:solidFill>
                <a:latin typeface="Calibri"/>
              </a:rPr>
              <a:t>n+1</a:t>
            </a:r>
            <a:r>
              <a:rPr sz="1250" b="0" i="0">
                <a:solidFill>
                  <a:srgbClr val="1F2937"/>
                </a:solidFill>
                <a:latin typeface="Calibri"/>
              </a:rPr>
              <a:t>   →   next timestep (t+Δt)   →   back to  </a:t>
            </a:r>
            <a:r>
              <a:rPr sz="1250" b="1" i="1">
                <a:solidFill>
                  <a:srgbClr val="0B3D5C"/>
                </a:solidFill>
                <a:latin typeface="Calibri"/>
              </a:rPr>
              <a:t>φ</a:t>
            </a:r>
            <a:r>
              <a:rPr sz="950" b="1" i="0" baseline="30000">
                <a:solidFill>
                  <a:srgbClr val="0B3D5C"/>
                </a:solidFill>
                <a:latin typeface="Calibri"/>
              </a:rPr>
              <a:t>n</a:t>
            </a:r>
            <a:r>
              <a:rPr sz="1250" b="0" i="0">
                <a:solidFill>
                  <a:srgbClr val="1F2937"/>
                </a:solidFill>
                <a:latin typeface="Calibri"/>
              </a:rPr>
              <a:t>, </a:t>
            </a:r>
            <a:r>
              <a:rPr sz="1250" b="1" i="0">
                <a:solidFill>
                  <a:srgbClr val="0B3D5C"/>
                </a:solidFill>
                <a:latin typeface="Calibri"/>
              </a:rPr>
              <a:t>P</a:t>
            </a:r>
            <a:r>
              <a:rPr sz="950" b="1" i="0" baseline="30000">
                <a:solidFill>
                  <a:srgbClr val="0B3D5C"/>
                </a:solidFill>
                <a:latin typeface="Calibri"/>
              </a:rPr>
              <a:t>n</a:t>
            </a:r>
          </a:p>
        </p:txBody>
      </p:sp>
      <p:sp>
        <p:nvSpPr>
          <p:cNvPr id="37" name="Rounded Rectangle 36"/>
          <p:cNvSpPr/>
          <p:nvPr/>
        </p:nvSpPr>
        <p:spPr>
          <a:xfrm>
            <a:off x="320040" y="5705856"/>
            <a:ext cx="11548872" cy="658368"/>
          </a:xfrm>
          <a:prstGeom prst="roundRect">
            <a:avLst>
              <a:gd name="adj" fmla="val 8000"/>
            </a:avLst>
          </a:prstGeom>
          <a:solidFill>
            <a:srgbClr val="0B3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48640" y="5788152"/>
            <a:ext cx="11109960" cy="512064"/>
          </a:xfrm>
          <a:prstGeom prst="rect">
            <a:avLst/>
          </a:prstGeom>
          <a:noFill/>
        </p:spPr>
        <p:txBody>
          <a:bodyPr wrap="square" lIns="54864" rIns="54864" tIns="27432" bIns="18288">
            <a:spAutoFit/>
          </a:bodyPr>
          <a:lstStyle/>
          <a:p>
            <a:pPr algn="l">
              <a:spcBef>
                <a:spcPts val="0"/>
              </a:spcBef>
              <a:spcAft>
                <a:spcPts val="400"/>
              </a:spcAft>
            </a:pPr>
            <a:r>
              <a:rPr sz="1400" b="1" i="0">
                <a:solidFill>
                  <a:srgbClr val="FFFFFF"/>
                </a:solidFill>
                <a:latin typeface="Calibri"/>
              </a:rPr>
              <a:t>Shape φ  →  polarity P  →  active force  →  velocity v  →  transport u  →  shape update  →  repeat</a:t>
            </a:r>
          </a:p>
          <a:p>
            <a:pPr algn="l">
              <a:spcBef>
                <a:spcPts val="0"/>
              </a:spcBef>
              <a:spcAft>
                <a:spcPts val="600"/>
              </a:spcAft>
            </a:pPr>
            <a:r>
              <a:rPr sz="1150" b="0" i="0">
                <a:solidFill>
                  <a:srgbClr val="7ED9C8"/>
                </a:solidFill>
                <a:latin typeface="Calibri"/>
              </a:rPr>
              <a:t>This loop is repeated for every timestep.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86384"/>
          </a:xfrm>
          <a:prstGeom prst="rect">
            <a:avLst/>
          </a:prstGeom>
          <a:solidFill>
            <a:srgbClr val="0B3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86384"/>
            <a:ext cx="12191695" cy="45720"/>
          </a:xfrm>
          <a:prstGeom prst="rect">
            <a:avLst/>
          </a:prstGeom>
          <a:solidFill>
            <a:srgbClr val="1A7A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338560" cy="420624"/>
          </a:xfrm>
          <a:prstGeom prst="rect">
            <a:avLst/>
          </a:prstGeom>
          <a:noFill/>
        </p:spPr>
        <p:txBody>
          <a:bodyPr wrap="square" lIns="54864" rIns="54864" tIns="27432" bIns="18288">
            <a:spAutoFit/>
          </a:bodyPr>
          <a:lstStyle/>
          <a:p>
            <a:pPr algn="l">
              <a:spcBef>
                <a:spcPts val="0"/>
              </a:spcBef>
              <a:spcAft>
                <a:spcPts val="0"/>
              </a:spcAft>
            </a:pPr>
            <a:r>
              <a:rPr sz="2500" b="1" i="0">
                <a:solidFill>
                  <a:srgbClr val="FFFFFF"/>
                </a:solidFill>
                <a:latin typeface="Calibri"/>
              </a:rPr>
              <a:t>From a translating disc to a leading protrusion</a:t>
            </a:r>
          </a:p>
        </p:txBody>
      </p:sp>
      <p:sp>
        <p:nvSpPr>
          <p:cNvPr id="6" name="Rectangle 5"/>
          <p:cNvSpPr/>
          <p:nvPr/>
        </p:nvSpPr>
        <p:spPr>
          <a:xfrm>
            <a:off x="0" y="6601968"/>
            <a:ext cx="12191695" cy="256032"/>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0040" y="6601968"/>
            <a:ext cx="9601200" cy="237744"/>
          </a:xfrm>
          <a:prstGeom prst="rect">
            <a:avLst/>
          </a:prstGeom>
          <a:noFill/>
        </p:spPr>
        <p:txBody>
          <a:bodyPr wrap="square" lIns="54864" rIns="54864" tIns="27432" bIns="18288">
            <a:spAutoFit/>
          </a:bodyPr>
          <a:lstStyle/>
          <a:p>
            <a:pPr algn="l">
              <a:spcBef>
                <a:spcPts val="0"/>
              </a:spcBef>
              <a:spcAft>
                <a:spcPts val="0"/>
              </a:spcAft>
            </a:pPr>
            <a:r>
              <a:rPr sz="1100" b="0" i="0">
                <a:solidFill>
                  <a:srgbClr val="4B5563"/>
                </a:solidFill>
                <a:latin typeface="Calibri"/>
              </a:rPr>
              <a:t>PYD411  ·  Mid-term  ·  Dept of Physics, IIT Delhi  ·  Siddharth Kumar &amp; Soumik Roy</a:t>
            </a:r>
          </a:p>
        </p:txBody>
      </p:sp>
      <p:sp>
        <p:nvSpPr>
          <p:cNvPr id="8" name="TextBox 7"/>
          <p:cNvSpPr txBox="1"/>
          <p:nvPr/>
        </p:nvSpPr>
        <p:spPr>
          <a:xfrm>
            <a:off x="10607040" y="6601968"/>
            <a:ext cx="1280160" cy="237744"/>
          </a:xfrm>
          <a:prstGeom prst="rect">
            <a:avLst/>
          </a:prstGeom>
          <a:noFill/>
        </p:spPr>
        <p:txBody>
          <a:bodyPr wrap="square" lIns="54864" rIns="54864" tIns="27432" bIns="18288">
            <a:spAutoFit/>
          </a:bodyPr>
          <a:lstStyle/>
          <a:p>
            <a:pPr algn="r">
              <a:spcBef>
                <a:spcPts val="0"/>
              </a:spcBef>
              <a:spcAft>
                <a:spcPts val="0"/>
              </a:spcAft>
            </a:pPr>
            <a:r>
              <a:rPr sz="1100" b="0" i="0">
                <a:solidFill>
                  <a:srgbClr val="4B5563"/>
                </a:solidFill>
                <a:latin typeface="Calibri"/>
              </a:rPr>
              <a:t>5 / 10</a:t>
            </a:r>
          </a:p>
        </p:txBody>
      </p:sp>
      <p:sp>
        <p:nvSpPr>
          <p:cNvPr id="9" name="Rounded Rectangle 8"/>
          <p:cNvSpPr/>
          <p:nvPr/>
        </p:nvSpPr>
        <p:spPr>
          <a:xfrm>
            <a:off x="292608" y="932688"/>
            <a:ext cx="3977639" cy="1691640"/>
          </a:xfrm>
          <a:prstGeom prst="roundRect">
            <a:avLst>
              <a:gd name="adj" fmla="val 80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0624" y="1005840"/>
            <a:ext cx="3721607" cy="1554480"/>
          </a:xfrm>
          <a:prstGeom prst="rect">
            <a:avLst/>
          </a:prstGeom>
          <a:noFill/>
        </p:spPr>
        <p:txBody>
          <a:bodyPr wrap="square" lIns="54864" rIns="54864" tIns="27432" bIns="18288">
            <a:spAutoFit/>
          </a:bodyPr>
          <a:lstStyle/>
          <a:p>
            <a:pPr algn="l">
              <a:spcBef>
                <a:spcPts val="0"/>
              </a:spcBef>
              <a:spcAft>
                <a:spcPts val="400"/>
              </a:spcAft>
            </a:pPr>
            <a:r>
              <a:rPr sz="1600" b="1" i="0">
                <a:solidFill>
                  <a:srgbClr val="0B3D5C"/>
                </a:solidFill>
                <a:latin typeface="Calibri"/>
              </a:rPr>
              <a:t>Version 1</a:t>
            </a:r>
          </a:p>
          <a:p>
            <a:pPr algn="l">
              <a:spcBef>
                <a:spcPts val="0"/>
              </a:spcBef>
              <a:spcAft>
                <a:spcPts val="400"/>
              </a:spcAft>
            </a:pPr>
            <a:r>
              <a:rPr sz="1400" b="1" i="0">
                <a:solidFill>
                  <a:srgbClr val="1F2937"/>
                </a:solidFill>
                <a:latin typeface="Cambria Math"/>
              </a:rPr>
              <a:t>v</a:t>
            </a:r>
            <a:r>
              <a:rPr sz="1400" b="0" i="0">
                <a:solidFill>
                  <a:srgbClr val="1F2937"/>
                </a:solidFill>
                <a:latin typeface="Cambria Math"/>
              </a:rPr>
              <a:t> = 0,   ζ = β = 0</a:t>
            </a:r>
          </a:p>
          <a:p>
            <a:pPr>
              <a:spcAft>
                <a:spcPts val="200"/>
              </a:spcAft>
            </a:pPr>
            <a:r>
              <a:rPr sz="1250" b="0" i="0">
                <a:solidFill>
                  <a:srgbClr val="1F2937"/>
                </a:solidFill>
                <a:latin typeface="Calibri"/>
              </a:rPr>
              <a:t>•  Uniform P → uniform u — cell translates</a:t>
            </a:r>
          </a:p>
          <a:p>
            <a:pPr>
              <a:spcAft>
                <a:spcPts val="200"/>
              </a:spcAft>
            </a:pPr>
            <a:r>
              <a:rPr sz="1250" b="0" i="0">
                <a:solidFill>
                  <a:srgbClr val="1F2937"/>
                </a:solidFill>
                <a:latin typeface="Calibri"/>
              </a:rPr>
              <a:t>•  Shape cannot change</a:t>
            </a:r>
          </a:p>
          <a:p>
            <a:pPr>
              <a:spcAft>
                <a:spcPts val="0"/>
              </a:spcAft>
            </a:pPr>
            <a:r>
              <a:rPr sz="1250" b="0" i="0">
                <a:solidFill>
                  <a:srgbClr val="1F2937"/>
                </a:solidFill>
                <a:latin typeface="Calibri"/>
              </a:rPr>
              <a:t>•  Area falls 4.5% (non-conservative advection)</a:t>
            </a:r>
          </a:p>
        </p:txBody>
      </p:sp>
      <p:sp>
        <p:nvSpPr>
          <p:cNvPr id="11" name="Rounded Rectangle 10"/>
          <p:cNvSpPr/>
          <p:nvPr/>
        </p:nvSpPr>
        <p:spPr>
          <a:xfrm>
            <a:off x="292608" y="2743200"/>
            <a:ext cx="3977639" cy="3429000"/>
          </a:xfrm>
          <a:prstGeom prst="roundRect">
            <a:avLst>
              <a:gd name="adj" fmla="val 8000"/>
            </a:avLst>
          </a:prstGeom>
          <a:solidFill>
            <a:srgbClr val="E8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0624" y="2816352"/>
            <a:ext cx="3721607" cy="3291840"/>
          </a:xfrm>
          <a:prstGeom prst="rect">
            <a:avLst/>
          </a:prstGeom>
          <a:noFill/>
        </p:spPr>
        <p:txBody>
          <a:bodyPr wrap="square" lIns="54864" rIns="54864" tIns="27432" bIns="18288">
            <a:spAutoFit/>
          </a:bodyPr>
          <a:lstStyle/>
          <a:p>
            <a:pPr algn="l">
              <a:spcBef>
                <a:spcPts val="0"/>
              </a:spcBef>
              <a:spcAft>
                <a:spcPts val="400"/>
              </a:spcAft>
            </a:pPr>
            <a:r>
              <a:rPr sz="1600" b="1" i="0">
                <a:solidFill>
                  <a:srgbClr val="1A7A6D"/>
                </a:solidFill>
                <a:latin typeface="Calibri"/>
              </a:rPr>
              <a:t>Version 2</a:t>
            </a:r>
          </a:p>
          <a:p>
            <a:pPr algn="l">
              <a:spcBef>
                <a:spcPts val="0"/>
              </a:spcBef>
              <a:spcAft>
                <a:spcPts val="600"/>
              </a:spcAft>
            </a:pPr>
            <a:r>
              <a:rPr sz="1250" b="0" i="0">
                <a:solidFill>
                  <a:srgbClr val="1F2937"/>
                </a:solidFill>
                <a:latin typeface="Calibri"/>
              </a:rPr>
              <a:t>Vertical y–z slice; substrate at z = 0. Treadmilling restricted to a layer of thickness λ:</a:t>
            </a:r>
          </a:p>
          <a:p>
            <a:pPr algn="l">
              <a:spcBef>
                <a:spcPts val="0"/>
              </a:spcBef>
              <a:spcAft>
                <a:spcPts val="800"/>
              </a:spcAft>
            </a:pPr>
            <a:r>
              <a:rPr sz="1300" b="0" i="0">
                <a:solidFill>
                  <a:srgbClr val="0B3D5C"/>
                </a:solidFill>
                <a:latin typeface="Cambria Math"/>
              </a:rPr>
              <a:t>w(z) = </a:t>
            </a:r>
            <a:r>
              <a:rPr sz="1300" b="0" i="0">
                <a:solidFill>
                  <a:srgbClr val="0B3D5C"/>
                </a:solidFill>
                <a:latin typeface="Cambria Math"/>
              </a:rPr>
              <a:t>w</a:t>
            </a:r>
            <a:r>
              <a:rPr sz="1300" b="0" i="0" baseline="-25000">
                <a:solidFill>
                  <a:srgbClr val="0B3D5C"/>
                </a:solidFill>
                <a:latin typeface="Cambria Math"/>
              </a:rPr>
              <a:t>0</a:t>
            </a:r>
            <a:r>
              <a:rPr sz="1300" b="0" i="0">
                <a:solidFill>
                  <a:srgbClr val="0B3D5C"/>
                </a:solidFill>
                <a:latin typeface="Cambria Math"/>
              </a:rPr>
              <a:t>/2 · [1−tanh((z−λ)/w</a:t>
            </a:r>
            <a:r>
              <a:rPr sz="1300" b="0" i="0">
                <a:solidFill>
                  <a:srgbClr val="0B3D5C"/>
                </a:solidFill>
                <a:latin typeface="Cambria Math"/>
              </a:rPr>
              <a:t>τ</a:t>
            </a:r>
            <a:r>
              <a:rPr sz="1300" b="0" i="0">
                <a:solidFill>
                  <a:srgbClr val="0B3D5C"/>
                </a:solidFill>
                <a:latin typeface="Cambria Math"/>
              </a:rPr>
              <a:t>)]</a:t>
            </a:r>
          </a:p>
          <a:p>
            <a:pPr algn="l">
              <a:spcBef>
                <a:spcPts val="0"/>
              </a:spcBef>
              <a:spcAft>
                <a:spcPts val="0"/>
              </a:spcAft>
            </a:pPr>
            <a:r>
              <a:rPr sz="1250" b="0" i="0">
                <a:solidFill>
                  <a:srgbClr val="1F2937"/>
                </a:solidFill>
                <a:latin typeface="Calibri"/>
              </a:rPr>
              <a:t>Near-wall material moves ahead → tension pulls the interface back → protrusion emerges.</a:t>
            </a:r>
          </a:p>
        </p:txBody>
      </p:sp>
      <p:pic>
        <p:nvPicPr>
          <p:cNvPr id="13" name="Picture 12" descr="fig_v2_shapes.png"/>
          <p:cNvPicPr>
            <a:picLocks noChangeAspect="1"/>
          </p:cNvPicPr>
          <p:nvPr/>
        </p:nvPicPr>
        <p:blipFill>
          <a:blip r:embed="rId2"/>
          <a:stretch>
            <a:fillRect/>
          </a:stretch>
        </p:blipFill>
        <p:spPr>
          <a:xfrm>
            <a:off x="5928482" y="914400"/>
            <a:ext cx="4465075" cy="2331720"/>
          </a:xfrm>
          <a:prstGeom prst="rect">
            <a:avLst/>
          </a:prstGeom>
        </p:spPr>
      </p:pic>
      <p:graphicFrame>
        <p:nvGraphicFramePr>
          <p:cNvPr id="14" name="Table 13"/>
          <p:cNvGraphicFramePr>
            <a:graphicFrameLocks noGrp="1"/>
          </p:cNvGraphicFramePr>
          <p:nvPr/>
        </p:nvGraphicFramePr>
        <p:xfrm>
          <a:off x="4434840" y="3337560"/>
          <a:ext cx="5074919" cy="822960"/>
        </p:xfrm>
        <a:graphic>
          <a:graphicData uri="http://schemas.openxmlformats.org/drawingml/2006/table">
            <a:tbl>
              <a:tblPr firstRow="1" bandRow="1">
                <a:tableStyleId>{5C22544A-7EE6-4342-B048-85BDC9FD1C3A}</a:tableStyleId>
              </a:tblPr>
              <a:tblGrid>
                <a:gridCol w="914400"/>
                <a:gridCol w="1874519"/>
                <a:gridCol w="1143000"/>
                <a:gridCol w="1143000"/>
              </a:tblGrid>
              <a:tr h="274320">
                <a:tc>
                  <a:txBody>
                    <a:bodyPr/>
                    <a:lstStyle/>
                    <a:p>
                      <a:pPr algn="ctr"/>
                      <a:r>
                        <a:rPr sz="1250" b="1">
                          <a:solidFill>
                            <a:srgbClr val="FFFFFF"/>
                          </a:solidFill>
                          <a:latin typeface="Calibri"/>
                        </a:rPr>
                        <a:t>w₀</a:t>
                      </a:r>
                    </a:p>
                  </a:txBody>
                  <a:tcPr anchor="ctr">
                    <a:solidFill>
                      <a:srgbClr val="0B3D5C"/>
                    </a:solidFill>
                  </a:tcPr>
                </a:tc>
                <a:tc>
                  <a:txBody>
                    <a:bodyPr/>
                    <a:lstStyle/>
                    <a:p>
                      <a:pPr algn="ctr"/>
                      <a:r>
                        <a:rPr sz="1250" b="1">
                          <a:solidFill>
                            <a:srgbClr val="FFFFFF"/>
                          </a:solidFill>
                          <a:latin typeface="Calibri"/>
                        </a:rPr>
                        <a:t>Shape</a:t>
                      </a:r>
                    </a:p>
                  </a:txBody>
                  <a:tcPr anchor="ctr">
                    <a:solidFill>
                      <a:srgbClr val="0B3D5C"/>
                    </a:solidFill>
                  </a:tcPr>
                </a:tc>
                <a:tc>
                  <a:txBody>
                    <a:bodyPr/>
                    <a:lstStyle/>
                    <a:p>
                      <a:pPr algn="ctr"/>
                      <a:r>
                        <a:rPr sz="1250" b="1">
                          <a:solidFill>
                            <a:srgbClr val="FFFFFF"/>
                          </a:solidFill>
                          <a:latin typeface="Calibri"/>
                        </a:rPr>
                        <a:t>Contact</a:t>
                      </a:r>
                    </a:p>
                  </a:txBody>
                  <a:tcPr anchor="ctr">
                    <a:solidFill>
                      <a:srgbClr val="0B3D5C"/>
                    </a:solidFill>
                  </a:tcPr>
                </a:tc>
                <a:tc>
                  <a:txBody>
                    <a:bodyPr/>
                    <a:lstStyle/>
                    <a:p>
                      <a:pPr algn="ctr"/>
                      <a:r>
                        <a:rPr sz="1250" b="1">
                          <a:solidFill>
                            <a:srgbClr val="FFFFFF"/>
                          </a:solidFill>
                          <a:latin typeface="Calibri"/>
                        </a:rPr>
                        <a:t>Speed</a:t>
                      </a:r>
                    </a:p>
                  </a:txBody>
                  <a:tcPr anchor="ctr">
                    <a:solidFill>
                      <a:srgbClr val="0B3D5C"/>
                    </a:solidFill>
                  </a:tcPr>
                </a:tc>
              </a:tr>
              <a:tr h="274320">
                <a:tc>
                  <a:txBody>
                    <a:bodyPr/>
                    <a:lstStyle/>
                    <a:p>
                      <a:pPr algn="ctr"/>
                      <a:r>
                        <a:rPr sz="1250" b="0">
                          <a:solidFill>
                            <a:srgbClr val="1F2937"/>
                          </a:solidFill>
                          <a:latin typeface="Calibri"/>
                        </a:rPr>
                        <a:t>0.3</a:t>
                      </a:r>
                    </a:p>
                  </a:txBody>
                  <a:tcPr anchor="ctr">
                    <a:solidFill>
                      <a:srgbClr val="E8F3F1"/>
                    </a:solidFill>
                  </a:tcPr>
                </a:tc>
                <a:tc>
                  <a:txBody>
                    <a:bodyPr/>
                    <a:lstStyle/>
                    <a:p>
                      <a:pPr algn="ctr"/>
                      <a:r>
                        <a:rPr sz="1250" b="0">
                          <a:solidFill>
                            <a:srgbClr val="1F2937"/>
                          </a:solidFill>
                          <a:latin typeface="Calibri"/>
                        </a:rPr>
                        <a:t>cap</a:t>
                      </a:r>
                    </a:p>
                  </a:txBody>
                  <a:tcPr anchor="ctr">
                    <a:solidFill>
                      <a:srgbClr val="E8F3F1"/>
                    </a:solidFill>
                  </a:tcPr>
                </a:tc>
                <a:tc>
                  <a:txBody>
                    <a:bodyPr/>
                    <a:lstStyle/>
                    <a:p>
                      <a:pPr algn="ctr"/>
                      <a:r>
                        <a:rPr sz="1250" b="0">
                          <a:solidFill>
                            <a:srgbClr val="1F2937"/>
                          </a:solidFill>
                          <a:latin typeface="Calibri"/>
                        </a:rPr>
                        <a:t>44.0</a:t>
                      </a:r>
                    </a:p>
                  </a:txBody>
                  <a:tcPr anchor="ctr">
                    <a:solidFill>
                      <a:srgbClr val="E8F3F1"/>
                    </a:solidFill>
                  </a:tcPr>
                </a:tc>
                <a:tc>
                  <a:txBody>
                    <a:bodyPr/>
                    <a:lstStyle/>
                    <a:p>
                      <a:pPr algn="ctr"/>
                      <a:r>
                        <a:rPr sz="1250" b="0">
                          <a:solidFill>
                            <a:srgbClr val="1F2937"/>
                          </a:solidFill>
                          <a:latin typeface="Calibri"/>
                        </a:rPr>
                        <a:t>0.050</a:t>
                      </a:r>
                    </a:p>
                  </a:txBody>
                  <a:tcPr anchor="ctr">
                    <a:solidFill>
                      <a:srgbClr val="E8F3F1"/>
                    </a:solidFill>
                  </a:tcPr>
                </a:tc>
              </a:tr>
              <a:tr h="274320">
                <a:tc>
                  <a:txBody>
                    <a:bodyPr/>
                    <a:lstStyle/>
                    <a:p>
                      <a:pPr algn="ctr"/>
                      <a:r>
                        <a:rPr sz="1250" b="0">
                          <a:solidFill>
                            <a:srgbClr val="1F2937"/>
                          </a:solidFill>
                          <a:latin typeface="Calibri"/>
                        </a:rPr>
                        <a:t>2.0</a:t>
                      </a:r>
                    </a:p>
                  </a:txBody>
                  <a:tcPr anchor="ctr">
                    <a:solidFill>
                      <a:srgbClr val="FFFFFF"/>
                    </a:solidFill>
                  </a:tcPr>
                </a:tc>
                <a:tc>
                  <a:txBody>
                    <a:bodyPr/>
                    <a:lstStyle/>
                    <a:p>
                      <a:pPr algn="ctr"/>
                      <a:r>
                        <a:rPr sz="1250" b="0">
                          <a:solidFill>
                            <a:srgbClr val="1F2937"/>
                          </a:solidFill>
                          <a:latin typeface="Calibri"/>
                        </a:rPr>
                        <a:t>protrusion</a:t>
                      </a:r>
                    </a:p>
                  </a:txBody>
                  <a:tcPr anchor="ctr">
                    <a:solidFill>
                      <a:srgbClr val="FFFFFF"/>
                    </a:solidFill>
                  </a:tcPr>
                </a:tc>
                <a:tc>
                  <a:txBody>
                    <a:bodyPr/>
                    <a:lstStyle/>
                    <a:p>
                      <a:pPr algn="ctr"/>
                      <a:r>
                        <a:rPr sz="1250" b="0">
                          <a:solidFill>
                            <a:srgbClr val="1F2937"/>
                          </a:solidFill>
                          <a:latin typeface="Calibri"/>
                        </a:rPr>
                        <a:t>63.0</a:t>
                      </a:r>
                    </a:p>
                  </a:txBody>
                  <a:tcPr anchor="ctr">
                    <a:solidFill>
                      <a:srgbClr val="FFFFFF"/>
                    </a:solidFill>
                  </a:tcPr>
                </a:tc>
                <a:tc>
                  <a:txBody>
                    <a:bodyPr/>
                    <a:lstStyle/>
                    <a:p>
                      <a:pPr algn="ctr"/>
                      <a:r>
                        <a:rPr sz="1250" b="0">
                          <a:solidFill>
                            <a:srgbClr val="1F2937"/>
                          </a:solidFill>
                          <a:latin typeface="Calibri"/>
                        </a:rPr>
                        <a:t>0.432</a:t>
                      </a:r>
                    </a:p>
                  </a:txBody>
                  <a:tcPr anchor="ctr">
                    <a:solidFill>
                      <a:srgbClr val="FFFFFF"/>
                    </a:solidFill>
                  </a:tcPr>
                </a:tc>
              </a:tr>
            </a:tbl>
          </a:graphicData>
        </a:graphic>
      </p:graphicFrame>
      <p:sp>
        <p:nvSpPr>
          <p:cNvPr id="15" name="Rounded Rectangle 14"/>
          <p:cNvSpPr/>
          <p:nvPr/>
        </p:nvSpPr>
        <p:spPr>
          <a:xfrm>
            <a:off x="9692640" y="3337560"/>
            <a:ext cx="2194560" cy="822960"/>
          </a:xfrm>
          <a:prstGeom prst="roundRect">
            <a:avLst>
              <a:gd name="adj" fmla="val 12000"/>
            </a:avLst>
          </a:prstGeom>
          <a:solidFill>
            <a:srgbClr val="EFF5F7"/>
          </a:solidFill>
          <a:ln w="15875">
            <a:solidFill>
              <a:srgbClr val="1A7A6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0" y="3337560"/>
            <a:ext cx="2194560" cy="822960"/>
          </a:xfrm>
          <a:prstGeom prst="rect">
            <a:avLst/>
          </a:prstGeom>
          <a:noFill/>
        </p:spPr>
        <p:txBody>
          <a:bodyPr wrap="square" lIns="54864" rIns="54864" tIns="27432" bIns="18288" anchor="ctr">
            <a:spAutoFit/>
          </a:bodyPr>
          <a:lstStyle/>
          <a:p>
            <a:pPr algn="ctr">
              <a:spcBef>
                <a:spcPts val="0"/>
              </a:spcBef>
              <a:spcAft>
                <a:spcPts val="300"/>
              </a:spcAft>
            </a:pPr>
            <a:r>
              <a:rPr sz="1700" b="0" i="0">
                <a:solidFill>
                  <a:srgbClr val="0B3D5C"/>
                </a:solidFill>
                <a:latin typeface="Cambria Math"/>
              </a:rPr>
              <a:t>w</a:t>
            </a:r>
            <a:r>
              <a:rPr sz="1700" b="0" i="0" baseline="-25000">
                <a:solidFill>
                  <a:srgbClr val="0B3D5C"/>
                </a:solidFill>
                <a:latin typeface="Cambria Math"/>
              </a:rPr>
              <a:t>0</a:t>
            </a:r>
            <a:r>
              <a:rPr sz="1700" b="0" i="0">
                <a:solidFill>
                  <a:srgbClr val="0B3D5C"/>
                </a:solidFill>
                <a:latin typeface="Cambria Math"/>
              </a:rPr>
              <a:t>*</a:t>
            </a:r>
            <a:r>
              <a:rPr sz="1700" b="0" i="0">
                <a:solidFill>
                  <a:srgbClr val="0B3D5C"/>
                </a:solidFill>
                <a:latin typeface="Cambria Math"/>
              </a:rPr>
              <a:t> ≈ 0.8</a:t>
            </a:r>
          </a:p>
          <a:p>
            <a:pPr algn="ctr">
              <a:spcBef>
                <a:spcPts val="0"/>
              </a:spcBef>
              <a:spcAft>
                <a:spcPts val="300"/>
              </a:spcAft>
            </a:pPr>
            <a:r>
              <a:rPr sz="1700" b="0" i="0">
                <a:solidFill>
                  <a:srgbClr val="0B3D5C"/>
                </a:solidFill>
                <a:latin typeface="Cambria Math"/>
              </a:rPr>
              <a:t>Mε</a:t>
            </a:r>
            <a:r>
              <a:rPr sz="1700" b="0" i="0" baseline="30000">
                <a:solidFill>
                  <a:srgbClr val="0B3D5C"/>
                </a:solidFill>
                <a:latin typeface="Cambria Math"/>
              </a:rPr>
              <a:t>2</a:t>
            </a:r>
            <a:r>
              <a:rPr sz="1300" b="0" i="0">
                <a:solidFill>
                  <a:srgbClr val="0B3D5C"/>
                </a:solidFill>
                <a:latin typeface="Cambria Math"/>
              </a:rPr>
              <a:t>/λ ≈ 0.75</a:t>
            </a:r>
          </a:p>
        </p:txBody>
      </p:sp>
      <p:pic>
        <p:nvPicPr>
          <p:cNvPr id="17" name="Picture 16" descr="fig_v2_transition.png"/>
          <p:cNvPicPr>
            <a:picLocks noChangeAspect="1"/>
          </p:cNvPicPr>
          <p:nvPr/>
        </p:nvPicPr>
        <p:blipFill>
          <a:blip r:embed="rId3"/>
          <a:stretch>
            <a:fillRect/>
          </a:stretch>
        </p:blipFill>
        <p:spPr>
          <a:xfrm>
            <a:off x="5323472" y="4526280"/>
            <a:ext cx="5675094" cy="1645920"/>
          </a:xfrm>
          <a:prstGeom prst="rect">
            <a:avLst/>
          </a:prstGeom>
        </p:spPr>
      </p:pic>
      <p:sp>
        <p:nvSpPr>
          <p:cNvPr id="18" name="TextBox 17"/>
          <p:cNvSpPr txBox="1"/>
          <p:nvPr/>
        </p:nvSpPr>
        <p:spPr>
          <a:xfrm>
            <a:off x="4434840" y="6236208"/>
            <a:ext cx="7452360" cy="274320"/>
          </a:xfrm>
          <a:prstGeom prst="rect">
            <a:avLst/>
          </a:prstGeom>
          <a:noFill/>
        </p:spPr>
        <p:txBody>
          <a:bodyPr wrap="square" lIns="54864" rIns="54864" tIns="27432" bIns="18288">
            <a:spAutoFit/>
          </a:bodyPr>
          <a:lstStyle/>
          <a:p>
            <a:pPr algn="ctr">
              <a:spcBef>
                <a:spcPts val="0"/>
              </a:spcBef>
              <a:spcAft>
                <a:spcPts val="0"/>
              </a:spcAft>
            </a:pPr>
            <a:r>
              <a:rPr sz="1250" b="0" i="0">
                <a:solidFill>
                  <a:srgbClr val="4B5563"/>
                </a:solidFill>
                <a:latin typeface="Calibri"/>
              </a:rPr>
              <a:t>Volume error  10⁻¹⁶</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86384"/>
          </a:xfrm>
          <a:prstGeom prst="rect">
            <a:avLst/>
          </a:prstGeom>
          <a:solidFill>
            <a:srgbClr val="0B3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86384"/>
            <a:ext cx="12191695" cy="45720"/>
          </a:xfrm>
          <a:prstGeom prst="rect">
            <a:avLst/>
          </a:prstGeom>
          <a:solidFill>
            <a:srgbClr val="1A7A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338560" cy="420624"/>
          </a:xfrm>
          <a:prstGeom prst="rect">
            <a:avLst/>
          </a:prstGeom>
          <a:noFill/>
        </p:spPr>
        <p:txBody>
          <a:bodyPr wrap="square" lIns="54864" rIns="54864" tIns="27432" bIns="18288">
            <a:spAutoFit/>
          </a:bodyPr>
          <a:lstStyle/>
          <a:p>
            <a:pPr algn="l">
              <a:spcBef>
                <a:spcPts val="0"/>
              </a:spcBef>
              <a:spcAft>
                <a:spcPts val="0"/>
              </a:spcAft>
            </a:pPr>
            <a:r>
              <a:rPr sz="2500" b="1" i="0">
                <a:solidFill>
                  <a:srgbClr val="FFFFFF"/>
                </a:solidFill>
                <a:latin typeface="Calibri"/>
              </a:rPr>
              <a:t>Full Stokes model: anchoring controls shape</a:t>
            </a:r>
          </a:p>
        </p:txBody>
      </p:sp>
      <p:sp>
        <p:nvSpPr>
          <p:cNvPr id="6" name="Rectangle 5"/>
          <p:cNvSpPr/>
          <p:nvPr/>
        </p:nvSpPr>
        <p:spPr>
          <a:xfrm>
            <a:off x="0" y="6601968"/>
            <a:ext cx="12191695" cy="256032"/>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0040" y="6601968"/>
            <a:ext cx="9601200" cy="237744"/>
          </a:xfrm>
          <a:prstGeom prst="rect">
            <a:avLst/>
          </a:prstGeom>
          <a:noFill/>
        </p:spPr>
        <p:txBody>
          <a:bodyPr wrap="square" lIns="54864" rIns="54864" tIns="27432" bIns="18288">
            <a:spAutoFit/>
          </a:bodyPr>
          <a:lstStyle/>
          <a:p>
            <a:pPr algn="l">
              <a:spcBef>
                <a:spcPts val="0"/>
              </a:spcBef>
              <a:spcAft>
                <a:spcPts val="0"/>
              </a:spcAft>
            </a:pPr>
            <a:r>
              <a:rPr sz="1100" b="0" i="0">
                <a:solidFill>
                  <a:srgbClr val="4B5563"/>
                </a:solidFill>
                <a:latin typeface="Calibri"/>
              </a:rPr>
              <a:t>PYD411  ·  Mid-term  ·  Dept of Physics, IIT Delhi  ·  Siddharth Kumar &amp; Soumik Roy</a:t>
            </a:r>
          </a:p>
        </p:txBody>
      </p:sp>
      <p:sp>
        <p:nvSpPr>
          <p:cNvPr id="8" name="TextBox 7"/>
          <p:cNvSpPr txBox="1"/>
          <p:nvPr/>
        </p:nvSpPr>
        <p:spPr>
          <a:xfrm>
            <a:off x="10607040" y="6601968"/>
            <a:ext cx="1280160" cy="237744"/>
          </a:xfrm>
          <a:prstGeom prst="rect">
            <a:avLst/>
          </a:prstGeom>
          <a:noFill/>
        </p:spPr>
        <p:txBody>
          <a:bodyPr wrap="square" lIns="54864" rIns="54864" tIns="27432" bIns="18288">
            <a:spAutoFit/>
          </a:bodyPr>
          <a:lstStyle/>
          <a:p>
            <a:pPr algn="r">
              <a:spcBef>
                <a:spcPts val="0"/>
              </a:spcBef>
              <a:spcAft>
                <a:spcPts val="0"/>
              </a:spcAft>
            </a:pPr>
            <a:r>
              <a:rPr sz="1100" b="0" i="0">
                <a:solidFill>
                  <a:srgbClr val="4B5563"/>
                </a:solidFill>
                <a:latin typeface="Calibri"/>
              </a:rPr>
              <a:t>6 / 10</a:t>
            </a:r>
          </a:p>
        </p:txBody>
      </p:sp>
      <p:sp>
        <p:nvSpPr>
          <p:cNvPr id="9" name="Rounded Rectangle 8"/>
          <p:cNvSpPr/>
          <p:nvPr/>
        </p:nvSpPr>
        <p:spPr>
          <a:xfrm>
            <a:off x="292608" y="914400"/>
            <a:ext cx="3246120" cy="1508760"/>
          </a:xfrm>
          <a:prstGeom prst="roundRect">
            <a:avLst>
              <a:gd name="adj" fmla="val 80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0624" y="987552"/>
            <a:ext cx="2990088" cy="1371600"/>
          </a:xfrm>
          <a:prstGeom prst="rect">
            <a:avLst/>
          </a:prstGeom>
          <a:noFill/>
        </p:spPr>
        <p:txBody>
          <a:bodyPr wrap="square" lIns="54864" rIns="54864" tIns="27432" bIns="18288">
            <a:spAutoFit/>
          </a:bodyPr>
          <a:lstStyle/>
          <a:p>
            <a:pPr algn="l">
              <a:spcBef>
                <a:spcPts val="0"/>
              </a:spcBef>
              <a:spcAft>
                <a:spcPts val="400"/>
              </a:spcAft>
            </a:pPr>
            <a:r>
              <a:rPr sz="1500" b="1" i="0">
                <a:solidFill>
                  <a:srgbClr val="0B3D5C"/>
                </a:solidFill>
                <a:latin typeface="Calibri"/>
              </a:rPr>
              <a:t>Passive check</a:t>
            </a:r>
          </a:p>
          <a:p>
            <a:pPr>
              <a:spcAft>
                <a:spcPts val="200"/>
              </a:spcAft>
            </a:pPr>
            <a:r>
              <a:rPr sz="1250" b="0" i="0">
                <a:solidFill>
                  <a:srgbClr val="1F2937"/>
                </a:solidFill>
                <a:latin typeface="Calibri"/>
              </a:rPr>
              <a:t>•  Ellipse → circle</a:t>
            </a:r>
          </a:p>
          <a:p>
            <a:pPr>
              <a:spcAft>
                <a:spcPts val="200"/>
              </a:spcAft>
            </a:pPr>
            <a:r>
              <a:rPr sz="1250" b="0" i="0">
                <a:solidFill>
                  <a:srgbClr val="1F2937"/>
                </a:solidFill>
                <a:latin typeface="Calibri"/>
              </a:rPr>
              <a:t>•  Energy decreases</a:t>
            </a:r>
          </a:p>
          <a:p>
            <a:pPr>
              <a:spcAft>
                <a:spcPts val="200"/>
              </a:spcAft>
            </a:pPr>
            <a:r>
              <a:rPr sz="1250" b="0" i="0">
                <a:solidFill>
                  <a:srgbClr val="1F2937"/>
                </a:solidFill>
                <a:latin typeface="Calibri"/>
              </a:rPr>
              <a:t>•  Flow vanishes</a:t>
            </a:r>
          </a:p>
          <a:p>
            <a:pPr>
              <a:spcAft>
                <a:spcPts val="0"/>
              </a:spcAft>
            </a:pPr>
            <a:r>
              <a:rPr sz="1250" b="0" i="0">
                <a:solidFill>
                  <a:srgbClr val="1F2937"/>
                </a:solidFill>
                <a:latin typeface="Calibri"/>
              </a:rPr>
              <a:t>•  Volume error = 0</a:t>
            </a:r>
          </a:p>
        </p:txBody>
      </p:sp>
      <p:pic>
        <p:nvPicPr>
          <p:cNvPr id="11" name="Picture 10" descr="fig_v3_morph.png"/>
          <p:cNvPicPr>
            <a:picLocks noChangeAspect="1"/>
          </p:cNvPicPr>
          <p:nvPr/>
        </p:nvPicPr>
        <p:blipFill>
          <a:blip r:embed="rId2"/>
          <a:stretch>
            <a:fillRect/>
          </a:stretch>
        </p:blipFill>
        <p:spPr>
          <a:xfrm>
            <a:off x="5783818" y="914400"/>
            <a:ext cx="3977163" cy="2880360"/>
          </a:xfrm>
          <a:prstGeom prst="rect">
            <a:avLst/>
          </a:prstGeom>
        </p:spPr>
      </p:pic>
      <p:sp>
        <p:nvSpPr>
          <p:cNvPr id="12" name="TextBox 11"/>
          <p:cNvSpPr txBox="1"/>
          <p:nvPr/>
        </p:nvSpPr>
        <p:spPr>
          <a:xfrm>
            <a:off x="3657600" y="3822191"/>
            <a:ext cx="8229600" cy="237744"/>
          </a:xfrm>
          <a:prstGeom prst="rect">
            <a:avLst/>
          </a:prstGeom>
          <a:noFill/>
        </p:spPr>
        <p:txBody>
          <a:bodyPr wrap="square" lIns="54864" rIns="54864" tIns="27432" bIns="18288">
            <a:spAutoFit/>
          </a:bodyPr>
          <a:lstStyle/>
          <a:p>
            <a:pPr algn="ctr">
              <a:spcBef>
                <a:spcPts val="0"/>
              </a:spcBef>
              <a:spcAft>
                <a:spcPts val="0"/>
              </a:spcAft>
            </a:pPr>
            <a:r>
              <a:rPr sz="1250" b="1" i="0">
                <a:solidFill>
                  <a:srgbClr val="4B5563"/>
                </a:solidFill>
                <a:latin typeface="Calibri"/>
              </a:rPr>
              <a:t>Two active morphologies at  w₀ = 1</a:t>
            </a:r>
          </a:p>
        </p:txBody>
      </p:sp>
      <p:sp>
        <p:nvSpPr>
          <p:cNvPr id="13" name="Rounded Rectangle 12"/>
          <p:cNvSpPr/>
          <p:nvPr/>
        </p:nvSpPr>
        <p:spPr>
          <a:xfrm>
            <a:off x="292608" y="2542032"/>
            <a:ext cx="3246120" cy="1481328"/>
          </a:xfrm>
          <a:prstGeom prst="roundRect">
            <a:avLst>
              <a:gd name="adj" fmla="val 8000"/>
            </a:avLst>
          </a:prstGeom>
          <a:solidFill>
            <a:srgbClr val="E8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20624" y="2596896"/>
            <a:ext cx="2990088" cy="731520"/>
          </a:xfrm>
          <a:prstGeom prst="rect">
            <a:avLst/>
          </a:prstGeom>
          <a:noFill/>
        </p:spPr>
        <p:txBody>
          <a:bodyPr wrap="square" lIns="54864" rIns="54864" tIns="27432" bIns="18288">
            <a:spAutoFit/>
          </a:bodyPr>
          <a:lstStyle/>
          <a:p>
            <a:pPr algn="l">
              <a:spcBef>
                <a:spcPts val="0"/>
              </a:spcBef>
              <a:spcAft>
                <a:spcPts val="200"/>
              </a:spcAft>
            </a:pPr>
            <a:r>
              <a:rPr sz="1300" b="1" i="0">
                <a:solidFill>
                  <a:srgbClr val="1A7A6D"/>
                </a:solidFill>
                <a:latin typeface="Calibri"/>
              </a:rPr>
              <a:t>Strong anchoring</a:t>
            </a:r>
          </a:p>
          <a:p>
            <a:pPr algn="l">
              <a:spcBef>
                <a:spcPts val="0"/>
              </a:spcBef>
              <a:spcAft>
                <a:spcPts val="200"/>
              </a:spcAft>
            </a:pPr>
            <a:r>
              <a:rPr sz="1200" b="0" i="0">
                <a:solidFill>
                  <a:srgbClr val="1F2937"/>
                </a:solidFill>
                <a:latin typeface="Calibri"/>
              </a:rPr>
              <a:t>Radial actin aster,  |⟨P⟩| = 0,  speed = 0</a:t>
            </a:r>
          </a:p>
          <a:p>
            <a:pPr algn="l">
              <a:spcBef>
                <a:spcPts val="0"/>
              </a:spcBef>
              <a:spcAft>
                <a:spcPts val="0"/>
              </a:spcAft>
            </a:pPr>
            <a:r>
              <a:rPr sz="1100" b="0" i="0">
                <a:solidFill>
                  <a:srgbClr val="4B5563"/>
                </a:solidFill>
                <a:latin typeface="Calibri"/>
              </a:rPr>
              <a:t>Symmetry must break for motility</a:t>
            </a:r>
          </a:p>
        </p:txBody>
      </p:sp>
      <p:sp>
        <p:nvSpPr>
          <p:cNvPr id="15" name="Rounded Rectangle 14"/>
          <p:cNvSpPr/>
          <p:nvPr/>
        </p:nvSpPr>
        <p:spPr>
          <a:xfrm>
            <a:off x="292608" y="4133087"/>
            <a:ext cx="3246120" cy="1188720"/>
          </a:xfrm>
          <a:prstGeom prst="roundRect">
            <a:avLst>
              <a:gd name="adj" fmla="val 8000"/>
            </a:avLst>
          </a:prstGeom>
          <a:solidFill>
            <a:srgbClr val="E8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20624" y="4187952"/>
            <a:ext cx="2990088" cy="777240"/>
          </a:xfrm>
          <a:prstGeom prst="rect">
            <a:avLst/>
          </a:prstGeom>
          <a:noFill/>
        </p:spPr>
        <p:txBody>
          <a:bodyPr wrap="square" lIns="54864" rIns="54864" tIns="27432" bIns="18288">
            <a:spAutoFit/>
          </a:bodyPr>
          <a:lstStyle/>
          <a:p>
            <a:pPr algn="l">
              <a:spcBef>
                <a:spcPts val="0"/>
              </a:spcBef>
              <a:spcAft>
                <a:spcPts val="200"/>
              </a:spcAft>
            </a:pPr>
            <a:r>
              <a:rPr sz="1300" b="1" i="0">
                <a:solidFill>
                  <a:srgbClr val="1A7A6D"/>
                </a:solidFill>
                <a:latin typeface="Calibri"/>
              </a:rPr>
              <a:t>Moderate anchoring</a:t>
            </a:r>
          </a:p>
          <a:p>
            <a:pPr algn="l">
              <a:spcBef>
                <a:spcPts val="0"/>
              </a:spcBef>
              <a:spcAft>
                <a:spcPts val="200"/>
              </a:spcAft>
            </a:pPr>
            <a:r>
              <a:rPr sz="1200" b="0" i="0">
                <a:solidFill>
                  <a:srgbClr val="1F2937"/>
                </a:solidFill>
                <a:latin typeface="Calibri"/>
              </a:rPr>
              <a:t>Lamellipodial fan</a:t>
            </a:r>
          </a:p>
          <a:p>
            <a:pPr algn="l">
              <a:spcBef>
                <a:spcPts val="0"/>
              </a:spcBef>
              <a:spcAft>
                <a:spcPts val="0"/>
              </a:spcAft>
            </a:pPr>
            <a:r>
              <a:rPr sz="1200" b="0" i="0">
                <a:solidFill>
                  <a:srgbClr val="1F2937"/>
                </a:solidFill>
                <a:latin typeface="Calibri"/>
              </a:rPr>
              <a:t>Aspect ratio = 2.91,  speed = 0.843 ≈ w₀</a:t>
            </a:r>
          </a:p>
        </p:txBody>
      </p:sp>
      <p:sp>
        <p:nvSpPr>
          <p:cNvPr id="17" name="Rounded Rectangle 16"/>
          <p:cNvSpPr/>
          <p:nvPr/>
        </p:nvSpPr>
        <p:spPr>
          <a:xfrm>
            <a:off x="3977639" y="4041648"/>
            <a:ext cx="4297680" cy="1481328"/>
          </a:xfrm>
          <a:prstGeom prst="roundRect">
            <a:avLst>
              <a:gd name="adj" fmla="val 10000"/>
            </a:avLst>
          </a:prstGeom>
          <a:solidFill>
            <a:srgbClr val="EFF5F7"/>
          </a:solidFill>
          <a:ln w="15875">
            <a:solidFill>
              <a:srgbClr val="1A7A6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77639" y="4096512"/>
            <a:ext cx="4297680" cy="256032"/>
          </a:xfrm>
          <a:prstGeom prst="rect">
            <a:avLst/>
          </a:prstGeom>
          <a:noFill/>
        </p:spPr>
        <p:txBody>
          <a:bodyPr wrap="square" lIns="54864" rIns="54864" tIns="27432" bIns="18288">
            <a:spAutoFit/>
          </a:bodyPr>
          <a:lstStyle/>
          <a:p>
            <a:pPr algn="ctr">
              <a:spcBef>
                <a:spcPts val="0"/>
              </a:spcBef>
              <a:spcAft>
                <a:spcPts val="0"/>
              </a:spcAft>
            </a:pPr>
            <a:r>
              <a:rPr sz="1200" b="1" i="0">
                <a:solidFill>
                  <a:srgbClr val="0B3D5C"/>
                </a:solidFill>
                <a:latin typeface="Calibri"/>
              </a:rPr>
              <a:t>aspect ratio</a:t>
            </a:r>
          </a:p>
        </p:txBody>
      </p:sp>
      <p:graphicFrame>
        <p:nvGraphicFramePr>
          <p:cNvPr id="19" name="Table 18"/>
          <p:cNvGraphicFramePr>
            <a:graphicFrameLocks noGrp="1"/>
          </p:cNvGraphicFramePr>
          <p:nvPr/>
        </p:nvGraphicFramePr>
        <p:xfrm>
          <a:off x="4114799" y="4370832"/>
          <a:ext cx="4023360" cy="1051560"/>
        </p:xfrm>
        <a:graphic>
          <a:graphicData uri="http://schemas.openxmlformats.org/drawingml/2006/table">
            <a:tbl>
              <a:tblPr firstRow="1" bandRow="1">
                <a:tableStyleId>{5C22544A-7EE6-4342-B048-85BDC9FD1C3A}</a:tableStyleId>
              </a:tblPr>
              <a:tblGrid>
                <a:gridCol w="1341120"/>
                <a:gridCol w="1341120"/>
                <a:gridCol w="1341120"/>
              </a:tblGrid>
              <a:tr h="350520">
                <a:tc>
                  <a:txBody>
                    <a:bodyPr/>
                    <a:lstStyle/>
                    <a:p>
                      <a:pPr algn="ctr"/>
                    </a:p>
                  </a:txBody>
                  <a:tcPr anchor="ctr">
                    <a:solidFill>
                      <a:srgbClr val="0B3D5C"/>
                    </a:solidFill>
                  </a:tcPr>
                </a:tc>
                <a:tc>
                  <a:txBody>
                    <a:bodyPr/>
                    <a:lstStyle/>
                    <a:p>
                      <a:pPr algn="ctr"/>
                      <a:r>
                        <a:rPr sz="1400" b="1">
                          <a:solidFill>
                            <a:srgbClr val="FFFFFF"/>
                          </a:solidFill>
                          <a:latin typeface="Calibri"/>
                        </a:rPr>
                        <a:t>flow off</a:t>
                      </a:r>
                    </a:p>
                  </a:txBody>
                  <a:tcPr anchor="ctr">
                    <a:solidFill>
                      <a:srgbClr val="0B3D5C"/>
                    </a:solidFill>
                  </a:tcPr>
                </a:tc>
                <a:tc>
                  <a:txBody>
                    <a:bodyPr/>
                    <a:lstStyle/>
                    <a:p>
                      <a:pPr algn="ctr"/>
                      <a:r>
                        <a:rPr sz="1400" b="1">
                          <a:solidFill>
                            <a:srgbClr val="FFFFFF"/>
                          </a:solidFill>
                          <a:latin typeface="Calibri"/>
                        </a:rPr>
                        <a:t>flow on</a:t>
                      </a:r>
                    </a:p>
                  </a:txBody>
                  <a:tcPr anchor="ctr">
                    <a:solidFill>
                      <a:srgbClr val="0B3D5C"/>
                    </a:solidFill>
                  </a:tcPr>
                </a:tc>
              </a:tr>
              <a:tr h="350520">
                <a:tc>
                  <a:txBody>
                    <a:bodyPr/>
                    <a:lstStyle/>
                    <a:p>
                      <a:pPr algn="ctr"/>
                      <a:r>
                        <a:rPr sz="1400" b="1">
                          <a:solidFill>
                            <a:srgbClr val="FFFFFF"/>
                          </a:solidFill>
                          <a:latin typeface="Calibri"/>
                        </a:rPr>
                        <a:t>β = 0</a:t>
                      </a:r>
                    </a:p>
                  </a:txBody>
                  <a:tcPr anchor="ctr">
                    <a:solidFill>
                      <a:srgbClr val="0B3D5C"/>
                    </a:solidFill>
                  </a:tcPr>
                </a:tc>
                <a:tc>
                  <a:txBody>
                    <a:bodyPr/>
                    <a:lstStyle/>
                    <a:p>
                      <a:pPr algn="ctr"/>
                      <a:r>
                        <a:rPr sz="1400" b="1">
                          <a:solidFill>
                            <a:srgbClr val="1F2937"/>
                          </a:solidFill>
                          <a:latin typeface="Calibri"/>
                        </a:rPr>
                        <a:t>1.07</a:t>
                      </a:r>
                    </a:p>
                  </a:txBody>
                  <a:tcPr anchor="ctr">
                    <a:solidFill>
                      <a:srgbClr val="E8F3F1"/>
                    </a:solidFill>
                  </a:tcPr>
                </a:tc>
                <a:tc>
                  <a:txBody>
                    <a:bodyPr/>
                    <a:lstStyle/>
                    <a:p>
                      <a:pPr algn="ctr"/>
                      <a:r>
                        <a:rPr sz="1400" b="1">
                          <a:solidFill>
                            <a:srgbClr val="1F2937"/>
                          </a:solidFill>
                          <a:latin typeface="Calibri"/>
                        </a:rPr>
                        <a:t>1.61</a:t>
                      </a:r>
                    </a:p>
                  </a:txBody>
                  <a:tcPr anchor="ctr">
                    <a:solidFill>
                      <a:srgbClr val="E8F3F1"/>
                    </a:solidFill>
                  </a:tcPr>
                </a:tc>
              </a:tr>
              <a:tr h="350520">
                <a:tc>
                  <a:txBody>
                    <a:bodyPr/>
                    <a:lstStyle/>
                    <a:p>
                      <a:pPr algn="ctr"/>
                      <a:r>
                        <a:rPr sz="1400" b="1">
                          <a:solidFill>
                            <a:srgbClr val="FFFFFF"/>
                          </a:solidFill>
                          <a:latin typeface="Calibri"/>
                        </a:rPr>
                        <a:t>β = 0.25</a:t>
                      </a:r>
                    </a:p>
                  </a:txBody>
                  <a:tcPr anchor="ctr">
                    <a:solidFill>
                      <a:srgbClr val="0B3D5C"/>
                    </a:solidFill>
                  </a:tcPr>
                </a:tc>
                <a:tc>
                  <a:txBody>
                    <a:bodyPr/>
                    <a:lstStyle/>
                    <a:p>
                      <a:pPr algn="ctr"/>
                      <a:r>
                        <a:rPr sz="1400" b="1">
                          <a:solidFill>
                            <a:srgbClr val="1F2937"/>
                          </a:solidFill>
                          <a:latin typeface="Calibri"/>
                        </a:rPr>
                        <a:t>2.85</a:t>
                      </a:r>
                    </a:p>
                  </a:txBody>
                  <a:tcPr anchor="ctr">
                    <a:solidFill>
                      <a:srgbClr val="E8F3F1"/>
                    </a:solidFill>
                  </a:tcPr>
                </a:tc>
                <a:tc>
                  <a:txBody>
                    <a:bodyPr/>
                    <a:lstStyle/>
                    <a:p>
                      <a:pPr algn="ctr"/>
                      <a:r>
                        <a:rPr sz="1400" b="1">
                          <a:solidFill>
                            <a:srgbClr val="1F2937"/>
                          </a:solidFill>
                          <a:latin typeface="Calibri"/>
                        </a:rPr>
                        <a:t>2.92</a:t>
                      </a:r>
                    </a:p>
                  </a:txBody>
                  <a:tcPr anchor="ctr">
                    <a:solidFill>
                      <a:srgbClr val="B8860B"/>
                    </a:solidFill>
                  </a:tcPr>
                </a:tc>
              </a:tr>
            </a:tbl>
          </a:graphicData>
        </a:graphic>
      </p:graphicFrame>
      <p:sp>
        <p:nvSpPr>
          <p:cNvPr id="20" name="TextBox 19"/>
          <p:cNvSpPr txBox="1"/>
          <p:nvPr/>
        </p:nvSpPr>
        <p:spPr>
          <a:xfrm>
            <a:off x="8412480" y="4041648"/>
            <a:ext cx="3474720" cy="1481328"/>
          </a:xfrm>
          <a:prstGeom prst="rect">
            <a:avLst/>
          </a:prstGeom>
          <a:noFill/>
        </p:spPr>
        <p:txBody>
          <a:bodyPr wrap="square" lIns="54864" rIns="54864" tIns="27432" bIns="18288" anchor="ctr">
            <a:spAutoFit/>
          </a:bodyPr>
          <a:lstStyle/>
          <a:p>
            <a:pPr algn="l">
              <a:spcBef>
                <a:spcPts val="0"/>
              </a:spcBef>
              <a:spcAft>
                <a:spcPts val="0"/>
              </a:spcAft>
            </a:pPr>
            <a:r>
              <a:rPr sz="1300" b="0" i="0">
                <a:solidFill>
                  <a:srgbClr val="1F2937"/>
                </a:solidFill>
                <a:latin typeface="Calibri"/>
              </a:rPr>
              <a:t>Flow added on top of anchoring changes aspect ratio by only ~2%.</a:t>
            </a:r>
          </a:p>
        </p:txBody>
      </p:sp>
      <p:pic>
        <p:nvPicPr>
          <p:cNvPr id="21" name="Picture 20" descr="fig_v3_decomp.png"/>
          <p:cNvPicPr>
            <a:picLocks noChangeAspect="1"/>
          </p:cNvPicPr>
          <p:nvPr/>
        </p:nvPicPr>
        <p:blipFill>
          <a:blip r:embed="rId3"/>
          <a:stretch>
            <a:fillRect/>
          </a:stretch>
        </p:blipFill>
        <p:spPr>
          <a:xfrm>
            <a:off x="750784" y="5614416"/>
            <a:ext cx="2329767" cy="777240"/>
          </a:xfrm>
          <a:prstGeom prst="rect">
            <a:avLst/>
          </a:prstGeom>
        </p:spPr>
      </p:pic>
      <p:sp>
        <p:nvSpPr>
          <p:cNvPr id="22" name="TextBox 21"/>
          <p:cNvSpPr txBox="1"/>
          <p:nvPr/>
        </p:nvSpPr>
        <p:spPr>
          <a:xfrm>
            <a:off x="3749039" y="5614416"/>
            <a:ext cx="8138160" cy="822960"/>
          </a:xfrm>
          <a:prstGeom prst="rect">
            <a:avLst/>
          </a:prstGeom>
          <a:noFill/>
        </p:spPr>
        <p:txBody>
          <a:bodyPr wrap="square" lIns="54864" rIns="54864" tIns="27432" bIns="18288">
            <a:spAutoFit/>
          </a:bodyPr>
          <a:lstStyle/>
          <a:p>
            <a:pPr algn="l">
              <a:spcBef>
                <a:spcPts val="0"/>
              </a:spcBef>
              <a:spcAft>
                <a:spcPts val="400"/>
              </a:spcAft>
            </a:pPr>
            <a:r>
              <a:rPr sz="1250" b="1" i="0">
                <a:solidFill>
                  <a:srgbClr val="1F2937"/>
                </a:solidFill>
                <a:latin typeface="Calibri"/>
              </a:rPr>
              <a:t>No planar pseudopod / phagocytic cup: these require 3D structure.</a:t>
            </a:r>
          </a:p>
          <a:p>
            <a:pPr algn="l">
              <a:spcBef>
                <a:spcPts val="0"/>
              </a:spcBef>
              <a:spcAft>
                <a:spcPts val="0"/>
              </a:spcAft>
            </a:pPr>
            <a:r>
              <a:rPr sz="1150" b="0" i="0">
                <a:solidFill>
                  <a:srgbClr val="4B5563"/>
                </a:solidFill>
                <a:latin typeface="Calibri"/>
              </a:rPr>
              <a:t>Constant ξ cannot reproduce the biphasic adhesion–speed mechanism of Leoni &amp; Sens.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86384"/>
          </a:xfrm>
          <a:prstGeom prst="rect">
            <a:avLst/>
          </a:prstGeom>
          <a:solidFill>
            <a:srgbClr val="0B3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86384"/>
            <a:ext cx="12191695" cy="45720"/>
          </a:xfrm>
          <a:prstGeom prst="rect">
            <a:avLst/>
          </a:prstGeom>
          <a:solidFill>
            <a:srgbClr val="1A7A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338560" cy="420624"/>
          </a:xfrm>
          <a:prstGeom prst="rect">
            <a:avLst/>
          </a:prstGeom>
          <a:noFill/>
        </p:spPr>
        <p:txBody>
          <a:bodyPr wrap="square" lIns="54864" rIns="54864" tIns="27432" bIns="18288">
            <a:spAutoFit/>
          </a:bodyPr>
          <a:lstStyle/>
          <a:p>
            <a:pPr algn="l">
              <a:spcBef>
                <a:spcPts val="0"/>
              </a:spcBef>
              <a:spcAft>
                <a:spcPts val="0"/>
              </a:spcAft>
            </a:pPr>
            <a:r>
              <a:rPr sz="2500" b="1" i="0">
                <a:solidFill>
                  <a:srgbClr val="FFFFFF"/>
                </a:solidFill>
                <a:latin typeface="Calibri"/>
              </a:rPr>
              <a:t>Version 4 — crawling without a Stokes solve</a:t>
            </a:r>
          </a:p>
        </p:txBody>
      </p:sp>
      <p:sp>
        <p:nvSpPr>
          <p:cNvPr id="6" name="Rectangle 5"/>
          <p:cNvSpPr/>
          <p:nvPr/>
        </p:nvSpPr>
        <p:spPr>
          <a:xfrm>
            <a:off x="0" y="6601968"/>
            <a:ext cx="12191695" cy="256032"/>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0040" y="6601968"/>
            <a:ext cx="9601200" cy="237744"/>
          </a:xfrm>
          <a:prstGeom prst="rect">
            <a:avLst/>
          </a:prstGeom>
          <a:noFill/>
        </p:spPr>
        <p:txBody>
          <a:bodyPr wrap="square" lIns="54864" rIns="54864" tIns="27432" bIns="18288">
            <a:spAutoFit/>
          </a:bodyPr>
          <a:lstStyle/>
          <a:p>
            <a:pPr algn="l">
              <a:spcBef>
                <a:spcPts val="0"/>
              </a:spcBef>
              <a:spcAft>
                <a:spcPts val="0"/>
              </a:spcAft>
            </a:pPr>
            <a:r>
              <a:rPr sz="1100" b="0" i="0">
                <a:solidFill>
                  <a:srgbClr val="4B5563"/>
                </a:solidFill>
                <a:latin typeface="Calibri"/>
              </a:rPr>
              <a:t>PYD411  ·  Mid-term  ·  Dept of Physics, IIT Delhi  ·  Siddharth Kumar &amp; Soumik Roy</a:t>
            </a:r>
          </a:p>
        </p:txBody>
      </p:sp>
      <p:sp>
        <p:nvSpPr>
          <p:cNvPr id="8" name="TextBox 7"/>
          <p:cNvSpPr txBox="1"/>
          <p:nvPr/>
        </p:nvSpPr>
        <p:spPr>
          <a:xfrm>
            <a:off x="10607040" y="6601968"/>
            <a:ext cx="1280160" cy="237744"/>
          </a:xfrm>
          <a:prstGeom prst="rect">
            <a:avLst/>
          </a:prstGeom>
          <a:noFill/>
        </p:spPr>
        <p:txBody>
          <a:bodyPr wrap="square" lIns="54864" rIns="54864" tIns="27432" bIns="18288">
            <a:spAutoFit/>
          </a:bodyPr>
          <a:lstStyle/>
          <a:p>
            <a:pPr algn="r">
              <a:spcBef>
                <a:spcPts val="0"/>
              </a:spcBef>
              <a:spcAft>
                <a:spcPts val="0"/>
              </a:spcAft>
            </a:pPr>
            <a:r>
              <a:rPr sz="1100" b="0" i="0">
                <a:solidFill>
                  <a:srgbClr val="4B5563"/>
                </a:solidFill>
                <a:latin typeface="Calibri"/>
              </a:rPr>
              <a:t>7 / 10</a:t>
            </a:r>
          </a:p>
        </p:txBody>
      </p:sp>
      <p:sp>
        <p:nvSpPr>
          <p:cNvPr id="9" name="Rounded Rectangle 8"/>
          <p:cNvSpPr/>
          <p:nvPr/>
        </p:nvSpPr>
        <p:spPr>
          <a:xfrm>
            <a:off x="292608" y="914400"/>
            <a:ext cx="4160520" cy="502920"/>
          </a:xfrm>
          <a:prstGeom prst="roundRect">
            <a:avLst>
              <a:gd name="adj" fmla="val 12000"/>
            </a:avLst>
          </a:prstGeom>
          <a:solidFill>
            <a:srgbClr val="EFF5F7"/>
          </a:solidFill>
          <a:ln w="15875">
            <a:solidFill>
              <a:srgbClr val="1A7A6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608" y="914400"/>
            <a:ext cx="4160520" cy="502920"/>
          </a:xfrm>
          <a:prstGeom prst="rect">
            <a:avLst/>
          </a:prstGeom>
          <a:noFill/>
        </p:spPr>
        <p:txBody>
          <a:bodyPr wrap="square" lIns="54864" rIns="54864" tIns="27432" bIns="18288" anchor="ctr">
            <a:spAutoFit/>
          </a:bodyPr>
          <a:lstStyle/>
          <a:p>
            <a:pPr algn="ctr">
              <a:spcBef>
                <a:spcPts val="0"/>
              </a:spcBef>
              <a:spcAft>
                <a:spcPts val="300"/>
              </a:spcAft>
            </a:pPr>
            <a:r>
              <a:rPr sz="1800" b="0" i="0">
                <a:solidFill>
                  <a:srgbClr val="0B3D5C"/>
                </a:solidFill>
                <a:latin typeface="Cambria Math"/>
              </a:rPr>
              <a:t>η / (ξ R</a:t>
            </a:r>
            <a:r>
              <a:rPr sz="1800" b="0" i="0" baseline="30000">
                <a:solidFill>
                  <a:srgbClr val="0B3D5C"/>
                </a:solidFill>
                <a:latin typeface="Cambria Math"/>
              </a:rPr>
              <a:t>2</a:t>
            </a:r>
            <a:r>
              <a:rPr sz="1800" b="0" i="0">
                <a:solidFill>
                  <a:srgbClr val="0B3D5C"/>
                </a:solidFill>
                <a:latin typeface="Cambria Math"/>
              </a:rPr>
              <a:t>)  ≈  0.006</a:t>
            </a:r>
          </a:p>
        </p:txBody>
      </p:sp>
      <p:sp>
        <p:nvSpPr>
          <p:cNvPr id="11" name="TextBox 10"/>
          <p:cNvSpPr txBox="1"/>
          <p:nvPr/>
        </p:nvSpPr>
        <p:spPr>
          <a:xfrm>
            <a:off x="292608" y="1435608"/>
            <a:ext cx="4160520" cy="274320"/>
          </a:xfrm>
          <a:prstGeom prst="rect">
            <a:avLst/>
          </a:prstGeom>
          <a:noFill/>
        </p:spPr>
        <p:txBody>
          <a:bodyPr wrap="square" lIns="54864" rIns="54864" tIns="27432" bIns="18288">
            <a:spAutoFit/>
          </a:bodyPr>
          <a:lstStyle/>
          <a:p>
            <a:pPr algn="ctr">
              <a:spcBef>
                <a:spcPts val="0"/>
              </a:spcBef>
              <a:spcAft>
                <a:spcPts val="0"/>
              </a:spcAft>
            </a:pPr>
            <a:r>
              <a:rPr sz="1150" b="0" i="0">
                <a:solidFill>
                  <a:srgbClr val="4B5563"/>
                </a:solidFill>
                <a:latin typeface="Calibri"/>
              </a:rPr>
              <a:t>friction dominates viscosity at the cell scale</a:t>
            </a:r>
          </a:p>
        </p:txBody>
      </p:sp>
      <p:sp>
        <p:nvSpPr>
          <p:cNvPr id="12" name="Rounded Rectangle 11"/>
          <p:cNvSpPr/>
          <p:nvPr/>
        </p:nvSpPr>
        <p:spPr>
          <a:xfrm>
            <a:off x="292608" y="1792224"/>
            <a:ext cx="4160520" cy="457200"/>
          </a:xfrm>
          <a:prstGeom prst="roundRect">
            <a:avLst>
              <a:gd name="adj" fmla="val 12000"/>
            </a:avLst>
          </a:prstGeom>
          <a:solidFill>
            <a:srgbClr val="EFF5F7"/>
          </a:solidFill>
          <a:ln w="15875">
            <a:solidFill>
              <a:srgbClr val="1A7A6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92608" y="1792224"/>
            <a:ext cx="4160520" cy="457200"/>
          </a:xfrm>
          <a:prstGeom prst="rect">
            <a:avLst/>
          </a:prstGeom>
          <a:noFill/>
        </p:spPr>
        <p:txBody>
          <a:bodyPr wrap="square" lIns="54864" rIns="54864" tIns="27432" bIns="18288" anchor="ctr">
            <a:spAutoFit/>
          </a:bodyPr>
          <a:lstStyle/>
          <a:p>
            <a:pPr algn="ctr">
              <a:spcBef>
                <a:spcPts val="0"/>
              </a:spcBef>
              <a:spcAft>
                <a:spcPts val="300"/>
              </a:spcAft>
            </a:pPr>
            <a:r>
              <a:rPr sz="1350" b="0" i="0">
                <a:solidFill>
                  <a:srgbClr val="0B3D5C"/>
                </a:solidFill>
                <a:latin typeface="Cambria Math"/>
              </a:rPr>
              <a:t>0 = −∇p + η∇</a:t>
            </a:r>
            <a:r>
              <a:rPr sz="1350" b="0" i="0" baseline="30000">
                <a:solidFill>
                  <a:srgbClr val="0B3D5C"/>
                </a:solidFill>
                <a:latin typeface="Cambria Math"/>
              </a:rPr>
              <a:t>2</a:t>
            </a:r>
            <a:r>
              <a:rPr sz="1500" b="1" i="0">
                <a:solidFill>
                  <a:srgbClr val="0B3D5C"/>
                </a:solidFill>
                <a:latin typeface="Cambria Math"/>
              </a:rPr>
              <a:t>v</a:t>
            </a:r>
            <a:r>
              <a:rPr sz="1350" b="0" i="0">
                <a:solidFill>
                  <a:srgbClr val="0B3D5C"/>
                </a:solidFill>
                <a:latin typeface="Cambria Math"/>
              </a:rPr>
              <a:t> − ξ</a:t>
            </a:r>
            <a:r>
              <a:rPr sz="1500" b="1" i="0">
                <a:solidFill>
                  <a:srgbClr val="0B3D5C"/>
                </a:solidFill>
                <a:latin typeface="Cambria Math"/>
              </a:rPr>
              <a:t>v</a:t>
            </a:r>
            <a:r>
              <a:rPr sz="1500" b="1" i="1">
                <a:solidFill>
                  <a:srgbClr val="0B3D5C"/>
                </a:solidFill>
                <a:latin typeface="Cambria Math"/>
              </a:rPr>
              <a:t> + f</a:t>
            </a:r>
          </a:p>
        </p:txBody>
      </p:sp>
      <p:sp>
        <p:nvSpPr>
          <p:cNvPr id="14" name="TextBox 13"/>
          <p:cNvSpPr txBox="1"/>
          <p:nvPr/>
        </p:nvSpPr>
        <p:spPr>
          <a:xfrm>
            <a:off x="292608" y="2267712"/>
            <a:ext cx="4160520" cy="237744"/>
          </a:xfrm>
          <a:prstGeom prst="rect">
            <a:avLst/>
          </a:prstGeom>
          <a:noFill/>
        </p:spPr>
        <p:txBody>
          <a:bodyPr wrap="square" lIns="54864" rIns="54864" tIns="27432" bIns="18288">
            <a:spAutoFit/>
          </a:bodyPr>
          <a:lstStyle/>
          <a:p>
            <a:pPr algn="ctr">
              <a:spcBef>
                <a:spcPts val="0"/>
              </a:spcBef>
              <a:spcAft>
                <a:spcPts val="0"/>
              </a:spcAft>
            </a:pPr>
            <a:r>
              <a:rPr sz="2000" b="1" i="0">
                <a:solidFill>
                  <a:srgbClr val="1A7A6D"/>
                </a:solidFill>
                <a:latin typeface="Calibri"/>
              </a:rPr>
              <a:t>⇓</a:t>
            </a:r>
          </a:p>
        </p:txBody>
      </p:sp>
      <p:sp>
        <p:nvSpPr>
          <p:cNvPr id="15" name="Rounded Rectangle 14"/>
          <p:cNvSpPr/>
          <p:nvPr/>
        </p:nvSpPr>
        <p:spPr>
          <a:xfrm>
            <a:off x="292608" y="2523744"/>
            <a:ext cx="4160520" cy="475488"/>
          </a:xfrm>
          <a:prstGeom prst="roundRect">
            <a:avLst>
              <a:gd name="adj" fmla="val 12000"/>
            </a:avLst>
          </a:prstGeom>
          <a:solidFill>
            <a:srgbClr val="E8F3F1"/>
          </a:solidFill>
          <a:ln w="15875">
            <a:solidFill>
              <a:srgbClr val="1A7A6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2608" y="2523744"/>
            <a:ext cx="4160520" cy="475488"/>
          </a:xfrm>
          <a:prstGeom prst="rect">
            <a:avLst/>
          </a:prstGeom>
          <a:noFill/>
        </p:spPr>
        <p:txBody>
          <a:bodyPr wrap="square" lIns="54864" rIns="54864" tIns="27432" bIns="18288" anchor="ctr">
            <a:spAutoFit/>
          </a:bodyPr>
          <a:lstStyle/>
          <a:p>
            <a:pPr algn="ctr">
              <a:spcBef>
                <a:spcPts val="0"/>
              </a:spcBef>
              <a:spcAft>
                <a:spcPts val="300"/>
              </a:spcAft>
            </a:pPr>
            <a:r>
              <a:rPr sz="2000" b="1" i="0">
                <a:solidFill>
                  <a:srgbClr val="0B3D5C"/>
                </a:solidFill>
                <a:latin typeface="Cambria Math"/>
              </a:rPr>
              <a:t>v</a:t>
            </a:r>
            <a:r>
              <a:rPr sz="2000" b="1" i="1">
                <a:solidFill>
                  <a:srgbClr val="0B3D5C"/>
                </a:solidFill>
                <a:latin typeface="Cambria Math"/>
              </a:rPr>
              <a:t>  =  f</a:t>
            </a:r>
            <a:r>
              <a:rPr sz="1800" b="0" i="0">
                <a:solidFill>
                  <a:srgbClr val="0B3D5C"/>
                </a:solidFill>
                <a:latin typeface="Cambria Math"/>
              </a:rPr>
              <a:t> / ξ</a:t>
            </a:r>
          </a:p>
        </p:txBody>
      </p:sp>
      <p:sp>
        <p:nvSpPr>
          <p:cNvPr id="17" name="TextBox 16"/>
          <p:cNvSpPr txBox="1"/>
          <p:nvPr/>
        </p:nvSpPr>
        <p:spPr>
          <a:xfrm>
            <a:off x="292608" y="3054096"/>
            <a:ext cx="4160520" cy="219456"/>
          </a:xfrm>
          <a:prstGeom prst="rect">
            <a:avLst/>
          </a:prstGeom>
          <a:noFill/>
        </p:spPr>
        <p:txBody>
          <a:bodyPr wrap="square" lIns="54864" rIns="54864" tIns="27432" bIns="18288">
            <a:spAutoFit/>
          </a:bodyPr>
          <a:lstStyle/>
          <a:p>
            <a:pPr algn="ctr">
              <a:spcBef>
                <a:spcPts val="0"/>
              </a:spcBef>
              <a:spcAft>
                <a:spcPts val="0"/>
              </a:spcAft>
            </a:pPr>
            <a:r>
              <a:rPr sz="2000" b="1" i="0">
                <a:solidFill>
                  <a:srgbClr val="1A7A6D"/>
                </a:solidFill>
                <a:latin typeface="Calibri"/>
              </a:rPr>
              <a:t>⇓</a:t>
            </a:r>
          </a:p>
        </p:txBody>
      </p:sp>
      <p:sp>
        <p:nvSpPr>
          <p:cNvPr id="18" name="Rounded Rectangle 17"/>
          <p:cNvSpPr/>
          <p:nvPr/>
        </p:nvSpPr>
        <p:spPr>
          <a:xfrm>
            <a:off x="292608" y="3291840"/>
            <a:ext cx="4160520" cy="457200"/>
          </a:xfrm>
          <a:prstGeom prst="roundRect">
            <a:avLst>
              <a:gd name="adj" fmla="val 12000"/>
            </a:avLst>
          </a:prstGeom>
          <a:solidFill>
            <a:srgbClr val="EFF5F7"/>
          </a:solidFill>
          <a:ln w="15875">
            <a:solidFill>
              <a:srgbClr val="1A7A6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92608" y="3291840"/>
            <a:ext cx="4160520" cy="457200"/>
          </a:xfrm>
          <a:prstGeom prst="rect">
            <a:avLst/>
          </a:prstGeom>
          <a:noFill/>
        </p:spPr>
        <p:txBody>
          <a:bodyPr wrap="square" lIns="54864" rIns="54864" tIns="27432" bIns="18288" anchor="ctr">
            <a:spAutoFit/>
          </a:bodyPr>
          <a:lstStyle/>
          <a:p>
            <a:pPr algn="ctr">
              <a:spcBef>
                <a:spcPts val="0"/>
              </a:spcBef>
              <a:spcAft>
                <a:spcPts val="300"/>
              </a:spcAft>
            </a:pPr>
            <a:r>
              <a:rPr sz="1400" b="0" i="0">
                <a:solidFill>
                  <a:srgbClr val="0B3D5C"/>
                </a:solidFill>
                <a:latin typeface="Cambria Math"/>
              </a:rPr>
              <a:t>f</a:t>
            </a:r>
            <a:r>
              <a:rPr sz="1400" b="0" i="0" baseline="-25000">
                <a:solidFill>
                  <a:srgbClr val="0B3D5C"/>
                </a:solidFill>
                <a:latin typeface="Cambria Math"/>
              </a:rPr>
              <a:t>act</a:t>
            </a:r>
            <a:r>
              <a:rPr sz="1400" b="0" i="0">
                <a:solidFill>
                  <a:srgbClr val="0B3D5C"/>
                </a:solidFill>
                <a:latin typeface="Cambria Math"/>
              </a:rPr>
              <a:t> = −ζ ∇·(φ</a:t>
            </a:r>
            <a:r>
              <a:rPr sz="1500" b="1" i="0">
                <a:solidFill>
                  <a:srgbClr val="0B3D5C"/>
                </a:solidFill>
                <a:latin typeface="Cambria Math"/>
              </a:rPr>
              <a:t>P</a:t>
            </a:r>
            <a:r>
              <a:rPr sz="1500" b="1" i="0">
                <a:solidFill>
                  <a:srgbClr val="0B3D5C"/>
                </a:solidFill>
                <a:latin typeface="Cambria Math"/>
              </a:rPr>
              <a:t>P</a:t>
            </a:r>
            <a:r>
              <a:rPr sz="1400" b="0" i="0">
                <a:solidFill>
                  <a:srgbClr val="0B3D5C"/>
                </a:solidFill>
                <a:latin typeface="Cambria Math"/>
              </a:rPr>
              <a:t>)</a:t>
            </a:r>
          </a:p>
        </p:txBody>
      </p:sp>
      <p:sp>
        <p:nvSpPr>
          <p:cNvPr id="20" name="TextBox 19"/>
          <p:cNvSpPr txBox="1"/>
          <p:nvPr/>
        </p:nvSpPr>
        <p:spPr>
          <a:xfrm>
            <a:off x="292608" y="3767328"/>
            <a:ext cx="4160520" cy="219456"/>
          </a:xfrm>
          <a:prstGeom prst="rect">
            <a:avLst/>
          </a:prstGeom>
          <a:noFill/>
        </p:spPr>
        <p:txBody>
          <a:bodyPr wrap="square" lIns="54864" rIns="54864" tIns="27432" bIns="18288">
            <a:spAutoFit/>
          </a:bodyPr>
          <a:lstStyle/>
          <a:p>
            <a:pPr algn="ctr">
              <a:spcBef>
                <a:spcPts val="0"/>
              </a:spcBef>
              <a:spcAft>
                <a:spcPts val="0"/>
              </a:spcAft>
            </a:pPr>
            <a:r>
              <a:rPr sz="2000" b="1" i="0">
                <a:solidFill>
                  <a:srgbClr val="1A7A6D"/>
                </a:solidFill>
                <a:latin typeface="Calibri"/>
              </a:rPr>
              <a:t>⇓</a:t>
            </a:r>
          </a:p>
        </p:txBody>
      </p:sp>
      <p:sp>
        <p:nvSpPr>
          <p:cNvPr id="21" name="Rounded Rectangle 20"/>
          <p:cNvSpPr/>
          <p:nvPr/>
        </p:nvSpPr>
        <p:spPr>
          <a:xfrm>
            <a:off x="292608" y="4005072"/>
            <a:ext cx="4160520" cy="475488"/>
          </a:xfrm>
          <a:prstGeom prst="roundRect">
            <a:avLst>
              <a:gd name="adj" fmla="val 12000"/>
            </a:avLst>
          </a:prstGeom>
          <a:solidFill>
            <a:srgbClr val="E8F3F1"/>
          </a:solidFill>
          <a:ln w="15875">
            <a:solidFill>
              <a:srgbClr val="1A7A6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92608" y="4005072"/>
            <a:ext cx="4160520" cy="475488"/>
          </a:xfrm>
          <a:prstGeom prst="rect">
            <a:avLst/>
          </a:prstGeom>
          <a:noFill/>
        </p:spPr>
        <p:txBody>
          <a:bodyPr wrap="square" lIns="54864" rIns="54864" tIns="27432" bIns="18288" anchor="ctr">
            <a:spAutoFit/>
          </a:bodyPr>
          <a:lstStyle/>
          <a:p>
            <a:pPr algn="ctr">
              <a:spcBef>
                <a:spcPts val="0"/>
              </a:spcBef>
              <a:spcAft>
                <a:spcPts val="300"/>
              </a:spcAft>
            </a:pPr>
            <a:r>
              <a:rPr sz="1700" b="1" i="0">
                <a:solidFill>
                  <a:srgbClr val="0B3D5C"/>
                </a:solidFill>
                <a:latin typeface="Cambria Math"/>
              </a:rPr>
              <a:t>v</a:t>
            </a:r>
            <a:r>
              <a:rPr sz="1300" b="0" i="0">
                <a:solidFill>
                  <a:srgbClr val="0B3D5C"/>
                </a:solidFill>
                <a:latin typeface="Cambria Math"/>
              </a:rPr>
              <a:t>  =  −(ζ/ξ) ∇·(φ</a:t>
            </a:r>
            <a:r>
              <a:rPr sz="1400" b="1" i="0">
                <a:solidFill>
                  <a:srgbClr val="0B3D5C"/>
                </a:solidFill>
                <a:latin typeface="Cambria Math"/>
              </a:rPr>
              <a:t>P</a:t>
            </a:r>
            <a:r>
              <a:rPr sz="1400" b="1" i="0">
                <a:solidFill>
                  <a:srgbClr val="0B3D5C"/>
                </a:solidFill>
                <a:latin typeface="Cambria Math"/>
              </a:rPr>
              <a:t>P</a:t>
            </a:r>
            <a:r>
              <a:rPr sz="1300" b="0" i="0">
                <a:solidFill>
                  <a:srgbClr val="0B3D5C"/>
                </a:solidFill>
                <a:latin typeface="Cambria Math"/>
              </a:rPr>
              <a:t>)</a:t>
            </a:r>
          </a:p>
        </p:txBody>
      </p:sp>
      <p:sp>
        <p:nvSpPr>
          <p:cNvPr id="23" name="Rounded Rectangle 22"/>
          <p:cNvSpPr/>
          <p:nvPr/>
        </p:nvSpPr>
        <p:spPr>
          <a:xfrm>
            <a:off x="292608" y="4617720"/>
            <a:ext cx="4160520" cy="457200"/>
          </a:xfrm>
          <a:prstGeom prst="roundRect">
            <a:avLst>
              <a:gd name="adj" fmla="val 12000"/>
            </a:avLst>
          </a:prstGeom>
          <a:solidFill>
            <a:srgbClr val="EFF5F7"/>
          </a:solidFill>
          <a:ln w="15875">
            <a:solidFill>
              <a:srgbClr val="1A7A6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92608" y="4617720"/>
            <a:ext cx="4160520" cy="457200"/>
          </a:xfrm>
          <a:prstGeom prst="rect">
            <a:avLst/>
          </a:prstGeom>
          <a:noFill/>
        </p:spPr>
        <p:txBody>
          <a:bodyPr wrap="square" lIns="54864" rIns="54864" tIns="27432" bIns="18288" anchor="ctr">
            <a:spAutoFit/>
          </a:bodyPr>
          <a:lstStyle/>
          <a:p>
            <a:pPr algn="ctr">
              <a:spcBef>
                <a:spcPts val="0"/>
              </a:spcBef>
              <a:spcAft>
                <a:spcPts val="300"/>
              </a:spcAft>
            </a:pPr>
            <a:r>
              <a:rPr sz="1900" b="1" i="0">
                <a:solidFill>
                  <a:srgbClr val="0B3D5C"/>
                </a:solidFill>
                <a:latin typeface="Cambria Math"/>
              </a:rPr>
              <a:t>u</a:t>
            </a:r>
            <a:r>
              <a:rPr sz="1700" b="0" i="0">
                <a:solidFill>
                  <a:srgbClr val="0B3D5C"/>
                </a:solidFill>
                <a:latin typeface="Cambria Math"/>
              </a:rPr>
              <a:t>  =  </a:t>
            </a:r>
            <a:r>
              <a:rPr sz="1900" b="1" i="0">
                <a:solidFill>
                  <a:srgbClr val="0B3D5C"/>
                </a:solidFill>
                <a:latin typeface="Cambria Math"/>
              </a:rPr>
              <a:t>v</a:t>
            </a:r>
            <a:r>
              <a:rPr sz="1700" b="0" i="0">
                <a:solidFill>
                  <a:srgbClr val="0B3D5C"/>
                </a:solidFill>
                <a:latin typeface="Cambria Math"/>
              </a:rPr>
              <a:t>  +  w</a:t>
            </a:r>
            <a:r>
              <a:rPr sz="1700" b="0" i="0" baseline="-25000">
                <a:solidFill>
                  <a:srgbClr val="0B3D5C"/>
                </a:solidFill>
                <a:latin typeface="Cambria Math"/>
              </a:rPr>
              <a:t>0</a:t>
            </a:r>
            <a:r>
              <a:rPr sz="1900" b="1" i="0">
                <a:solidFill>
                  <a:srgbClr val="0B3D5C"/>
                </a:solidFill>
                <a:latin typeface="Cambria Math"/>
              </a:rPr>
              <a:t>P</a:t>
            </a:r>
          </a:p>
        </p:txBody>
      </p:sp>
      <p:sp>
        <p:nvSpPr>
          <p:cNvPr id="25" name="TextBox 24"/>
          <p:cNvSpPr txBox="1"/>
          <p:nvPr/>
        </p:nvSpPr>
        <p:spPr>
          <a:xfrm>
            <a:off x="292608" y="5138928"/>
            <a:ext cx="4160520" cy="594360"/>
          </a:xfrm>
          <a:prstGeom prst="rect">
            <a:avLst/>
          </a:prstGeom>
          <a:noFill/>
        </p:spPr>
        <p:txBody>
          <a:bodyPr wrap="square" lIns="54864" rIns="54864" tIns="27432" bIns="18288">
            <a:spAutoFit/>
          </a:bodyPr>
          <a:lstStyle/>
          <a:p>
            <a:pPr algn="ctr">
              <a:lnSpc>
                <a:spcPct val="105000"/>
              </a:lnSpc>
              <a:spcBef>
                <a:spcPts val="0"/>
              </a:spcBef>
              <a:spcAft>
                <a:spcPts val="0"/>
              </a:spcAft>
            </a:pPr>
            <a:r>
              <a:rPr sz="1200" b="1" i="0">
                <a:solidFill>
                  <a:srgbClr val="0B3D5C"/>
                </a:solidFill>
                <a:latin typeface="Calibri"/>
              </a:rPr>
              <a:t>No global Stokes / pressure solve — only local finite-difference stencils.</a:t>
            </a:r>
          </a:p>
        </p:txBody>
      </p:sp>
      <p:pic>
        <p:nvPicPr>
          <p:cNvPr id="26" name="Picture 25" descr="fig_v4_montage.png"/>
          <p:cNvPicPr>
            <a:picLocks noChangeAspect="1"/>
          </p:cNvPicPr>
          <p:nvPr/>
        </p:nvPicPr>
        <p:blipFill>
          <a:blip r:embed="rId2"/>
          <a:stretch>
            <a:fillRect/>
          </a:stretch>
        </p:blipFill>
        <p:spPr>
          <a:xfrm>
            <a:off x="6585839" y="914400"/>
            <a:ext cx="3333242" cy="1207008"/>
          </a:xfrm>
          <a:prstGeom prst="rect">
            <a:avLst/>
          </a:prstGeom>
        </p:spPr>
      </p:pic>
      <p:pic>
        <p:nvPicPr>
          <p:cNvPr id="27" name="Picture 26" descr="fig_v4_snapshots.png"/>
          <p:cNvPicPr>
            <a:picLocks noChangeAspect="1"/>
          </p:cNvPicPr>
          <p:nvPr/>
        </p:nvPicPr>
        <p:blipFill>
          <a:blip r:embed="rId3"/>
          <a:stretch>
            <a:fillRect/>
          </a:stretch>
        </p:blipFill>
        <p:spPr>
          <a:xfrm>
            <a:off x="6585839" y="2157984"/>
            <a:ext cx="3333242" cy="1207008"/>
          </a:xfrm>
          <a:prstGeom prst="rect">
            <a:avLst/>
          </a:prstGeom>
        </p:spPr>
      </p:pic>
      <p:pic>
        <p:nvPicPr>
          <p:cNvPr id="28" name="Picture 27" descr="fig_v4_diagnostics.png"/>
          <p:cNvPicPr>
            <a:picLocks noChangeAspect="1"/>
          </p:cNvPicPr>
          <p:nvPr/>
        </p:nvPicPr>
        <p:blipFill>
          <a:blip r:embed="rId4"/>
          <a:stretch>
            <a:fillRect/>
          </a:stretch>
        </p:blipFill>
        <p:spPr>
          <a:xfrm>
            <a:off x="6803636" y="3401568"/>
            <a:ext cx="2897647" cy="777240"/>
          </a:xfrm>
          <a:prstGeom prst="rect">
            <a:avLst/>
          </a:prstGeom>
        </p:spPr>
      </p:pic>
      <p:sp>
        <p:nvSpPr>
          <p:cNvPr id="29" name="Rounded Rectangle 28"/>
          <p:cNvSpPr/>
          <p:nvPr/>
        </p:nvSpPr>
        <p:spPr>
          <a:xfrm>
            <a:off x="4617720" y="4251960"/>
            <a:ext cx="7269480" cy="2331720"/>
          </a:xfrm>
          <a:prstGeom prst="roundRect">
            <a:avLst>
              <a:gd name="adj" fmla="val 80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00600" y="4343400"/>
            <a:ext cx="6903720" cy="2176272"/>
          </a:xfrm>
          <a:prstGeom prst="rect">
            <a:avLst/>
          </a:prstGeom>
          <a:noFill/>
        </p:spPr>
        <p:txBody>
          <a:bodyPr wrap="square" lIns="54864" rIns="54864" tIns="27432" bIns="18288">
            <a:spAutoFit/>
          </a:bodyPr>
          <a:lstStyle/>
          <a:p>
            <a:pPr algn="l">
              <a:spcBef>
                <a:spcPts val="0"/>
              </a:spcBef>
              <a:spcAft>
                <a:spcPts val="500"/>
              </a:spcAft>
            </a:pPr>
            <a:r>
              <a:rPr sz="1300" b="1" i="0">
                <a:solidFill>
                  <a:srgbClr val="0B3D5C"/>
                </a:solidFill>
                <a:latin typeface="Calibri"/>
              </a:rPr>
              <a:t>Travel 239.9  ·  Time 299  (model units)  ·  Speed 0.801  ·  Aspect ∼ 3.2</a:t>
            </a:r>
          </a:p>
          <a:p>
            <a:pPr algn="l">
              <a:spcBef>
                <a:spcPts val="0"/>
              </a:spcBef>
              <a:spcAft>
                <a:spcPts val="500"/>
              </a:spcAft>
            </a:pPr>
            <a:r>
              <a:rPr sz="1300" b="1" i="0">
                <a:solidFill>
                  <a:srgbClr val="0B3D5C"/>
                </a:solidFill>
                <a:latin typeface="Calibri"/>
              </a:rPr>
              <a:t>yᴄᴍ = 0  ·  Area +15%  ·  h/h₀ ≈ 0.87  (≈ 13% thinning)</a:t>
            </a:r>
          </a:p>
          <a:p>
            <a:pPr algn="l">
              <a:spcBef>
                <a:spcPts val="0"/>
              </a:spcBef>
              <a:spcAft>
                <a:spcPts val="400"/>
              </a:spcAft>
            </a:pPr>
            <a:r>
              <a:rPr sz="1200" b="0" i="0">
                <a:solidFill>
                  <a:srgbClr val="1F2937"/>
                </a:solidFill>
                <a:latin typeface="Calibri"/>
              </a:rPr>
              <a:t>Volume conserved; projected area is allowed to change.</a:t>
            </a:r>
          </a:p>
          <a:p>
            <a:pPr algn="l">
              <a:spcBef>
                <a:spcPts val="0"/>
              </a:spcBef>
              <a:spcAft>
                <a:spcPts val="500"/>
              </a:spcAft>
            </a:pPr>
            <a:r>
              <a:rPr sz="1200" b="0" i="0">
                <a:solidFill>
                  <a:srgbClr val="1F2937"/>
                </a:solidFill>
                <a:latin typeface="Cambria Math"/>
              </a:rPr>
              <a:t>k</a:t>
            </a:r>
            <a:r>
              <a:rPr sz="1200" b="0" i="0" baseline="-25000">
                <a:solidFill>
                  <a:srgbClr val="1F2937"/>
                </a:solidFill>
                <a:latin typeface="Cambria Math"/>
              </a:rPr>
              <a:t>A</a:t>
            </a:r>
            <a:r>
              <a:rPr sz="1200" b="0" i="0">
                <a:solidFill>
                  <a:srgbClr val="1F2937"/>
                </a:solidFill>
                <a:latin typeface="Cambria Math"/>
              </a:rPr>
              <a:t> = 0  ⇒  unbounded spreading / inflation</a:t>
            </a:r>
          </a:p>
          <a:p>
            <a:pPr algn="l">
              <a:spcBef>
                <a:spcPts val="0"/>
              </a:spcBef>
              <a:spcAft>
                <a:spcPts val="500"/>
              </a:spcAft>
            </a:pPr>
            <a:r>
              <a:rPr sz="1200" b="0" i="0">
                <a:solidFill>
                  <a:srgbClr val="4B5563"/>
                </a:solidFill>
                <a:latin typeface="Calibri"/>
              </a:rPr>
              <a:t>V3 and V4 agree to within 0.2% in the comparable (flow-off, rigid-area) limit.</a:t>
            </a:r>
          </a:p>
          <a:p>
            <a:pPr algn="l">
              <a:spcBef>
                <a:spcPts val="0"/>
              </a:spcBef>
              <a:spcAft>
                <a:spcPts val="500"/>
              </a:spcAft>
            </a:pPr>
            <a:r>
              <a:rPr sz="1200" b="0" i="0">
                <a:solidFill>
                  <a:srgbClr val="1F2937"/>
                </a:solidFill>
                <a:latin typeface="Calibri"/>
              </a:rPr>
              <a:t>Cost/step: 2.70 → 1.10 ms   ·   stable dt: 0.01 → 0.03</a:t>
            </a:r>
          </a:p>
          <a:p>
            <a:pPr algn="l">
              <a:lnSpc>
                <a:spcPct val="105000"/>
              </a:lnSpc>
              <a:spcBef>
                <a:spcPts val="0"/>
              </a:spcBef>
              <a:spcAft>
                <a:spcPts val="300"/>
              </a:spcAft>
            </a:pPr>
            <a:r>
              <a:rPr sz="1250" b="1" i="0">
                <a:solidFill>
                  <a:srgbClr val="1A7A6D"/>
                </a:solidFill>
                <a:latin typeface="Calibri"/>
              </a:rPr>
              <a:t>Overall runtime ≈ 5× faster, including the larger stable time-step.</a:t>
            </a:r>
          </a:p>
          <a:p>
            <a:pPr algn="l">
              <a:spcBef>
                <a:spcPts val="0"/>
              </a:spcBef>
              <a:spcAft>
                <a:spcPts val="0"/>
              </a:spcAft>
            </a:pPr>
            <a:r>
              <a:rPr sz="1200" b="0" i="0">
                <a:solidFill>
                  <a:srgbClr val="1F2937"/>
                </a:solidFill>
                <a:latin typeface="Calibri"/>
              </a:rPr>
              <a:t>Local formulation — a practical starting point for many cells.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86384"/>
          </a:xfrm>
          <a:prstGeom prst="rect">
            <a:avLst/>
          </a:prstGeom>
          <a:solidFill>
            <a:srgbClr val="0B3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86384"/>
            <a:ext cx="12191695" cy="45720"/>
          </a:xfrm>
          <a:prstGeom prst="rect">
            <a:avLst/>
          </a:prstGeom>
          <a:solidFill>
            <a:srgbClr val="1A7A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338560" cy="420624"/>
          </a:xfrm>
          <a:prstGeom prst="rect">
            <a:avLst/>
          </a:prstGeom>
          <a:noFill/>
        </p:spPr>
        <p:txBody>
          <a:bodyPr wrap="square" lIns="54864" rIns="54864" tIns="27432" bIns="18288">
            <a:spAutoFit/>
          </a:bodyPr>
          <a:lstStyle/>
          <a:p>
            <a:pPr algn="l">
              <a:spcBef>
                <a:spcPts val="0"/>
              </a:spcBef>
              <a:spcAft>
                <a:spcPts val="0"/>
              </a:spcAft>
            </a:pPr>
            <a:r>
              <a:rPr sz="2500" b="1" i="0">
                <a:solidFill>
                  <a:srgbClr val="FFFFFF"/>
                </a:solidFill>
                <a:latin typeface="Calibri"/>
              </a:rPr>
              <a:t>Already underway: a first two-cell experiment</a:t>
            </a:r>
          </a:p>
        </p:txBody>
      </p:sp>
      <p:sp>
        <p:nvSpPr>
          <p:cNvPr id="6" name="TextBox 5"/>
          <p:cNvSpPr txBox="1"/>
          <p:nvPr/>
        </p:nvSpPr>
        <p:spPr>
          <a:xfrm>
            <a:off x="365760" y="457200"/>
            <a:ext cx="11338560" cy="292608"/>
          </a:xfrm>
          <a:prstGeom prst="rect">
            <a:avLst/>
          </a:prstGeom>
          <a:noFill/>
        </p:spPr>
        <p:txBody>
          <a:bodyPr wrap="square" lIns="54864" rIns="54864" tIns="27432" bIns="18288">
            <a:spAutoFit/>
          </a:bodyPr>
          <a:lstStyle/>
          <a:p>
            <a:pPr algn="l">
              <a:spcBef>
                <a:spcPts val="0"/>
              </a:spcBef>
              <a:spcAft>
                <a:spcPts val="0"/>
              </a:spcAft>
            </a:pPr>
            <a:r>
              <a:rPr sz="1250" b="0" i="0">
                <a:solidFill>
                  <a:srgbClr val="C5D4DE"/>
                </a:solidFill>
                <a:latin typeface="Calibri"/>
              </a:rPr>
              <a:t>Same Version 4 physics per cell, one new free-energy term couples them</a:t>
            </a:r>
          </a:p>
        </p:txBody>
      </p:sp>
      <p:sp>
        <p:nvSpPr>
          <p:cNvPr id="7" name="Rectangle 6"/>
          <p:cNvSpPr/>
          <p:nvPr/>
        </p:nvSpPr>
        <p:spPr>
          <a:xfrm>
            <a:off x="0" y="6601968"/>
            <a:ext cx="12191695" cy="256032"/>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6601968"/>
            <a:ext cx="9601200" cy="237744"/>
          </a:xfrm>
          <a:prstGeom prst="rect">
            <a:avLst/>
          </a:prstGeom>
          <a:noFill/>
        </p:spPr>
        <p:txBody>
          <a:bodyPr wrap="square" lIns="54864" rIns="54864" tIns="27432" bIns="18288">
            <a:spAutoFit/>
          </a:bodyPr>
          <a:lstStyle/>
          <a:p>
            <a:pPr algn="l">
              <a:spcBef>
                <a:spcPts val="0"/>
              </a:spcBef>
              <a:spcAft>
                <a:spcPts val="0"/>
              </a:spcAft>
            </a:pPr>
            <a:r>
              <a:rPr sz="1100" b="0" i="0">
                <a:solidFill>
                  <a:srgbClr val="4B5563"/>
                </a:solidFill>
                <a:latin typeface="Calibri"/>
              </a:rPr>
              <a:t>PYD411  ·  Mid-term  ·  Dept of Physics, IIT Delhi  ·  Siddharth Kumar &amp; Soumik Roy</a:t>
            </a:r>
          </a:p>
        </p:txBody>
      </p:sp>
      <p:sp>
        <p:nvSpPr>
          <p:cNvPr id="9" name="TextBox 8"/>
          <p:cNvSpPr txBox="1"/>
          <p:nvPr/>
        </p:nvSpPr>
        <p:spPr>
          <a:xfrm>
            <a:off x="10607040" y="6601968"/>
            <a:ext cx="1280160" cy="237744"/>
          </a:xfrm>
          <a:prstGeom prst="rect">
            <a:avLst/>
          </a:prstGeom>
          <a:noFill/>
        </p:spPr>
        <p:txBody>
          <a:bodyPr wrap="square" lIns="54864" rIns="54864" tIns="27432" bIns="18288">
            <a:spAutoFit/>
          </a:bodyPr>
          <a:lstStyle/>
          <a:p>
            <a:pPr algn="r">
              <a:spcBef>
                <a:spcPts val="0"/>
              </a:spcBef>
              <a:spcAft>
                <a:spcPts val="0"/>
              </a:spcAft>
            </a:pPr>
            <a:r>
              <a:rPr sz="1100" b="0" i="0">
                <a:solidFill>
                  <a:srgbClr val="4B5563"/>
                </a:solidFill>
                <a:latin typeface="Calibri"/>
              </a:rPr>
              <a:t>8 / 10</a:t>
            </a:r>
          </a:p>
        </p:txBody>
      </p:sp>
      <p:pic>
        <p:nvPicPr>
          <p:cNvPr id="10" name="two_cell_collision.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411480" y="1051560"/>
            <a:ext cx="4617720" cy="4617720"/>
          </a:xfrm>
          <a:prstGeom prst="rect">
            <a:avLst/>
          </a:prstGeom>
        </p:spPr>
      </p:pic>
      <p:sp>
        <p:nvSpPr>
          <p:cNvPr id="11" name="Rectangle 10"/>
          <p:cNvSpPr/>
          <p:nvPr/>
        </p:nvSpPr>
        <p:spPr>
          <a:xfrm>
            <a:off x="411480" y="5705856"/>
            <a:ext cx="4617720" cy="91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5724144"/>
            <a:ext cx="4617720" cy="292608"/>
          </a:xfrm>
          <a:prstGeom prst="rect">
            <a:avLst/>
          </a:prstGeom>
          <a:noFill/>
        </p:spPr>
        <p:txBody>
          <a:bodyPr wrap="square" lIns="54864" rIns="54864" tIns="27432" bIns="18288">
            <a:spAutoFit/>
          </a:bodyPr>
          <a:lstStyle/>
          <a:p>
            <a:pPr algn="ctr">
              <a:spcBef>
                <a:spcPts val="0"/>
              </a:spcBef>
              <a:spcAft>
                <a:spcPts val="0"/>
              </a:spcAft>
            </a:pPr>
            <a:r>
              <a:rPr sz="1150" b="0" i="0">
                <a:solidFill>
                  <a:srgbClr val="4B5563"/>
                </a:solidFill>
                <a:latin typeface="Calibri"/>
              </a:rPr>
              <a:t>3 s clip — click to play in Slide Show mode</a:t>
            </a:r>
          </a:p>
        </p:txBody>
      </p:sp>
      <p:sp>
        <p:nvSpPr>
          <p:cNvPr id="13" name="Rounded Rectangle 12"/>
          <p:cNvSpPr/>
          <p:nvPr/>
        </p:nvSpPr>
        <p:spPr>
          <a:xfrm>
            <a:off x="5349240" y="1051560"/>
            <a:ext cx="6522415" cy="4846320"/>
          </a:xfrm>
          <a:prstGeom prst="roundRect">
            <a:avLst>
              <a:gd name="adj" fmla="val 80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550408" y="1170432"/>
            <a:ext cx="6120079" cy="4617720"/>
          </a:xfrm>
          <a:prstGeom prst="rect">
            <a:avLst/>
          </a:prstGeom>
          <a:noFill/>
        </p:spPr>
        <p:txBody>
          <a:bodyPr wrap="square" lIns="54864" rIns="54864" tIns="27432" bIns="18288">
            <a:spAutoFit/>
          </a:bodyPr>
          <a:lstStyle/>
          <a:p>
            <a:pPr algn="l">
              <a:spcBef>
                <a:spcPts val="0"/>
              </a:spcBef>
              <a:spcAft>
                <a:spcPts val="600"/>
              </a:spcAft>
            </a:pPr>
            <a:r>
              <a:rPr sz="1600" b="1" i="0">
                <a:solidFill>
                  <a:srgbClr val="0B3D5C"/>
                </a:solidFill>
                <a:latin typeface="Calibri"/>
              </a:rPr>
              <a:t>One new term</a:t>
            </a:r>
          </a:p>
          <a:p>
            <a:pPr algn="l">
              <a:spcBef>
                <a:spcPts val="0"/>
              </a:spcBef>
              <a:spcAft>
                <a:spcPts val="800"/>
              </a:spcAft>
            </a:pPr>
            <a:r>
              <a:rPr sz="1600" b="0" i="0">
                <a:solidFill>
                  <a:srgbClr val="0B3D5C"/>
                </a:solidFill>
                <a:latin typeface="Cambria Math"/>
              </a:rPr>
              <a:t>F</a:t>
            </a:r>
            <a:r>
              <a:rPr sz="1600" b="0" i="0" baseline="-25000">
                <a:solidFill>
                  <a:srgbClr val="0B3D5C"/>
                </a:solidFill>
                <a:latin typeface="Cambria Math"/>
              </a:rPr>
              <a:t>rep</a:t>
            </a:r>
            <a:r>
              <a:rPr sz="1600" b="0" i="0">
                <a:solidFill>
                  <a:srgbClr val="0B3D5C"/>
                </a:solidFill>
                <a:latin typeface="Cambria Math"/>
              </a:rPr>
              <a:t> = k</a:t>
            </a:r>
            <a:r>
              <a:rPr sz="1600" b="0" i="0" baseline="-25000">
                <a:solidFill>
                  <a:srgbClr val="0B3D5C"/>
                </a:solidFill>
                <a:latin typeface="Cambria Math"/>
              </a:rPr>
              <a:t>rep</a:t>
            </a:r>
            <a:r>
              <a:rPr sz="1600" b="0" i="0">
                <a:solidFill>
                  <a:srgbClr val="0B3D5C"/>
                </a:solidFill>
                <a:latin typeface="Cambria Math"/>
              </a:rPr>
              <a:t> ∫ φ</a:t>
            </a:r>
            <a:r>
              <a:rPr sz="1600" b="0" i="0" baseline="-25000">
                <a:solidFill>
                  <a:srgbClr val="0B3D5C"/>
                </a:solidFill>
                <a:latin typeface="Cambria Math"/>
              </a:rPr>
              <a:t>1</a:t>
            </a:r>
            <a:r>
              <a:rPr sz="1600" b="0" i="0" baseline="30000">
                <a:solidFill>
                  <a:srgbClr val="0B3D5C"/>
                </a:solidFill>
                <a:latin typeface="Cambria Math"/>
              </a:rPr>
              <a:t>2</a:t>
            </a:r>
            <a:r>
              <a:rPr sz="1600" b="0" i="0">
                <a:solidFill>
                  <a:srgbClr val="0B3D5C"/>
                </a:solidFill>
                <a:latin typeface="Cambria Math"/>
              </a:rPr>
              <a:t> φ</a:t>
            </a:r>
            <a:r>
              <a:rPr sz="1600" b="0" i="0" baseline="-25000">
                <a:solidFill>
                  <a:srgbClr val="0B3D5C"/>
                </a:solidFill>
                <a:latin typeface="Cambria Math"/>
              </a:rPr>
              <a:t>2</a:t>
            </a:r>
            <a:r>
              <a:rPr sz="1600" b="0" i="0" baseline="30000">
                <a:solidFill>
                  <a:srgbClr val="0B3D5C"/>
                </a:solidFill>
                <a:latin typeface="Cambria Math"/>
              </a:rPr>
              <a:t>2</a:t>
            </a:r>
          </a:p>
          <a:p>
            <a:pPr algn="l">
              <a:spcBef>
                <a:spcPts val="0"/>
              </a:spcBef>
              <a:spcAft>
                <a:spcPts val="1200"/>
              </a:spcAft>
            </a:pPr>
            <a:r>
              <a:rPr sz="1300" b="0" i="0">
                <a:solidFill>
                  <a:srgbClr val="1F2937"/>
                </a:solidFill>
                <a:latin typeface="Calibri"/>
              </a:rPr>
              <a:t>Costs energy only where both cells' φ are simultaneously ≈ 1 — i.e. right at contact. Adds one line, 2kᵣₑₚφᵢφⱼ², to each cell's own μᵢ. Everything else — the Darcy law, the P equation — is untouched: still local, still no global solve.</a:t>
            </a:r>
          </a:p>
          <a:p>
            <a:pPr algn="l">
              <a:spcBef>
                <a:spcPts val="0"/>
              </a:spcBef>
              <a:spcAft>
                <a:spcPts val="600"/>
              </a:spcAft>
            </a:pPr>
            <a:r>
              <a:rPr sz="1500" b="1" i="0">
                <a:solidFill>
                  <a:srgbClr val="1A7A6D"/>
                </a:solidFill>
                <a:latin typeface="Calibri"/>
              </a:rPr>
              <a:t>First experiment: a glancing collision</a:t>
            </a:r>
          </a:p>
          <a:p>
            <a:pPr>
              <a:spcAft>
                <a:spcPts val="400"/>
              </a:spcAft>
            </a:pPr>
            <a:r>
              <a:rPr sz="1250" b="0" i="0">
                <a:solidFill>
                  <a:srgbClr val="1F2937"/>
                </a:solidFill>
                <a:latin typeface="Calibri"/>
              </a:rPr>
              <a:t>•  Cells offset in y, polarised toward each other</a:t>
            </a:r>
          </a:p>
          <a:p>
            <a:pPr>
              <a:spcAft>
                <a:spcPts val="400"/>
              </a:spcAft>
            </a:pPr>
            <a:r>
              <a:rPr sz="1250" b="0" i="0">
                <a:solidFill>
                  <a:srgbClr val="1F2937"/>
                </a:solidFill>
                <a:latin typeface="Calibri"/>
              </a:rPr>
              <a:t>•  Approach → brief contact → clean scatter apart</a:t>
            </a:r>
          </a:p>
          <a:p>
            <a:pPr>
              <a:spcAft>
                <a:spcPts val="400"/>
              </a:spcAft>
            </a:pPr>
            <a:r>
              <a:rPr sz="1250" b="0" i="0">
                <a:solidFill>
                  <a:srgbClr val="1F2937"/>
                </a:solidFill>
                <a:latin typeface="Calibri"/>
              </a:rPr>
              <a:t>•  Contact overlap peaks at 2.1, well under the 8.7 a non-interacting pair would show at nominal touching</a:t>
            </a:r>
          </a:p>
          <a:p>
            <a:pPr>
              <a:spcAft>
                <a:spcPts val="1000"/>
              </a:spcAft>
            </a:pPr>
            <a:r>
              <a:rPr sz="1250" b="0" i="0">
                <a:solidFill>
                  <a:srgbClr val="1F2937"/>
                </a:solidFill>
                <a:latin typeface="Calibri"/>
              </a:rPr>
              <a:t>•  No merging, no numerical blow-up, healthy interiors throughout</a:t>
            </a:r>
          </a:p>
          <a:p>
            <a:pPr algn="l">
              <a:lnSpc>
                <a:spcPct val="105000"/>
              </a:lnSpc>
              <a:spcBef>
                <a:spcPts val="0"/>
              </a:spcBef>
              <a:spcAft>
                <a:spcPts val="0"/>
              </a:spcAft>
            </a:pPr>
            <a:r>
              <a:rPr sz="1200" b="0" i="0">
                <a:solidFill>
                  <a:srgbClr val="4B5563"/>
                </a:solidFill>
                <a:latin typeface="Calibri"/>
              </a:rPr>
              <a:t>Head-on collisions (both cells pointed straight at each other) are a harder, still-open case — noted honestly, not hidden.</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10"/>
                </p:tgtEl>
              </p:cMediaNode>
            </p:video>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86384"/>
          </a:xfrm>
          <a:prstGeom prst="rect">
            <a:avLst/>
          </a:prstGeom>
          <a:solidFill>
            <a:srgbClr val="0B3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86384"/>
            <a:ext cx="12191695" cy="45720"/>
          </a:xfrm>
          <a:prstGeom prst="rect">
            <a:avLst/>
          </a:prstGeom>
          <a:solidFill>
            <a:srgbClr val="1A7A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338560" cy="420624"/>
          </a:xfrm>
          <a:prstGeom prst="rect">
            <a:avLst/>
          </a:prstGeom>
          <a:noFill/>
        </p:spPr>
        <p:txBody>
          <a:bodyPr wrap="square" lIns="54864" rIns="54864" tIns="27432" bIns="18288">
            <a:spAutoFit/>
          </a:bodyPr>
          <a:lstStyle/>
          <a:p>
            <a:pPr algn="l">
              <a:spcBef>
                <a:spcPts val="0"/>
              </a:spcBef>
              <a:spcAft>
                <a:spcPts val="0"/>
              </a:spcAft>
            </a:pPr>
            <a:r>
              <a:rPr sz="2500" b="1" i="0">
                <a:solidFill>
                  <a:srgbClr val="FFFFFF"/>
                </a:solidFill>
                <a:latin typeface="Calibri"/>
              </a:rPr>
              <a:t>What the simulations establish</a:t>
            </a:r>
          </a:p>
        </p:txBody>
      </p:sp>
      <p:sp>
        <p:nvSpPr>
          <p:cNvPr id="6" name="Rectangle 5"/>
          <p:cNvSpPr/>
          <p:nvPr/>
        </p:nvSpPr>
        <p:spPr>
          <a:xfrm>
            <a:off x="0" y="6601968"/>
            <a:ext cx="12191695" cy="256032"/>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0040" y="6601968"/>
            <a:ext cx="9601200" cy="237744"/>
          </a:xfrm>
          <a:prstGeom prst="rect">
            <a:avLst/>
          </a:prstGeom>
          <a:noFill/>
        </p:spPr>
        <p:txBody>
          <a:bodyPr wrap="square" lIns="54864" rIns="54864" tIns="27432" bIns="18288">
            <a:spAutoFit/>
          </a:bodyPr>
          <a:lstStyle/>
          <a:p>
            <a:pPr algn="l">
              <a:spcBef>
                <a:spcPts val="0"/>
              </a:spcBef>
              <a:spcAft>
                <a:spcPts val="0"/>
              </a:spcAft>
            </a:pPr>
            <a:r>
              <a:rPr sz="1100" b="0" i="0">
                <a:solidFill>
                  <a:srgbClr val="4B5563"/>
                </a:solidFill>
                <a:latin typeface="Calibri"/>
              </a:rPr>
              <a:t>PYD411  ·  Mid-term  ·  Dept of Physics, IIT Delhi  ·  Siddharth Kumar &amp; Soumik Roy</a:t>
            </a:r>
          </a:p>
        </p:txBody>
      </p:sp>
      <p:sp>
        <p:nvSpPr>
          <p:cNvPr id="8" name="TextBox 7"/>
          <p:cNvSpPr txBox="1"/>
          <p:nvPr/>
        </p:nvSpPr>
        <p:spPr>
          <a:xfrm>
            <a:off x="10607040" y="6601968"/>
            <a:ext cx="1280160" cy="237744"/>
          </a:xfrm>
          <a:prstGeom prst="rect">
            <a:avLst/>
          </a:prstGeom>
          <a:noFill/>
        </p:spPr>
        <p:txBody>
          <a:bodyPr wrap="square" lIns="54864" rIns="54864" tIns="27432" bIns="18288">
            <a:spAutoFit/>
          </a:bodyPr>
          <a:lstStyle/>
          <a:p>
            <a:pPr algn="r">
              <a:spcBef>
                <a:spcPts val="0"/>
              </a:spcBef>
              <a:spcAft>
                <a:spcPts val="0"/>
              </a:spcAft>
            </a:pPr>
            <a:r>
              <a:rPr sz="1100" b="0" i="0">
                <a:solidFill>
                  <a:srgbClr val="4B5563"/>
                </a:solidFill>
                <a:latin typeface="Calibri"/>
              </a:rPr>
              <a:t>9 / 10</a:t>
            </a:r>
          </a:p>
        </p:txBody>
      </p:sp>
      <p:sp>
        <p:nvSpPr>
          <p:cNvPr id="9" name="Rounded Rectangle 8"/>
          <p:cNvSpPr/>
          <p:nvPr/>
        </p:nvSpPr>
        <p:spPr>
          <a:xfrm>
            <a:off x="365760" y="1051560"/>
            <a:ext cx="11430000" cy="969264"/>
          </a:xfrm>
          <a:prstGeom prst="roundRect">
            <a:avLst>
              <a:gd name="adj" fmla="val 80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1051560"/>
            <a:ext cx="109728" cy="969264"/>
          </a:xfrm>
          <a:prstGeom prst="rect">
            <a:avLst/>
          </a:prstGeom>
          <a:solidFill>
            <a:srgbClr val="1A7A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1106424"/>
            <a:ext cx="640080" cy="822960"/>
          </a:xfrm>
          <a:prstGeom prst="rect">
            <a:avLst/>
          </a:prstGeom>
          <a:noFill/>
        </p:spPr>
        <p:txBody>
          <a:bodyPr wrap="square" lIns="54864" rIns="54864" tIns="27432" bIns="18288">
            <a:spAutoFit/>
          </a:bodyPr>
          <a:lstStyle/>
          <a:p>
            <a:pPr algn="l">
              <a:spcBef>
                <a:spcPts val="0"/>
              </a:spcBef>
              <a:spcAft>
                <a:spcPts val="0"/>
              </a:spcAft>
            </a:pPr>
            <a:r>
              <a:rPr sz="2200" b="1" i="0">
                <a:solidFill>
                  <a:srgbClr val="1A7A6D"/>
                </a:solidFill>
                <a:latin typeface="Calibri"/>
              </a:rPr>
              <a:t>01</a:t>
            </a:r>
          </a:p>
        </p:txBody>
      </p:sp>
      <p:sp>
        <p:nvSpPr>
          <p:cNvPr id="12" name="TextBox 11"/>
          <p:cNvSpPr txBox="1"/>
          <p:nvPr/>
        </p:nvSpPr>
        <p:spPr>
          <a:xfrm>
            <a:off x="1280160" y="1124712"/>
            <a:ext cx="10287000" cy="822960"/>
          </a:xfrm>
          <a:prstGeom prst="rect">
            <a:avLst/>
          </a:prstGeom>
          <a:noFill/>
        </p:spPr>
        <p:txBody>
          <a:bodyPr wrap="square" lIns="54864" rIns="54864" tIns="27432" bIns="18288">
            <a:spAutoFit/>
          </a:bodyPr>
          <a:lstStyle/>
          <a:p>
            <a:pPr algn="l">
              <a:spcBef>
                <a:spcPts val="0"/>
              </a:spcBef>
              <a:spcAft>
                <a:spcPts val="400"/>
              </a:spcAft>
            </a:pPr>
            <a:r>
              <a:rPr sz="1600" b="1" i="0">
                <a:solidFill>
                  <a:srgbClr val="0B3D5C"/>
                </a:solidFill>
                <a:latin typeface="Calibri"/>
              </a:rPr>
              <a:t>A spatial gradient in treadmilling can generate a leading protrusion.</a:t>
            </a:r>
          </a:p>
          <a:p>
            <a:pPr algn="l">
              <a:spcBef>
                <a:spcPts val="0"/>
              </a:spcBef>
              <a:spcAft>
                <a:spcPts val="600"/>
              </a:spcAft>
            </a:pPr>
            <a:r>
              <a:rPr sz="1250" b="0" i="0">
                <a:solidFill>
                  <a:srgbClr val="4B5563"/>
                </a:solidFill>
                <a:latin typeface="Calibri"/>
              </a:rPr>
              <a:t>V2</a:t>
            </a:r>
          </a:p>
        </p:txBody>
      </p:sp>
      <p:sp>
        <p:nvSpPr>
          <p:cNvPr id="13" name="Rounded Rectangle 12"/>
          <p:cNvSpPr/>
          <p:nvPr/>
        </p:nvSpPr>
        <p:spPr>
          <a:xfrm>
            <a:off x="365760" y="2130552"/>
            <a:ext cx="11430000" cy="969264"/>
          </a:xfrm>
          <a:prstGeom prst="roundRect">
            <a:avLst>
              <a:gd name="adj" fmla="val 80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65760" y="2130552"/>
            <a:ext cx="109728" cy="969264"/>
          </a:xfrm>
          <a:prstGeom prst="rect">
            <a:avLst/>
          </a:prstGeom>
          <a:solidFill>
            <a:srgbClr val="1A7A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2185416"/>
            <a:ext cx="640080" cy="822960"/>
          </a:xfrm>
          <a:prstGeom prst="rect">
            <a:avLst/>
          </a:prstGeom>
          <a:noFill/>
        </p:spPr>
        <p:txBody>
          <a:bodyPr wrap="square" lIns="54864" rIns="54864" tIns="27432" bIns="18288">
            <a:spAutoFit/>
          </a:bodyPr>
          <a:lstStyle/>
          <a:p>
            <a:pPr algn="l">
              <a:spcBef>
                <a:spcPts val="0"/>
              </a:spcBef>
              <a:spcAft>
                <a:spcPts val="0"/>
              </a:spcAft>
            </a:pPr>
            <a:r>
              <a:rPr sz="2200" b="1" i="0">
                <a:solidFill>
                  <a:srgbClr val="1A7A6D"/>
                </a:solidFill>
                <a:latin typeface="Calibri"/>
              </a:rPr>
              <a:t>02</a:t>
            </a:r>
          </a:p>
        </p:txBody>
      </p:sp>
      <p:sp>
        <p:nvSpPr>
          <p:cNvPr id="16" name="TextBox 15"/>
          <p:cNvSpPr txBox="1"/>
          <p:nvPr/>
        </p:nvSpPr>
        <p:spPr>
          <a:xfrm>
            <a:off x="1280160" y="2203704"/>
            <a:ext cx="10287000" cy="822960"/>
          </a:xfrm>
          <a:prstGeom prst="rect">
            <a:avLst/>
          </a:prstGeom>
          <a:noFill/>
        </p:spPr>
        <p:txBody>
          <a:bodyPr wrap="square" lIns="54864" rIns="54864" tIns="27432" bIns="18288">
            <a:spAutoFit/>
          </a:bodyPr>
          <a:lstStyle/>
          <a:p>
            <a:pPr algn="l">
              <a:spcBef>
                <a:spcPts val="0"/>
              </a:spcBef>
              <a:spcAft>
                <a:spcPts val="400"/>
              </a:spcAft>
            </a:pPr>
            <a:r>
              <a:rPr sz="1600" b="1" i="0">
                <a:solidFill>
                  <a:srgbClr val="0B3D5C"/>
                </a:solidFill>
                <a:latin typeface="Calibri"/>
              </a:rPr>
              <a:t>Planar morphology is controlled mainly by polarization anchoring.</a:t>
            </a:r>
          </a:p>
          <a:p>
            <a:pPr algn="l">
              <a:spcBef>
                <a:spcPts val="0"/>
              </a:spcBef>
              <a:spcAft>
                <a:spcPts val="600"/>
              </a:spcAft>
            </a:pPr>
            <a:r>
              <a:rPr sz="1250" b="0" i="0">
                <a:solidFill>
                  <a:srgbClr val="4B5563"/>
                </a:solidFill>
                <a:latin typeface="Calibri"/>
              </a:rPr>
              <a:t>V3  ·  flow adds ~2%</a:t>
            </a:r>
          </a:p>
        </p:txBody>
      </p:sp>
      <p:sp>
        <p:nvSpPr>
          <p:cNvPr id="17" name="Rounded Rectangle 16"/>
          <p:cNvSpPr/>
          <p:nvPr/>
        </p:nvSpPr>
        <p:spPr>
          <a:xfrm>
            <a:off x="365760" y="3209544"/>
            <a:ext cx="11430000" cy="969264"/>
          </a:xfrm>
          <a:prstGeom prst="roundRect">
            <a:avLst>
              <a:gd name="adj" fmla="val 80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65760" y="3209544"/>
            <a:ext cx="109728" cy="969264"/>
          </a:xfrm>
          <a:prstGeom prst="rect">
            <a:avLst/>
          </a:prstGeom>
          <a:solidFill>
            <a:srgbClr val="1A7A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3264408"/>
            <a:ext cx="640080" cy="822960"/>
          </a:xfrm>
          <a:prstGeom prst="rect">
            <a:avLst/>
          </a:prstGeom>
          <a:noFill/>
        </p:spPr>
        <p:txBody>
          <a:bodyPr wrap="square" lIns="54864" rIns="54864" tIns="27432" bIns="18288">
            <a:spAutoFit/>
          </a:bodyPr>
          <a:lstStyle/>
          <a:p>
            <a:pPr algn="l">
              <a:spcBef>
                <a:spcPts val="0"/>
              </a:spcBef>
              <a:spcAft>
                <a:spcPts val="0"/>
              </a:spcAft>
            </a:pPr>
            <a:r>
              <a:rPr sz="2200" b="1" i="0">
                <a:solidFill>
                  <a:srgbClr val="1A7A6D"/>
                </a:solidFill>
                <a:latin typeface="Calibri"/>
              </a:rPr>
              <a:t>03</a:t>
            </a:r>
          </a:p>
        </p:txBody>
      </p:sp>
      <p:sp>
        <p:nvSpPr>
          <p:cNvPr id="20" name="TextBox 19"/>
          <p:cNvSpPr txBox="1"/>
          <p:nvPr/>
        </p:nvSpPr>
        <p:spPr>
          <a:xfrm>
            <a:off x="1280160" y="3282696"/>
            <a:ext cx="10287000" cy="822960"/>
          </a:xfrm>
          <a:prstGeom prst="rect">
            <a:avLst/>
          </a:prstGeom>
          <a:noFill/>
        </p:spPr>
        <p:txBody>
          <a:bodyPr wrap="square" lIns="54864" rIns="54864" tIns="27432" bIns="18288">
            <a:spAutoFit/>
          </a:bodyPr>
          <a:lstStyle/>
          <a:p>
            <a:pPr algn="l">
              <a:spcBef>
                <a:spcPts val="0"/>
              </a:spcBef>
              <a:spcAft>
                <a:spcPts val="400"/>
              </a:spcAft>
            </a:pPr>
            <a:r>
              <a:rPr sz="1600" b="1" i="0">
                <a:solidFill>
                  <a:srgbClr val="0B3D5C"/>
                </a:solidFill>
                <a:latin typeface="Calibri"/>
              </a:rPr>
              <a:t>The friction-dominated model retains crawling behaviour.</a:t>
            </a:r>
          </a:p>
          <a:p>
            <a:pPr algn="l">
              <a:spcBef>
                <a:spcPts val="0"/>
              </a:spcBef>
              <a:spcAft>
                <a:spcPts val="600"/>
              </a:spcAft>
            </a:pPr>
            <a:r>
              <a:rPr sz="1250" b="0" i="0">
                <a:solidFill>
                  <a:srgbClr val="4B5563"/>
                </a:solidFill>
                <a:latin typeface="Calibri"/>
              </a:rPr>
              <a:t>V4  ·  speed 0.801  ·  0.2% agreement  ·  ~5× faster  ·  local</a:t>
            </a:r>
          </a:p>
        </p:txBody>
      </p:sp>
      <p:sp>
        <p:nvSpPr>
          <p:cNvPr id="21" name="Rounded Rectangle 20"/>
          <p:cNvSpPr/>
          <p:nvPr/>
        </p:nvSpPr>
        <p:spPr>
          <a:xfrm>
            <a:off x="365760" y="4288536"/>
            <a:ext cx="11430000" cy="969264"/>
          </a:xfrm>
          <a:prstGeom prst="roundRect">
            <a:avLst>
              <a:gd name="adj" fmla="val 80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65760" y="4288536"/>
            <a:ext cx="109728" cy="969264"/>
          </a:xfrm>
          <a:prstGeom prst="rect">
            <a:avLst/>
          </a:prstGeom>
          <a:solidFill>
            <a:srgbClr val="1A7A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94360" y="4343400"/>
            <a:ext cx="640080" cy="822960"/>
          </a:xfrm>
          <a:prstGeom prst="rect">
            <a:avLst/>
          </a:prstGeom>
          <a:noFill/>
        </p:spPr>
        <p:txBody>
          <a:bodyPr wrap="square" lIns="54864" rIns="54864" tIns="27432" bIns="18288">
            <a:spAutoFit/>
          </a:bodyPr>
          <a:lstStyle/>
          <a:p>
            <a:pPr algn="l">
              <a:spcBef>
                <a:spcPts val="0"/>
              </a:spcBef>
              <a:spcAft>
                <a:spcPts val="0"/>
              </a:spcAft>
            </a:pPr>
            <a:r>
              <a:rPr sz="2200" b="1" i="0">
                <a:solidFill>
                  <a:srgbClr val="1A7A6D"/>
                </a:solidFill>
                <a:latin typeface="Calibri"/>
              </a:rPr>
              <a:t>04</a:t>
            </a:r>
          </a:p>
        </p:txBody>
      </p:sp>
      <p:sp>
        <p:nvSpPr>
          <p:cNvPr id="24" name="TextBox 23"/>
          <p:cNvSpPr txBox="1"/>
          <p:nvPr/>
        </p:nvSpPr>
        <p:spPr>
          <a:xfrm>
            <a:off x="1280160" y="4361688"/>
            <a:ext cx="10287000" cy="822960"/>
          </a:xfrm>
          <a:prstGeom prst="rect">
            <a:avLst/>
          </a:prstGeom>
          <a:noFill/>
        </p:spPr>
        <p:txBody>
          <a:bodyPr wrap="square" lIns="54864" rIns="54864" tIns="27432" bIns="18288">
            <a:spAutoFit/>
          </a:bodyPr>
          <a:lstStyle/>
          <a:p>
            <a:pPr algn="l">
              <a:spcBef>
                <a:spcPts val="0"/>
              </a:spcBef>
              <a:spcAft>
                <a:spcPts val="400"/>
              </a:spcAft>
            </a:pPr>
            <a:r>
              <a:rPr sz="1600" b="1" i="0">
                <a:solidFill>
                  <a:srgbClr val="0B3D5C"/>
                </a:solidFill>
                <a:latin typeface="Calibri"/>
              </a:rPr>
              <a:t>Volume conservation is more appropriate than rigid projected-area conservation.</a:t>
            </a:r>
          </a:p>
          <a:p>
            <a:pPr algn="l">
              <a:spcBef>
                <a:spcPts val="0"/>
              </a:spcBef>
              <a:spcAft>
                <a:spcPts val="600"/>
              </a:spcAft>
            </a:pPr>
            <a:r>
              <a:rPr sz="1250" b="0" i="0">
                <a:solidFill>
                  <a:srgbClr val="4B5563"/>
                </a:solidFill>
                <a:latin typeface="Calibri"/>
              </a:rPr>
              <a:t>kₐ = 5: area +15%      kₐ = 0: inflation, crawling lost</a:t>
            </a:r>
          </a:p>
        </p:txBody>
      </p:sp>
      <p:sp>
        <p:nvSpPr>
          <p:cNvPr id="25" name="Rounded Rectangle 24"/>
          <p:cNvSpPr/>
          <p:nvPr/>
        </p:nvSpPr>
        <p:spPr>
          <a:xfrm>
            <a:off x="365760" y="5468112"/>
            <a:ext cx="11430000" cy="960120"/>
          </a:xfrm>
          <a:prstGeom prst="roundRect">
            <a:avLst>
              <a:gd name="adj" fmla="val 8000"/>
            </a:avLst>
          </a:prstGeom>
          <a:solidFill>
            <a:srgbClr val="0B3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8640" y="5577840"/>
            <a:ext cx="11064240" cy="777240"/>
          </a:xfrm>
          <a:prstGeom prst="rect">
            <a:avLst/>
          </a:prstGeom>
          <a:noFill/>
        </p:spPr>
        <p:txBody>
          <a:bodyPr wrap="square" lIns="54864" rIns="54864" tIns="27432" bIns="18288">
            <a:spAutoFit/>
          </a:bodyPr>
          <a:lstStyle/>
          <a:p>
            <a:pPr algn="l">
              <a:lnSpc>
                <a:spcPct val="105000"/>
              </a:lnSpc>
              <a:spcBef>
                <a:spcPts val="0"/>
              </a:spcBef>
              <a:spcAft>
                <a:spcPts val="0"/>
              </a:spcAft>
            </a:pPr>
            <a:r>
              <a:rPr sz="1600" b="1" i="0">
                <a:solidFill>
                  <a:srgbClr val="FFFFFF"/>
                </a:solidFill>
                <a:latin typeface="Calibri"/>
              </a:rPr>
              <a:t>Take-home: a verified local single-cell model now reproduces crawling without a global Stokes solve — providing a computational base for many-cell simulations.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86384"/>
          </a:xfrm>
          <a:prstGeom prst="rect">
            <a:avLst/>
          </a:prstGeom>
          <a:solidFill>
            <a:srgbClr val="0B3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86384"/>
            <a:ext cx="12191695" cy="45720"/>
          </a:xfrm>
          <a:prstGeom prst="rect">
            <a:avLst/>
          </a:prstGeom>
          <a:solidFill>
            <a:srgbClr val="1A7A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338560" cy="420624"/>
          </a:xfrm>
          <a:prstGeom prst="rect">
            <a:avLst/>
          </a:prstGeom>
          <a:noFill/>
        </p:spPr>
        <p:txBody>
          <a:bodyPr wrap="square" lIns="54864" rIns="54864" tIns="27432" bIns="18288">
            <a:spAutoFit/>
          </a:bodyPr>
          <a:lstStyle/>
          <a:p>
            <a:pPr algn="l">
              <a:spcBef>
                <a:spcPts val="0"/>
              </a:spcBef>
              <a:spcAft>
                <a:spcPts val="0"/>
              </a:spcAft>
            </a:pPr>
            <a:r>
              <a:rPr sz="2500" b="1" i="0">
                <a:solidFill>
                  <a:srgbClr val="FFFFFF"/>
                </a:solidFill>
                <a:latin typeface="Calibri"/>
              </a:rPr>
              <a:t>From one cell to many</a:t>
            </a:r>
          </a:p>
        </p:txBody>
      </p:sp>
      <p:sp>
        <p:nvSpPr>
          <p:cNvPr id="6" name="Rectangle 5"/>
          <p:cNvSpPr/>
          <p:nvPr/>
        </p:nvSpPr>
        <p:spPr>
          <a:xfrm>
            <a:off x="0" y="6601968"/>
            <a:ext cx="12191695" cy="256032"/>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0040" y="6601968"/>
            <a:ext cx="9601200" cy="237744"/>
          </a:xfrm>
          <a:prstGeom prst="rect">
            <a:avLst/>
          </a:prstGeom>
          <a:noFill/>
        </p:spPr>
        <p:txBody>
          <a:bodyPr wrap="square" lIns="54864" rIns="54864" tIns="27432" bIns="18288">
            <a:spAutoFit/>
          </a:bodyPr>
          <a:lstStyle/>
          <a:p>
            <a:pPr algn="l">
              <a:spcBef>
                <a:spcPts val="0"/>
              </a:spcBef>
              <a:spcAft>
                <a:spcPts val="0"/>
              </a:spcAft>
            </a:pPr>
            <a:r>
              <a:rPr sz="1100" b="0" i="0">
                <a:solidFill>
                  <a:srgbClr val="4B5563"/>
                </a:solidFill>
                <a:latin typeface="Calibri"/>
              </a:rPr>
              <a:t>PYD411  ·  Mid-term  ·  Dept of Physics, IIT Delhi  ·  Siddharth Kumar &amp; Soumik Roy</a:t>
            </a:r>
          </a:p>
        </p:txBody>
      </p:sp>
      <p:sp>
        <p:nvSpPr>
          <p:cNvPr id="8" name="TextBox 7"/>
          <p:cNvSpPr txBox="1"/>
          <p:nvPr/>
        </p:nvSpPr>
        <p:spPr>
          <a:xfrm>
            <a:off x="10607040" y="6601968"/>
            <a:ext cx="1280160" cy="237744"/>
          </a:xfrm>
          <a:prstGeom prst="rect">
            <a:avLst/>
          </a:prstGeom>
          <a:noFill/>
        </p:spPr>
        <p:txBody>
          <a:bodyPr wrap="square" lIns="54864" rIns="54864" tIns="27432" bIns="18288">
            <a:spAutoFit/>
          </a:bodyPr>
          <a:lstStyle/>
          <a:p>
            <a:pPr algn="r">
              <a:spcBef>
                <a:spcPts val="0"/>
              </a:spcBef>
              <a:spcAft>
                <a:spcPts val="0"/>
              </a:spcAft>
            </a:pPr>
            <a:r>
              <a:rPr sz="1100" b="0" i="0">
                <a:solidFill>
                  <a:srgbClr val="4B5563"/>
                </a:solidFill>
                <a:latin typeface="Calibri"/>
              </a:rPr>
              <a:t>10 / 10</a:t>
            </a:r>
          </a:p>
        </p:txBody>
      </p:sp>
      <p:sp>
        <p:nvSpPr>
          <p:cNvPr id="9" name="Rounded Rectangle 8"/>
          <p:cNvSpPr/>
          <p:nvPr/>
        </p:nvSpPr>
        <p:spPr>
          <a:xfrm>
            <a:off x="292608" y="1051560"/>
            <a:ext cx="2267712" cy="2148840"/>
          </a:xfrm>
          <a:prstGeom prst="roundRect">
            <a:avLst>
              <a:gd name="adj" fmla="val 80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84048" y="1143000"/>
            <a:ext cx="2084831" cy="1965960"/>
          </a:xfrm>
          <a:prstGeom prst="rect">
            <a:avLst/>
          </a:prstGeom>
          <a:noFill/>
        </p:spPr>
        <p:txBody>
          <a:bodyPr wrap="square" lIns="54864" rIns="54864" tIns="27432" bIns="18288">
            <a:spAutoFit/>
          </a:bodyPr>
          <a:lstStyle/>
          <a:p>
            <a:pPr algn="l">
              <a:spcBef>
                <a:spcPts val="0"/>
              </a:spcBef>
              <a:spcAft>
                <a:spcPts val="800"/>
              </a:spcAft>
            </a:pPr>
            <a:r>
              <a:rPr sz="1600" b="1" i="0">
                <a:solidFill>
                  <a:srgbClr val="1A7A6D"/>
                </a:solidFill>
                <a:latin typeface="Calibri"/>
              </a:rPr>
              <a:t>1  Two cells</a:t>
            </a:r>
          </a:p>
          <a:p>
            <a:pPr algn="l">
              <a:spcBef>
                <a:spcPts val="0"/>
              </a:spcBef>
              <a:spcAft>
                <a:spcPts val="600"/>
              </a:spcAft>
            </a:pPr>
            <a:r>
              <a:rPr sz="1250" b="0" i="0">
                <a:solidFill>
                  <a:srgbClr val="1F2937"/>
                </a:solidFill>
                <a:latin typeface="Calibri"/>
              </a:rPr>
              <a:t>One field pair per cell + repulsive overlap.</a:t>
            </a:r>
          </a:p>
        </p:txBody>
      </p:sp>
      <p:sp>
        <p:nvSpPr>
          <p:cNvPr id="11" name="Rounded Rectangle 10"/>
          <p:cNvSpPr/>
          <p:nvPr/>
        </p:nvSpPr>
        <p:spPr>
          <a:xfrm>
            <a:off x="2651760" y="1051560"/>
            <a:ext cx="2267712" cy="2148840"/>
          </a:xfrm>
          <a:prstGeom prst="roundRect">
            <a:avLst>
              <a:gd name="adj" fmla="val 80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43200" y="1143000"/>
            <a:ext cx="2084831" cy="1965960"/>
          </a:xfrm>
          <a:prstGeom prst="rect">
            <a:avLst/>
          </a:prstGeom>
          <a:noFill/>
        </p:spPr>
        <p:txBody>
          <a:bodyPr wrap="square" lIns="54864" rIns="54864" tIns="27432" bIns="18288">
            <a:spAutoFit/>
          </a:bodyPr>
          <a:lstStyle/>
          <a:p>
            <a:pPr algn="l">
              <a:spcBef>
                <a:spcPts val="0"/>
              </a:spcBef>
              <a:spcAft>
                <a:spcPts val="800"/>
              </a:spcAft>
            </a:pPr>
            <a:r>
              <a:rPr sz="1600" b="1" i="0">
                <a:solidFill>
                  <a:srgbClr val="1A7A6D"/>
                </a:solidFill>
                <a:latin typeface="Calibri"/>
              </a:rPr>
              <a:t>2  Collisions</a:t>
            </a:r>
          </a:p>
          <a:p>
            <a:pPr algn="l">
              <a:spcBef>
                <a:spcPts val="0"/>
              </a:spcBef>
              <a:spcAft>
                <a:spcPts val="600"/>
              </a:spcAft>
            </a:pPr>
            <a:r>
              <a:rPr sz="1250" b="0" i="0">
                <a:solidFill>
                  <a:srgbClr val="1F2937"/>
                </a:solidFill>
                <a:latin typeface="Calibri"/>
              </a:rPr>
              <a:t>Head-on and glancing interactions.</a:t>
            </a:r>
          </a:p>
        </p:txBody>
      </p:sp>
      <p:sp>
        <p:nvSpPr>
          <p:cNvPr id="13" name="Rounded Rectangle 12"/>
          <p:cNvSpPr/>
          <p:nvPr/>
        </p:nvSpPr>
        <p:spPr>
          <a:xfrm>
            <a:off x="5010912" y="1051560"/>
            <a:ext cx="2267712" cy="2148840"/>
          </a:xfrm>
          <a:prstGeom prst="roundRect">
            <a:avLst>
              <a:gd name="adj" fmla="val 80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02352" y="1143000"/>
            <a:ext cx="2084831" cy="1965960"/>
          </a:xfrm>
          <a:prstGeom prst="rect">
            <a:avLst/>
          </a:prstGeom>
          <a:noFill/>
        </p:spPr>
        <p:txBody>
          <a:bodyPr wrap="square" lIns="54864" rIns="54864" tIns="27432" bIns="18288">
            <a:spAutoFit/>
          </a:bodyPr>
          <a:lstStyle/>
          <a:p>
            <a:pPr algn="l">
              <a:spcBef>
                <a:spcPts val="0"/>
              </a:spcBef>
              <a:spcAft>
                <a:spcPts val="800"/>
              </a:spcAft>
            </a:pPr>
            <a:r>
              <a:rPr sz="1600" b="1" i="0">
                <a:solidFill>
                  <a:srgbClr val="1A7A6D"/>
                </a:solidFill>
                <a:latin typeface="Calibri"/>
              </a:rPr>
              <a:t>3  Polarity</a:t>
            </a:r>
          </a:p>
          <a:p>
            <a:pPr algn="l">
              <a:spcBef>
                <a:spcPts val="0"/>
              </a:spcBef>
              <a:spcAft>
                <a:spcPts val="600"/>
              </a:spcAft>
            </a:pPr>
            <a:r>
              <a:rPr sz="1250" b="0" i="0">
                <a:solidFill>
                  <a:srgbClr val="1F2937"/>
                </a:solidFill>
                <a:latin typeface="Calibri"/>
              </a:rPr>
              <a:t>Allow cells to choose their own direction.</a:t>
            </a:r>
          </a:p>
        </p:txBody>
      </p:sp>
      <p:sp>
        <p:nvSpPr>
          <p:cNvPr id="15" name="Rounded Rectangle 14"/>
          <p:cNvSpPr/>
          <p:nvPr/>
        </p:nvSpPr>
        <p:spPr>
          <a:xfrm>
            <a:off x="7370064" y="1051560"/>
            <a:ext cx="2267712" cy="2148840"/>
          </a:xfrm>
          <a:prstGeom prst="roundRect">
            <a:avLst>
              <a:gd name="adj" fmla="val 80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61504" y="1143000"/>
            <a:ext cx="2084831" cy="1965960"/>
          </a:xfrm>
          <a:prstGeom prst="rect">
            <a:avLst/>
          </a:prstGeom>
          <a:noFill/>
        </p:spPr>
        <p:txBody>
          <a:bodyPr wrap="square" lIns="54864" rIns="54864" tIns="27432" bIns="18288">
            <a:spAutoFit/>
          </a:bodyPr>
          <a:lstStyle/>
          <a:p>
            <a:pPr algn="l">
              <a:spcBef>
                <a:spcPts val="0"/>
              </a:spcBef>
              <a:spcAft>
                <a:spcPts val="800"/>
              </a:spcAft>
            </a:pPr>
            <a:r>
              <a:rPr sz="1600" b="1" i="0">
                <a:solidFill>
                  <a:srgbClr val="1A7A6D"/>
                </a:solidFill>
                <a:latin typeface="Calibri"/>
              </a:rPr>
              <a:t>4  Adhesion</a:t>
            </a:r>
          </a:p>
          <a:p>
            <a:pPr algn="l">
              <a:spcBef>
                <a:spcPts val="0"/>
              </a:spcBef>
              <a:spcAft>
                <a:spcPts val="600"/>
              </a:spcAft>
            </a:pPr>
            <a:r>
              <a:rPr sz="1250" b="0" i="0">
                <a:solidFill>
                  <a:srgbClr val="1F2937"/>
                </a:solidFill>
                <a:latin typeface="Calibri"/>
              </a:rPr>
              <a:t>Load-dependent friction ξ.</a:t>
            </a:r>
          </a:p>
        </p:txBody>
      </p:sp>
      <p:sp>
        <p:nvSpPr>
          <p:cNvPr id="17" name="Rounded Rectangle 16"/>
          <p:cNvSpPr/>
          <p:nvPr/>
        </p:nvSpPr>
        <p:spPr>
          <a:xfrm>
            <a:off x="9729216" y="1051560"/>
            <a:ext cx="2267712" cy="2148840"/>
          </a:xfrm>
          <a:prstGeom prst="roundRect">
            <a:avLst>
              <a:gd name="adj" fmla="val 80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820656" y="1143000"/>
            <a:ext cx="2084831" cy="1965960"/>
          </a:xfrm>
          <a:prstGeom prst="rect">
            <a:avLst/>
          </a:prstGeom>
          <a:noFill/>
        </p:spPr>
        <p:txBody>
          <a:bodyPr wrap="square" lIns="54864" rIns="54864" tIns="27432" bIns="18288">
            <a:spAutoFit/>
          </a:bodyPr>
          <a:lstStyle/>
          <a:p>
            <a:pPr algn="l">
              <a:spcBef>
                <a:spcPts val="0"/>
              </a:spcBef>
              <a:spcAft>
                <a:spcPts val="800"/>
              </a:spcAft>
            </a:pPr>
            <a:r>
              <a:rPr sz="1600" b="1" i="0">
                <a:solidFill>
                  <a:srgbClr val="1A7A6D"/>
                </a:solidFill>
                <a:latin typeface="Calibri"/>
              </a:rPr>
              <a:t>5  Collectives</a:t>
            </a:r>
          </a:p>
          <a:p>
            <a:pPr algn="l">
              <a:spcBef>
                <a:spcPts val="0"/>
              </a:spcBef>
              <a:spcAft>
                <a:spcPts val="600"/>
              </a:spcAft>
            </a:pPr>
            <a:r>
              <a:rPr sz="1250" b="0" i="0">
                <a:solidFill>
                  <a:srgbClr val="1F2937"/>
                </a:solidFill>
                <a:latin typeface="Calibri"/>
              </a:rPr>
              <a:t>Tens of cells: jamming and neighbour alignment.</a:t>
            </a:r>
          </a:p>
        </p:txBody>
      </p:sp>
      <p:sp>
        <p:nvSpPr>
          <p:cNvPr id="19" name="Rounded Rectangle 18"/>
          <p:cNvSpPr/>
          <p:nvPr/>
        </p:nvSpPr>
        <p:spPr>
          <a:xfrm>
            <a:off x="292608" y="3429000"/>
            <a:ext cx="11594592" cy="2926080"/>
          </a:xfrm>
          <a:prstGeom prst="roundRect">
            <a:avLst>
              <a:gd name="adj" fmla="val 8000"/>
            </a:avLst>
          </a:prstGeom>
          <a:solidFill>
            <a:srgbClr val="0B3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3611880"/>
            <a:ext cx="11109960" cy="2606040"/>
          </a:xfrm>
          <a:prstGeom prst="rect">
            <a:avLst/>
          </a:prstGeom>
          <a:noFill/>
        </p:spPr>
        <p:txBody>
          <a:bodyPr wrap="square" lIns="54864" rIns="54864" tIns="27432" bIns="18288">
            <a:spAutoFit/>
          </a:bodyPr>
          <a:lstStyle/>
          <a:p>
            <a:pPr algn="l">
              <a:spcBef>
                <a:spcPts val="0"/>
              </a:spcBef>
              <a:spcAft>
                <a:spcPts val="1600"/>
              </a:spcAft>
            </a:pPr>
            <a:r>
              <a:rPr sz="3200" b="1" i="0">
                <a:solidFill>
                  <a:srgbClr val="FFFFFF"/>
                </a:solidFill>
                <a:latin typeface="Calibri"/>
              </a:rPr>
              <a:t>Thank you — Questions</a:t>
            </a:r>
          </a:p>
          <a:p>
            <a:pPr algn="l">
              <a:spcBef>
                <a:spcPts val="0"/>
              </a:spcBef>
              <a:spcAft>
                <a:spcPts val="800"/>
              </a:spcAft>
            </a:pPr>
            <a:r>
              <a:rPr sz="1600" b="0" i="0">
                <a:solidFill>
                  <a:srgbClr val="FFFFFF"/>
                </a:solidFill>
                <a:latin typeface="Calibri"/>
              </a:rPr>
              <a:t>Siddharth Kumar  (2023PH10741)     ·     Soumik Roy  (2023PH10756)</a:t>
            </a:r>
          </a:p>
          <a:p>
            <a:pPr algn="l">
              <a:spcBef>
                <a:spcPts val="0"/>
              </a:spcBef>
              <a:spcAft>
                <a:spcPts val="600"/>
              </a:spcAft>
            </a:pPr>
            <a:r>
              <a:rPr sz="1500" b="0" i="0">
                <a:solidFill>
                  <a:srgbClr val="C5D4DE"/>
                </a:solidFill>
                <a:latin typeface="Calibri"/>
              </a:rPr>
              <a:t>Adviser: Prof. Sujin B. Babu     ·     Department of Physics, IIT Delhi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